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6"/>
  </p:notesMasterIdLst>
  <p:handoutMasterIdLst>
    <p:handoutMasterId r:id="rId17"/>
  </p:handoutMasterIdLst>
  <p:sldIdLst>
    <p:sldId id="361" r:id="rId5"/>
    <p:sldId id="362" r:id="rId6"/>
    <p:sldId id="363" r:id="rId7"/>
    <p:sldId id="368" r:id="rId8"/>
    <p:sldId id="366" r:id="rId9"/>
    <p:sldId id="367" r:id="rId10"/>
    <p:sldId id="365" r:id="rId11"/>
    <p:sldId id="357" r:id="rId12"/>
    <p:sldId id="369" r:id="rId13"/>
    <p:sldId id="287" r:id="rId14"/>
    <p:sldId id="265" r:id="rId15"/>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xudan-XD" initials="XD" lastIdx="1" clrIdx="0"/>
  <p:cmAuthor id="2" name="Administrator" initials="l" lastIdx="1" clrIdx="1"/>
  <p:cmAuthor id="3" name="作者" initials="A" lastIdx="0" clrIdx="2"/>
  <p:cmAuthor id="4" name="HP" initials="H" lastIdx="4" clrIdx="3"/>
  <p:cmAuthor id="5" name="宋洁然" initials="宋" lastIdx="2" clrIdx="1"/>
  <p:cmAuthor id="6" name="ming qiu" initials="m" lastIdx="17" clrIdx="1"/>
  <p:cmAuthor id="7" name="1206988966@qq.com" initials="1" lastIdx="1" clrIdx="2"/>
  <p:cmAuthor id="8" name="姜伟光" initials="姜" lastIdx="1" clrIdx="0"/>
  <p:cmAuthor id="9" name="ASUS" initials="A" lastIdx="28" clrIdx="4"/>
  <p:cmAuthor id="10" name="lenovo" initials="l" lastIdx="6" clrIdx="2"/>
  <p:cmAuthor id="11" name="xiedk" initials="x" lastIdx="2" clrIdx="10"/>
  <p:cmAuthor id="12" name="未知用户1" initials="未知用户1" lastIdx="2" clrIdx="11"/>
  <p:cmAuthor id="13" name="马云飞10014438" initials="马" lastIdx="4" clrIdx="0"/>
  <p:cmAuthor id="14" name="10077969" initials="10077969" lastIdx="2" clrIdx="13"/>
  <p:cmAuthor id="15" name="康浩杰|hnkanghaojie" initials="A" lastIdx="1" clrIdx="14"/>
  <p:cmAuthor id="16" name="孟伟伟" initials="孟" lastIdx="1" clrIdx="15"/>
  <p:cmAuthor id="17" name="dongrp" initials="d" lastIdx="1" clrIdx="16"/>
  <p:cmAuthor id="18" name="hc" initials="h" lastIdx="1" clrIdx="17"/>
  <p:cmAuthor id="19" name="Saku Uchikawa" initials="S" lastIdx="11" clrIdx="0"/>
  <p:cmAuthor id="20" name="00065088" initials="0" lastIdx="2" clrIdx="19"/>
  <p:cmAuthor id="21" name="10066351" initials="1" lastIdx="2" clrIdx="0"/>
  <p:cmAuthor id="22" name="蔡建楠" initials="caijianna" lastIdx="15" clrIdx="17"/>
  <p:cmAuthor id="23" name="赵诚荣10027092" initials="赵" lastIdx="2" clrIdx="25"/>
  <p:cmAuthor id="24" name="李蕾00009994" initials="李" lastIdx="6" clrIdx="17"/>
  <p:cmAuthor id="25" name="wyz" initials="w" lastIdx="1" clrIdx="24"/>
  <p:cmAuthor id="26" name="10270945" initials="1" lastIdx="1" clrIdx="25"/>
  <p:cmAuthor id="27" name="10295142" initials="1" lastIdx="1" clrIdx="26"/>
  <p:cmAuthor id="28" name="Hou Yingfeng" initials="H" lastIdx="10" clrIdx="23"/>
  <p:cmAuthor id="30" name="10056791" initials="ZTE" lastIdx="1" clrIdx="29"/>
  <p:cmAuthor id="31" name="Author" initials="A" lastIdx="0" clrIdx="30"/>
  <p:cmAuthor id="32" name="李楠10047711" initials="李楠10047711" lastIdx="2" clrIdx="31"/>
  <p:cmAuthor id="76" name="许 志军" initials="许" lastIdx="1" clrIdx="25"/>
  <p:cmAuthor id="33" name="610007" initials="6" lastIdx="0" clrIdx="32"/>
  <p:cmAuthor id="77" name="欧 志芳" initials="欧" lastIdx="1" clrIdx="26"/>
  <p:cmAuthor id="34" name="Jason" initials="J" lastIdx="18" clrIdx="33"/>
  <p:cmAuthor id="35" name="stephen" initials="s" lastIdx="1" clrIdx="3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722161-4ACD-42E0-AAEA-F1F5144D32D8}" v="50" dt="2026-02-26T05:33:34.859"/>
    <p1510:client id="{5D04219D-CA08-4627-9161-33BB8AB5EA49}" v="23" dt="2026-02-26T11:34:48.339"/>
    <p1510:client id="{7E4C90A3-15D3-4E43-83B9-3B2D97F4A296}" v="65" dt="2026-02-26T14:06:55.04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679B6-DFB9-465D-BCF7-63C3CDB22F53}" type="datetimeFigureOut">
              <a:rPr lang="zh-CN" altLang="en-US" smtClean="0"/>
              <a:t>2026/4/20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DDE9C1-3A93-4484-ADD9-54060A054C8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10"/>
          </p:nvPr>
        </p:nvSpPr>
        <p:spPr/>
        <p:txBody>
          <a:bodyPr/>
          <a:lstStyle/>
          <a:p>
            <a:fld id="{DD817DD0-38E7-46ED-A2FE-994A5C249761}" type="slidenum">
              <a:rPr lang="de-DE" smtClean="0"/>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D76AC9C-B0EC-4E8B-9E2D-F71F05C0026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ext 1 Column">
    <p:bg>
      <p:bgRef idx="1001">
        <a:schemeClr val="bg1"/>
      </p:bgRef>
    </p:bg>
    <p:spTree>
      <p:nvGrpSpPr>
        <p:cNvPr id="1" name=""/>
        <p:cNvGrpSpPr/>
        <p:nvPr/>
      </p:nvGrpSpPr>
      <p:grpSpPr>
        <a:xfrm>
          <a:off x="0" y="0"/>
          <a:ext cx="0" cy="0"/>
          <a:chOff x="0" y="0"/>
          <a:chExt cx="0" cy="0"/>
        </a:xfrm>
      </p:grpSpPr>
      <p:graphicFrame>
        <p:nvGraphicFramePr>
          <p:cNvPr id="6" name="Objekt 5" hidden="1"/>
          <p:cNvGraphicFramePr>
            <a:graphicFrameLocks noChangeAspect="1"/>
          </p:cNvGraphicFramePr>
          <p:nvPr userDrawn="1">
            <p:custDataLst>
              <p:tags r:id="rId1"/>
            </p:custDataLst>
          </p:nvPr>
        </p:nvGraphicFramePr>
        <p:xfrm>
          <a:off x="1681" y="1682"/>
          <a:ext cx="1679" cy="1678"/>
        </p:xfrm>
        <a:graphic>
          <a:graphicData uri="http://schemas.openxmlformats.org/presentationml/2006/ole">
            <mc:AlternateContent xmlns:mc="http://schemas.openxmlformats.org/markup-compatibility/2006">
              <mc:Choice xmlns:v="urn:schemas-microsoft-com:vml" Requires="v">
                <p:oleObj name="think-cell Folie" r:id="rId3" imgW="12700" imgH="12700" progId="TCLayout.ActiveDocument.1">
                  <p:embed/>
                </p:oleObj>
              </mc:Choice>
              <mc:Fallback>
                <p:oleObj name="think-cell Folie" r:id="rId3" imgW="12700" imgH="12700" progId="TCLayout.ActiveDocument.1">
                  <p:embed/>
                  <p:pic>
                    <p:nvPicPr>
                      <p:cNvPr id="6" name="Objekt 5" hidden="1"/>
                      <p:cNvPicPr/>
                      <p:nvPr/>
                    </p:nvPicPr>
                    <p:blipFill>
                      <a:blip r:embed="rId4"/>
                      <a:stretch>
                        <a:fillRect/>
                      </a:stretch>
                    </p:blipFill>
                    <p:spPr>
                      <a:xfrm>
                        <a:off x="1681" y="1682"/>
                        <a:ext cx="1679" cy="1678"/>
                      </a:xfrm>
                      <a:prstGeom prst="rect">
                        <a:avLst/>
                      </a:prstGeom>
                    </p:spPr>
                  </p:pic>
                </p:oleObj>
              </mc:Fallback>
            </mc:AlternateContent>
          </a:graphicData>
        </a:graphic>
      </p:graphicFrame>
      <p:pic>
        <p:nvPicPr>
          <p:cNvPr id="4" name="Grafik 3"/>
          <p:cNvPicPr>
            <a:picLocks noChangeAspect="1"/>
          </p:cNvPicPr>
          <p:nvPr userDrawn="1"/>
        </p:nvPicPr>
        <p:blipFill>
          <a:blip r:embed="rId5"/>
          <a:stretch>
            <a:fillRect/>
          </a:stretch>
        </p:blipFill>
        <p:spPr>
          <a:xfrm>
            <a:off x="8228916" y="497258"/>
            <a:ext cx="3684694" cy="708970"/>
          </a:xfrm>
          <a:prstGeom prst="rect">
            <a:avLst/>
          </a:prstGeom>
        </p:spPr>
      </p:pic>
      <p:pic>
        <p:nvPicPr>
          <p:cNvPr id="11" name="Picture 10"/>
          <p:cNvPicPr>
            <a:picLocks noChangeAspect="1"/>
          </p:cNvPicPr>
          <p:nvPr userDrawn="1"/>
        </p:nvPicPr>
        <p:blipFill>
          <a:blip r:embed="rId6"/>
          <a:stretch>
            <a:fillRect/>
          </a:stretch>
        </p:blipFill>
        <p:spPr>
          <a:xfrm>
            <a:off x="1" y="0"/>
            <a:ext cx="8382468" cy="1786654"/>
          </a:xfrm>
          <a:prstGeom prst="rect">
            <a:avLst/>
          </a:prstGeom>
        </p:spPr>
      </p:pic>
      <p:sp>
        <p:nvSpPr>
          <p:cNvPr id="12" name="Title 1"/>
          <p:cNvSpPr>
            <a:spLocks noGrp="1"/>
          </p:cNvSpPr>
          <p:nvPr>
            <p:ph type="title" hasCustomPrompt="1"/>
          </p:nvPr>
        </p:nvSpPr>
        <p:spPr>
          <a:xfrm>
            <a:off x="470211" y="436920"/>
            <a:ext cx="11580552" cy="829647"/>
          </a:xfrm>
          <a:prstGeom prst="rect">
            <a:avLst/>
          </a:prstGeom>
        </p:spPr>
        <p:txBody>
          <a:bodyPr vert="horz"/>
          <a:lstStyle>
            <a:lvl1pPr>
              <a:defRPr b="0" i="0">
                <a:solidFill>
                  <a:schemeClr val="bg1"/>
                </a:solidFill>
                <a:latin typeface="Montserrat Light" pitchFamily="2" charset="77"/>
              </a:defRPr>
            </a:lvl1pPr>
          </a:lstStyle>
          <a:p>
            <a:r>
              <a:rPr lang="en-US" sz="2540">
                <a:solidFill>
                  <a:schemeClr val="bg1"/>
                </a:solidFill>
              </a:rPr>
              <a:t>Slide</a:t>
            </a:r>
            <a:br>
              <a:rPr lang="en-US" sz="2540">
                <a:solidFill>
                  <a:schemeClr val="bg1"/>
                </a:solidFill>
              </a:rPr>
            </a:br>
            <a:r>
              <a:rPr lang="en-US" sz="2540">
                <a:solidFill>
                  <a:schemeClr val="bg1"/>
                </a:solidFill>
              </a:rPr>
              <a:t>Title</a:t>
            </a:r>
          </a:p>
        </p:txBody>
      </p:sp>
      <p:sp>
        <p:nvSpPr>
          <p:cNvPr id="20" name="Content Placeholder 17"/>
          <p:cNvSpPr>
            <a:spLocks noGrp="1"/>
          </p:cNvSpPr>
          <p:nvPr>
            <p:ph sz="quarter" idx="10" hasCustomPrompt="1"/>
          </p:nvPr>
        </p:nvSpPr>
        <p:spPr>
          <a:xfrm>
            <a:off x="470211" y="1999093"/>
            <a:ext cx="11580552" cy="4361648"/>
          </a:xfrm>
        </p:spPr>
        <p:txBody>
          <a:bodyPr/>
          <a:lstStyle>
            <a:lvl1pPr>
              <a:defRPr sz="1585" b="0" i="0">
                <a:solidFill>
                  <a:schemeClr val="tx2"/>
                </a:solidFill>
                <a:latin typeface="Montserrat Light" pitchFamily="2" charset="77"/>
              </a:defRPr>
            </a:lvl1pPr>
            <a:lvl2pPr>
              <a:defRPr sz="1585" b="0" i="0">
                <a:solidFill>
                  <a:schemeClr val="tx2"/>
                </a:solidFill>
                <a:latin typeface="Montserrat Light" pitchFamily="2" charset="77"/>
              </a:defRPr>
            </a:lvl2pPr>
            <a:lvl3pPr>
              <a:defRPr sz="1585" b="0" i="0">
                <a:solidFill>
                  <a:schemeClr val="tx2"/>
                </a:solidFill>
                <a:latin typeface="Montserrat Light" pitchFamily="2" charset="77"/>
              </a:defRPr>
            </a:lvl3pPr>
            <a:lvl4pPr>
              <a:defRPr sz="1585" b="0" i="0">
                <a:solidFill>
                  <a:schemeClr val="tx2"/>
                </a:solidFill>
                <a:latin typeface="Montserrat Light" pitchFamily="2" charset="77"/>
              </a:defRPr>
            </a:lvl4pPr>
            <a:lvl5pPr>
              <a:defRPr sz="1585" b="0" i="0">
                <a:solidFill>
                  <a:schemeClr val="tx2"/>
                </a:solidFill>
                <a:latin typeface="Montserrat Light" pitchFamily="2" charset="77"/>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2998047"/>
            <a:ext cx="9403181" cy="2345288"/>
          </a:xfrm>
          <a:prstGeom prst="rect">
            <a:avLst/>
          </a:prstGeom>
        </p:spPr>
        <p:txBody>
          <a:bodyP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a:t>Montserrat Light</a:t>
            </a:r>
            <a:br>
              <a:rPr lang="de-DE"/>
            </a:br>
            <a:r>
              <a:rPr lang="de-DE"/>
              <a:t>Maximum 3 </a:t>
            </a:r>
            <a:r>
              <a:rPr lang="de-DE" err="1"/>
              <a:t>lines</a:t>
            </a:r>
            <a:br>
              <a:rPr lang="de-DE"/>
            </a:br>
            <a:r>
              <a:rPr lang="de-DE"/>
              <a:t>44 </a:t>
            </a:r>
            <a:r>
              <a:rPr lang="de-DE" err="1"/>
              <a:t>pt</a:t>
            </a:r>
            <a:endParaRPr lang="de-DE"/>
          </a:p>
        </p:txBody>
      </p:sp>
      <p:sp>
        <p:nvSpPr>
          <p:cNvPr id="6" name="Textplatzhalter 5"/>
          <p:cNvSpPr>
            <a:spLocks noGrp="1"/>
          </p:cNvSpPr>
          <p:nvPr>
            <p:ph type="body" sz="quarter" idx="13" hasCustomPrompt="1"/>
          </p:nvPr>
        </p:nvSpPr>
        <p:spPr>
          <a:xfrm>
            <a:off x="1401303" y="5800211"/>
            <a:ext cx="9403181" cy="316683"/>
          </a:xfrm>
          <a:prstGeom prst="rect">
            <a:avLst/>
          </a:prstGeom>
        </p:spPr>
        <p:txBody>
          <a:bodyPr wrap="square">
            <a:spAutoFit/>
          </a:bodyPr>
          <a:lstStyle>
            <a:lvl1pPr>
              <a:spcBef>
                <a:spcPts val="0"/>
              </a:spcBef>
              <a:defRPr sz="2115" b="0" i="0" baseline="0">
                <a:solidFill>
                  <a:schemeClr val="bg1"/>
                </a:solidFill>
                <a:latin typeface="Montserrat Light" pitchFamily="2" charset="77"/>
                <a:ea typeface="Montserrat Light" pitchFamily="2" charset="77"/>
              </a:defRPr>
            </a:lvl1pPr>
            <a:lvl5pPr>
              <a:defRPr/>
            </a:lvl5pPr>
          </a:lstStyle>
          <a:p>
            <a:pPr lvl="0"/>
            <a:r>
              <a:rPr lang="de-DE" err="1"/>
              <a:t>Subheading</a:t>
            </a:r>
            <a:r>
              <a:rPr lang="de-DE"/>
              <a:t> Montserrat Light, 20 </a:t>
            </a:r>
            <a:r>
              <a:rPr lang="de-DE" err="1"/>
              <a:t>pt</a:t>
            </a:r>
            <a:endParaRPr lang="de-DE"/>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Rectangle 1"/>
          <p:cNvSpPr/>
          <p:nvPr userDrawn="1"/>
        </p:nvSpPr>
        <p:spPr>
          <a:xfrm>
            <a:off x="0" y="0"/>
            <a:ext cx="12192000" cy="1551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5"/>
          </a:p>
        </p:txBody>
      </p:sp>
      <p:pic>
        <p:nvPicPr>
          <p:cNvPr id="7" name="Picture 6"/>
          <p:cNvPicPr>
            <a:picLocks noChangeAspect="1"/>
          </p:cNvPicPr>
          <p:nvPr userDrawn="1"/>
        </p:nvPicPr>
        <p:blipFill>
          <a:blip r:embed="rId6"/>
          <a:stretch>
            <a:fillRect/>
          </a:stretch>
        </p:blipFill>
        <p:spPr>
          <a:xfrm>
            <a:off x="-1" y="782104"/>
            <a:ext cx="12192000" cy="1551928"/>
          </a:xfrm>
          <a:prstGeom prst="rect">
            <a:avLst/>
          </a:prstGeom>
        </p:spPr>
      </p:pic>
      <p:pic>
        <p:nvPicPr>
          <p:cNvPr id="3" name="Grafik 21"/>
          <p:cNvPicPr>
            <a:picLocks noChangeAspect="1"/>
          </p:cNvPicPr>
          <p:nvPr userDrawn="1"/>
        </p:nvPicPr>
        <p:blipFill>
          <a:blip r:embed="rId7"/>
          <a:stretch>
            <a:fillRect/>
          </a:stretch>
        </p:blipFill>
        <p:spPr>
          <a:xfrm>
            <a:off x="304745" y="432740"/>
            <a:ext cx="5402508" cy="103954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lide Blue">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Objekt 4" hidden="1"/>
          <p:cNvGraphicFramePr>
            <a:graphicFrameLocks noChangeAspect="1"/>
          </p:cNvGraphicFramePr>
          <p:nvPr userDrawn="1">
            <p:custDataLst>
              <p:tags r:id="rId1"/>
            </p:custDataLst>
          </p:nvPr>
        </p:nvGraphicFramePr>
        <p:xfrm>
          <a:off x="1680" y="1682"/>
          <a:ext cx="1679" cy="1678"/>
        </p:xfrm>
        <a:graphic>
          <a:graphicData uri="http://schemas.openxmlformats.org/presentationml/2006/ole">
            <mc:AlternateContent xmlns:mc="http://schemas.openxmlformats.org/markup-compatibility/2006">
              <mc:Choice xmlns:v="urn:schemas-microsoft-com:vml" Requires="v">
                <p:oleObj name="think-cell Folie" r:id="rId4" imgW="12700" imgH="12700" progId="TCLayout.ActiveDocument.1">
                  <p:embed/>
                </p:oleObj>
              </mc:Choice>
              <mc:Fallback>
                <p:oleObj name="think-cell Folie" r:id="rId4" imgW="12700" imgH="12700" progId="TCLayout.ActiveDocument.1">
                  <p:embed/>
                  <p:pic>
                    <p:nvPicPr>
                      <p:cNvPr id="5" name="Objekt 4" hidden="1"/>
                      <p:cNvPicPr/>
                      <p:nvPr/>
                    </p:nvPicPr>
                    <p:blipFill>
                      <a:blip r:embed="rId5"/>
                      <a:stretch>
                        <a:fillRect/>
                      </a:stretch>
                    </p:blipFill>
                    <p:spPr>
                      <a:xfrm>
                        <a:off x="1680" y="1682"/>
                        <a:ext cx="1679" cy="1678"/>
                      </a:xfrm>
                      <a:prstGeom prst="rect">
                        <a:avLst/>
                      </a:prstGeom>
                    </p:spPr>
                  </p:pic>
                </p:oleObj>
              </mc:Fallback>
            </mc:AlternateContent>
          </a:graphicData>
        </a:graphic>
      </p:graphicFrame>
      <p:sp>
        <p:nvSpPr>
          <p:cNvPr id="9" name="Textfeld 8"/>
          <p:cNvSpPr txBox="1"/>
          <p:nvPr userDrawn="1"/>
        </p:nvSpPr>
        <p:spPr>
          <a:xfrm>
            <a:off x="5290458" y="6423342"/>
            <a:ext cx="1709057" cy="277013"/>
          </a:xfrm>
          <a:prstGeom prst="rect">
            <a:avLst/>
          </a:prstGeom>
          <a:noFill/>
        </p:spPr>
        <p:txBody>
          <a:bodyPr wrap="square" lIns="0" tIns="0" rIns="0" bIns="0" rtlCol="0">
            <a:noAutofit/>
          </a:bodyPr>
          <a:lstStyle/>
          <a:p>
            <a:endParaRPr lang="de-DE" sz="1905"/>
          </a:p>
        </p:txBody>
      </p:sp>
      <p:sp>
        <p:nvSpPr>
          <p:cNvPr id="4" name="Textplatzhalter 3"/>
          <p:cNvSpPr>
            <a:spLocks noGrp="1"/>
          </p:cNvSpPr>
          <p:nvPr>
            <p:ph type="body" sz="quarter" idx="12" hasCustomPrompt="1"/>
          </p:nvPr>
        </p:nvSpPr>
        <p:spPr>
          <a:xfrm>
            <a:off x="1401303" y="1243683"/>
            <a:ext cx="9456935" cy="4343718"/>
          </a:xfrm>
          <a:prstGeom prst="rect">
            <a:avLst/>
          </a:prstGeom>
        </p:spPr>
        <p:txBody>
          <a:bodyPr anchor="ctr">
            <a:noAutofit/>
          </a:bodyPr>
          <a:lstStyle>
            <a:lvl1pPr>
              <a:lnSpc>
                <a:spcPct val="104000"/>
              </a:lnSpc>
              <a:spcBef>
                <a:spcPts val="0"/>
              </a:spcBef>
              <a:defRPr sz="4655" b="0" i="0" baseline="0">
                <a:solidFill>
                  <a:schemeClr val="bg1"/>
                </a:solidFill>
                <a:latin typeface="Montserrat Light" pitchFamily="2" charset="77"/>
                <a:ea typeface="Montserrat Light" pitchFamily="2" charset="77"/>
              </a:defRPr>
            </a:lvl1pPr>
          </a:lstStyle>
          <a:p>
            <a:pPr lvl="0"/>
            <a:r>
              <a:rPr lang="de-DE" err="1"/>
              <a:t>Section</a:t>
            </a:r>
            <a:r>
              <a:rPr lang="de-DE"/>
              <a:t> Title</a:t>
            </a:r>
          </a:p>
        </p:txBody>
      </p:sp>
      <p:grpSp>
        <p:nvGrpSpPr>
          <p:cNvPr id="147" name="Gruppieren 146"/>
          <p:cNvGrpSpPr/>
          <p:nvPr userDrawn="1"/>
        </p:nvGrpSpPr>
        <p:grpSpPr>
          <a:xfrm>
            <a:off x="-368850" y="-326337"/>
            <a:ext cx="12916643" cy="7537262"/>
            <a:chOff x="-348582" y="-308570"/>
            <a:chExt cx="12206900" cy="7126900"/>
          </a:xfrm>
        </p:grpSpPr>
        <p:grpSp>
          <p:nvGrpSpPr>
            <p:cNvPr id="148" name="Gruppieren 147"/>
            <p:cNvGrpSpPr/>
            <p:nvPr userDrawn="1"/>
          </p:nvGrpSpPr>
          <p:grpSpPr>
            <a:xfrm>
              <a:off x="-348582" y="362069"/>
              <a:ext cx="180000" cy="5931473"/>
              <a:chOff x="-348582" y="362069"/>
              <a:chExt cx="180000" cy="5931473"/>
            </a:xfrm>
          </p:grpSpPr>
          <p:cxnSp>
            <p:nvCxnSpPr>
              <p:cNvPr id="175" name="Gerade Verbindung 6"/>
              <p:cNvCxnSpPr/>
              <p:nvPr userDrawn="1"/>
            </p:nvCxnSpPr>
            <p:spPr>
              <a:xfrm>
                <a:off x="-348582"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Gerade Verbindung 7"/>
              <p:cNvCxnSpPr/>
              <p:nvPr userDrawn="1"/>
            </p:nvCxnSpPr>
            <p:spPr>
              <a:xfrm>
                <a:off x="-348582"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Gerade Verbindung 8"/>
              <p:cNvCxnSpPr/>
              <p:nvPr userDrawn="1"/>
            </p:nvCxnSpPr>
            <p:spPr>
              <a:xfrm>
                <a:off x="-348582"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Gerade Verbindung 9"/>
              <p:cNvCxnSpPr/>
              <p:nvPr userDrawn="1"/>
            </p:nvCxnSpPr>
            <p:spPr>
              <a:xfrm>
                <a:off x="-348582"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Gerade Verbindung 10"/>
              <p:cNvCxnSpPr/>
              <p:nvPr userDrawn="1"/>
            </p:nvCxnSpPr>
            <p:spPr>
              <a:xfrm>
                <a:off x="-348582"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Gerade Verbindung 11"/>
              <p:cNvCxnSpPr/>
              <p:nvPr userDrawn="1"/>
            </p:nvCxnSpPr>
            <p:spPr>
              <a:xfrm>
                <a:off x="-348582"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Gerade Verbindung 12"/>
              <p:cNvCxnSpPr/>
              <p:nvPr userDrawn="1"/>
            </p:nvCxnSpPr>
            <p:spPr>
              <a:xfrm>
                <a:off x="-348582"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9" name="Gruppieren 148"/>
            <p:cNvGrpSpPr/>
            <p:nvPr userDrawn="1"/>
          </p:nvGrpSpPr>
          <p:grpSpPr>
            <a:xfrm>
              <a:off x="11678318" y="362069"/>
              <a:ext cx="180000" cy="5931473"/>
              <a:chOff x="11678318" y="362069"/>
              <a:chExt cx="180000" cy="5931473"/>
            </a:xfrm>
          </p:grpSpPr>
          <p:cxnSp>
            <p:nvCxnSpPr>
              <p:cNvPr id="168" name="Gerade Verbindung 56"/>
              <p:cNvCxnSpPr/>
              <p:nvPr userDrawn="1"/>
            </p:nvCxnSpPr>
            <p:spPr>
              <a:xfrm>
                <a:off x="11678318" y="36206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Gerade Verbindung 57"/>
              <p:cNvCxnSpPr/>
              <p:nvPr userDrawn="1"/>
            </p:nvCxnSpPr>
            <p:spPr>
              <a:xfrm>
                <a:off x="11678318" y="511175"/>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Gerade Verbindung 58"/>
              <p:cNvCxnSpPr/>
              <p:nvPr userDrawn="1"/>
            </p:nvCxnSpPr>
            <p:spPr>
              <a:xfrm>
                <a:off x="11678318" y="117597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Gerade Verbindung 59"/>
              <p:cNvCxnSpPr/>
              <p:nvPr userDrawn="1"/>
            </p:nvCxnSpPr>
            <p:spPr>
              <a:xfrm>
                <a:off x="11678318" y="1609200"/>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Gerade Verbindung 60"/>
              <p:cNvCxnSpPr/>
              <p:nvPr userDrawn="1"/>
            </p:nvCxnSpPr>
            <p:spPr>
              <a:xfrm>
                <a:off x="11678318" y="5835651"/>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Gerade Verbindung 61"/>
              <p:cNvCxnSpPr/>
              <p:nvPr userDrawn="1"/>
            </p:nvCxnSpPr>
            <p:spPr>
              <a:xfrm>
                <a:off x="11678318" y="6050859"/>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Gerade Verbindung 62"/>
              <p:cNvCxnSpPr/>
              <p:nvPr userDrawn="1"/>
            </p:nvCxnSpPr>
            <p:spPr>
              <a:xfrm>
                <a:off x="11678318" y="6293542"/>
                <a:ext cx="1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0" name="Gruppieren 149"/>
            <p:cNvGrpSpPr/>
            <p:nvPr userDrawn="1"/>
          </p:nvGrpSpPr>
          <p:grpSpPr>
            <a:xfrm>
              <a:off x="288925" y="6638330"/>
              <a:ext cx="10944224" cy="180000"/>
              <a:chOff x="288925" y="6638330"/>
              <a:chExt cx="10944224" cy="180000"/>
            </a:xfrm>
          </p:grpSpPr>
          <p:cxnSp>
            <p:nvCxnSpPr>
              <p:cNvPr id="160" name="Gerade Verbindung 65"/>
              <p:cNvCxnSpPr/>
              <p:nvPr userDrawn="1"/>
            </p:nvCxnSpPr>
            <p:spPr>
              <a:xfrm>
                <a:off x="28892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Gerade Verbindung 74"/>
              <p:cNvCxnSpPr/>
              <p:nvPr userDrawn="1"/>
            </p:nvCxnSpPr>
            <p:spPr>
              <a:xfrm>
                <a:off x="2911475"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Gerade Verbindung 75"/>
              <p:cNvCxnSpPr/>
              <p:nvPr userDrawn="1"/>
            </p:nvCxnSpPr>
            <p:spPr>
              <a:xfrm>
                <a:off x="306101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Gerade Verbindung 72"/>
              <p:cNvCxnSpPr/>
              <p:nvPr userDrawn="1"/>
            </p:nvCxnSpPr>
            <p:spPr>
              <a:xfrm>
                <a:off x="568966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Gerade Verbindung 73"/>
              <p:cNvCxnSpPr/>
              <p:nvPr userDrawn="1"/>
            </p:nvCxnSpPr>
            <p:spPr>
              <a:xfrm>
                <a:off x="5829683"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Gerade Verbindung 70"/>
              <p:cNvCxnSpPr/>
              <p:nvPr userDrawn="1"/>
            </p:nvCxnSpPr>
            <p:spPr>
              <a:xfrm>
                <a:off x="8459788"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Gerade Verbindung 71"/>
              <p:cNvCxnSpPr/>
              <p:nvPr userDrawn="1"/>
            </p:nvCxnSpPr>
            <p:spPr>
              <a:xfrm>
                <a:off x="860218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Gerade Verbindung 69"/>
              <p:cNvCxnSpPr/>
              <p:nvPr userDrawn="1"/>
            </p:nvCxnSpPr>
            <p:spPr>
              <a:xfrm>
                <a:off x="11233149" y="663833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1" name="Gruppieren 150"/>
            <p:cNvGrpSpPr/>
            <p:nvPr userDrawn="1"/>
          </p:nvGrpSpPr>
          <p:grpSpPr>
            <a:xfrm>
              <a:off x="288925" y="-308570"/>
              <a:ext cx="10944224" cy="180000"/>
              <a:chOff x="288925" y="-308570"/>
              <a:chExt cx="10944224" cy="180000"/>
            </a:xfrm>
          </p:grpSpPr>
          <p:cxnSp>
            <p:nvCxnSpPr>
              <p:cNvPr id="152" name="Gerade Verbindung 14"/>
              <p:cNvCxnSpPr/>
              <p:nvPr userDrawn="1"/>
            </p:nvCxnSpPr>
            <p:spPr>
              <a:xfrm>
                <a:off x="28892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Gerade Verbindung 23"/>
              <p:cNvCxnSpPr/>
              <p:nvPr userDrawn="1"/>
            </p:nvCxnSpPr>
            <p:spPr>
              <a:xfrm>
                <a:off x="2911475"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Gerade Verbindung 24"/>
              <p:cNvCxnSpPr/>
              <p:nvPr userDrawn="1"/>
            </p:nvCxnSpPr>
            <p:spPr>
              <a:xfrm>
                <a:off x="306101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Gerade Verbindung 21"/>
              <p:cNvCxnSpPr/>
              <p:nvPr userDrawn="1"/>
            </p:nvCxnSpPr>
            <p:spPr>
              <a:xfrm>
                <a:off x="568966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Gerade Verbindung 22"/>
              <p:cNvCxnSpPr/>
              <p:nvPr userDrawn="1"/>
            </p:nvCxnSpPr>
            <p:spPr>
              <a:xfrm>
                <a:off x="5829683"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Gerade Verbindung 19"/>
              <p:cNvCxnSpPr/>
              <p:nvPr userDrawn="1"/>
            </p:nvCxnSpPr>
            <p:spPr>
              <a:xfrm>
                <a:off x="8459788"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Gerade Verbindung 20"/>
              <p:cNvCxnSpPr/>
              <p:nvPr userDrawn="1"/>
            </p:nvCxnSpPr>
            <p:spPr>
              <a:xfrm>
                <a:off x="860218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Gerade Verbindung 18"/>
              <p:cNvCxnSpPr/>
              <p:nvPr userDrawn="1"/>
            </p:nvCxnSpPr>
            <p:spPr>
              <a:xfrm>
                <a:off x="11233149" y="-30857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70F3-CE90-48C4-9164-61E1D2692451}" type="datetimeFigureOut">
              <a:rPr lang="zh-CN" altLang="en-US" smtClean="0"/>
              <a:t>2026/4/20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6AC9C-B0EC-4E8B-9E2D-F71F05C00263}" type="slidenum">
              <a:rPr lang="zh-CN" altLang="en-US" smtClean="0"/>
              <a:t>‹#›</a:t>
            </a:fld>
            <a:endParaRPr lang="zh-CN" altLang="en-US"/>
          </a:p>
        </p:txBody>
      </p:sp>
      <p:sp>
        <p:nvSpPr>
          <p:cNvPr id="9" name="TextBox 8">
            <a:extLst>
              <a:ext uri="{FF2B5EF4-FFF2-40B4-BE49-F238E27FC236}">
                <a16:creationId xmlns:a16="http://schemas.microsoft.com/office/drawing/2014/main" id="{16BE3814-9C62-EACD-F1D6-517BAAB0FA83}"/>
              </a:ext>
            </a:extLst>
          </p:cNvPr>
          <p:cNvSpPr txBox="1"/>
          <p:nvPr userDrawn="1">
            <p:extLst>
              <p:ext uri="{1162E1C5-73C7-4A58-AE30-91384D911F3F}">
                <p184:classification xmlns:p184="http://schemas.microsoft.com/office/powerpoint/2018/4/main" val="hdr"/>
              </p:ext>
            </p:extLst>
          </p:nvPr>
        </p:nvSpPr>
        <p:spPr>
          <a:xfrm>
            <a:off x="11674475" y="63500"/>
            <a:ext cx="485775" cy="137160"/>
          </a:xfrm>
          <a:prstGeom prst="rect">
            <a:avLst/>
          </a:prstGeom>
        </p:spPr>
        <p:txBody>
          <a:bodyPr horzOverflow="overflow" lIns="0" tIns="0" rIns="0" bIns="0">
            <a:spAutoFit/>
          </a:bodyPr>
          <a:lstStyle/>
          <a:p>
            <a:pPr algn="l"/>
            <a:r>
              <a:rPr lang="en-GB" sz="900">
                <a:solidFill>
                  <a:srgbClr val="5514B4">
                    <a:alpha val="50000"/>
                  </a:srgbClr>
                </a:solidFill>
                <a:latin typeface="Century Gothic" panose="020B0502020202020204" pitchFamily="34" charset="0"/>
              </a:rPr>
              <a:t>General</a:t>
            </a:r>
          </a:p>
        </p:txBody>
      </p:sp>
      <p:sp>
        <p:nvSpPr>
          <p:cNvPr id="10" name="TextBox 9">
            <a:extLst>
              <a:ext uri="{FF2B5EF4-FFF2-40B4-BE49-F238E27FC236}">
                <a16:creationId xmlns:a16="http://schemas.microsoft.com/office/drawing/2014/main" id="{76ABFB85-AE69-6951-C6E2-154A394FC867}"/>
              </a:ext>
            </a:extLst>
          </p:cNvPr>
          <p:cNvSpPr txBox="1"/>
          <p:nvPr userDrawn="1">
            <p:extLst>
              <p:ext uri="{1162E1C5-73C7-4A58-AE30-91384D911F3F}">
                <p184:classification xmlns:p184="http://schemas.microsoft.com/office/powerpoint/2018/4/main" val="ftr"/>
              </p:ext>
            </p:extLst>
          </p:nvPr>
        </p:nvSpPr>
        <p:spPr>
          <a:xfrm>
            <a:off x="11674475" y="6657340"/>
            <a:ext cx="485775" cy="137160"/>
          </a:xfrm>
          <a:prstGeom prst="rect">
            <a:avLst/>
          </a:prstGeom>
        </p:spPr>
        <p:txBody>
          <a:bodyPr horzOverflow="overflow" lIns="0" tIns="0" rIns="0" bIns="0">
            <a:spAutoFit/>
          </a:bodyPr>
          <a:lstStyle/>
          <a:p>
            <a:pPr algn="l"/>
            <a:r>
              <a:rPr lang="en-GB" sz="900">
                <a:solidFill>
                  <a:srgbClr val="5514B4">
                    <a:alpha val="50000"/>
                  </a:srgbClr>
                </a:solidFill>
                <a:latin typeface="Century Gothic" panose="020B0502020202020204" pitchFamily="34" charset="0"/>
              </a:rPr>
              <a:t>General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awan.7.kumar@bt.com"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hyperlink" Target="mailto:bishnu_panda@infosys.com" TargetMode="External"/><Relationship Id="rId4" Type="http://schemas.openxmlformats.org/officeDocument/2006/relationships/hyperlink" Target="mailto:abhisek.das04@infosy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0" y="2382974"/>
            <a:ext cx="10329545" cy="2173605"/>
          </a:xfrm>
        </p:spPr>
        <p:txBody>
          <a:bodyPr anchor="ctr"/>
          <a:lstStyle/>
          <a:p>
            <a:pPr marL="0" defTabSz="457200">
              <a:buNone/>
            </a:pPr>
            <a:r>
              <a:rPr lang="en-US" sz="4400" b="1" err="1">
                <a:latin typeface="Aptos" panose="020B0004020202020204" pitchFamily="34" charset="0"/>
                <a:ea typeface="微软雅黑" panose="020B0503020204020204" pitchFamily="34" charset="-122"/>
                <a:cs typeface="Open Sans" pitchFamily="34" charset="0"/>
              </a:rPr>
              <a:t>ConnectivityGovernance</a:t>
            </a:r>
            <a:r>
              <a:rPr lang="en-US" sz="4400" b="1">
                <a:latin typeface="Aptos" panose="020B0004020202020204" pitchFamily="34" charset="0"/>
                <a:ea typeface="微软雅黑" panose="020B0503020204020204" pitchFamily="34" charset="-122"/>
                <a:cs typeface="Open Sans" pitchFamily="34" charset="0"/>
              </a:rPr>
              <a:t> API</a:t>
            </a:r>
          </a:p>
        </p:txBody>
      </p:sp>
      <p:sp>
        <p:nvSpPr>
          <p:cNvPr id="3" name="Textplatzhalter 2"/>
          <p:cNvSpPr>
            <a:spLocks noGrp="1"/>
          </p:cNvSpPr>
          <p:nvPr>
            <p:ph type="body" sz="quarter" idx="13"/>
          </p:nvPr>
        </p:nvSpPr>
        <p:spPr>
          <a:xfrm>
            <a:off x="0" y="4556579"/>
            <a:ext cx="10972800" cy="2144561"/>
          </a:xfrm>
        </p:spPr>
        <p:txBody>
          <a:bodyPr/>
          <a:lstStyle/>
          <a:p>
            <a:r>
              <a:rPr lang="en-US" altLang="de-DE" b="1" dirty="0">
                <a:solidFill>
                  <a:schemeClr val="accent1">
                    <a:lumMod val="20000"/>
                    <a:lumOff val="80000"/>
                  </a:schemeClr>
                </a:solidFill>
                <a:latin typeface="Aptos" panose="020B0004020202020204" pitchFamily="34" charset="0"/>
                <a:ea typeface="微软雅黑" panose="020B0503020204020204" pitchFamily="34" charset="-122"/>
              </a:rPr>
              <a:t>Infosys Ltd</a:t>
            </a:r>
            <a:r>
              <a:rPr lang="en-US" altLang="de-DE" dirty="0">
                <a:solidFill>
                  <a:schemeClr val="accent1">
                    <a:lumMod val="20000"/>
                    <a:lumOff val="80000"/>
                  </a:schemeClr>
                </a:solidFill>
                <a:latin typeface="Aptos" panose="020B0004020202020204" pitchFamily="34" charset="0"/>
                <a:ea typeface="微软雅黑" panose="020B0503020204020204" pitchFamily="34" charset="-122"/>
              </a:rPr>
              <a:t>. </a:t>
            </a:r>
            <a:endParaRPr lang="zh-CN" altLang="en-US" b="1" dirty="0">
              <a:solidFill>
                <a:schemeClr val="accent1">
                  <a:lumMod val="20000"/>
                  <a:lumOff val="80000"/>
                </a:schemeClr>
              </a:solidFill>
              <a:latin typeface="Aptos" panose="020B0004020202020204" pitchFamily="34" charset="0"/>
              <a:ea typeface="微软雅黑" panose="020B0503020204020204" pitchFamily="34" charset="-122"/>
              <a:sym typeface="+mn-ea"/>
            </a:endParaRPr>
          </a:p>
          <a:p>
            <a:endParaRPr lang="zh-CN" altLang="en-US" dirty="0">
              <a:solidFill>
                <a:schemeClr val="accent1">
                  <a:lumMod val="20000"/>
                  <a:lumOff val="80000"/>
                </a:schemeClr>
              </a:solidFill>
              <a:latin typeface="Aptos" panose="020B0004020202020204" pitchFamily="34" charset="0"/>
              <a:ea typeface="微软雅黑" panose="020B0503020204020204" pitchFamily="34" charset="-122"/>
              <a:sym typeface="+mn-ea"/>
            </a:endParaRPr>
          </a:p>
          <a:p>
            <a:r>
              <a:rPr lang="en-US" altLang="zh-CN" b="1" dirty="0">
                <a:solidFill>
                  <a:schemeClr val="accent1">
                    <a:lumMod val="20000"/>
                    <a:lumOff val="80000"/>
                  </a:schemeClr>
                </a:solidFill>
                <a:latin typeface="Aptos" panose="020B0004020202020204" pitchFamily="34" charset="0"/>
                <a:ea typeface="微软雅黑" panose="020B0503020204020204" pitchFamily="34" charset="-122"/>
              </a:rPr>
              <a:t>Contacts</a:t>
            </a:r>
            <a:r>
              <a:rPr lang="en-US" altLang="zh-CN" dirty="0">
                <a:solidFill>
                  <a:schemeClr val="accent1">
                    <a:lumMod val="20000"/>
                    <a:lumOff val="80000"/>
                  </a:schemeClr>
                </a:solidFill>
                <a:latin typeface="Aptos" panose="020B0004020202020204" pitchFamily="34" charset="0"/>
                <a:ea typeface="微软雅黑" panose="020B0503020204020204" pitchFamily="34" charset="-122"/>
              </a:rPr>
              <a:t>: </a:t>
            </a:r>
          </a:p>
          <a:p>
            <a:r>
              <a:rPr lang="en-US" altLang="zh-CN">
                <a:latin typeface="Aptos" panose="020B00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Pawan.7.kumar@bt.com</a:t>
            </a:r>
            <a:r>
              <a:rPr lang="en-US" altLang="zh-CN">
                <a:latin typeface="Aptos" panose="020B0004020202020204" pitchFamily="34" charset="0"/>
                <a:ea typeface="微软雅黑" panose="020B0503020204020204" pitchFamily="34" charset="-122"/>
              </a:rPr>
              <a:t>, </a:t>
            </a:r>
            <a:r>
              <a:rPr lang="en-US" altLang="zh-CN">
                <a:latin typeface="Aptos" panose="020B0004020202020204" pitchFamily="34" charset="0"/>
                <a:ea typeface="微软雅黑" panose="020B0503020204020204" pitchFamily="34" charset="-122"/>
                <a:hlinkClick r:id="rId4">
                  <a:extLst>
                    <a:ext uri="{A12FA001-AC4F-418D-AE19-62706E023703}">
                      <ahyp:hlinkClr xmlns:ahyp="http://schemas.microsoft.com/office/drawing/2018/hyperlinkcolor" val="tx"/>
                    </a:ext>
                  </a:extLst>
                </a:hlinkClick>
              </a:rPr>
              <a:t>abhisek.das04@infosys.com</a:t>
            </a:r>
            <a:r>
              <a:rPr lang="en-US" altLang="zh-CN">
                <a:latin typeface="Aptos" panose="020B0004020202020204" pitchFamily="34" charset="0"/>
                <a:ea typeface="微软雅黑" panose="020B0503020204020204" pitchFamily="34" charset="-122"/>
              </a:rPr>
              <a:t>, </a:t>
            </a:r>
            <a:r>
              <a:rPr lang="en-US" altLang="zh-CN">
                <a:latin typeface="Aptos" panose="020B0004020202020204" pitchFamily="34" charset="0"/>
                <a:ea typeface="微软雅黑" panose="020B0503020204020204" pitchFamily="34" charset="-122"/>
                <a:hlinkClick r:id="rId5">
                  <a:extLst>
                    <a:ext uri="{A12FA001-AC4F-418D-AE19-62706E023703}">
                      <ahyp:hlinkClr xmlns:ahyp="http://schemas.microsoft.com/office/drawing/2018/hyperlinkcolor" val="tx"/>
                    </a:ext>
                  </a:extLst>
                </a:hlinkClick>
              </a:rPr>
              <a:t>bishnu_panda@infosys.com</a:t>
            </a:r>
            <a:endParaRPr lang="en-US" altLang="zh-CN">
              <a:latin typeface="Aptos" panose="020B0004020202020204" pitchFamily="34" charset="0"/>
              <a:ea typeface="微软雅黑" panose="020B0503020204020204" pitchFamily="34" charset="-122"/>
            </a:endParaRPr>
          </a:p>
          <a:p>
            <a:pPr marL="0" indent="0">
              <a:buNone/>
            </a:pPr>
            <a:endParaRPr lang="en-US" altLang="zh-CN" dirty="0">
              <a:solidFill>
                <a:schemeClr val="tx1"/>
              </a:solidFill>
              <a:latin typeface="Aptos" panose="020B0004020202020204" pitchFamily="34" charset="0"/>
              <a:ea typeface="微软雅黑" panose="020B0503020204020204" pitchFamily="34" charset="-122"/>
            </a:endParaRPr>
          </a:p>
          <a:p>
            <a:endParaRPr lang="de-DE" dirty="0">
              <a:solidFill>
                <a:schemeClr val="accent1">
                  <a:lumMod val="20000"/>
                  <a:lumOff val="80000"/>
                </a:schemeClr>
              </a:solidFill>
              <a:latin typeface="Aptos" panose="020B0004020202020204" pitchFamily="34" charset="0"/>
            </a:endParaRPr>
          </a:p>
          <a:p>
            <a:endParaRPr lang="de-DE" dirty="0">
              <a:solidFill>
                <a:schemeClr val="accent1">
                  <a:lumMod val="20000"/>
                  <a:lumOff val="80000"/>
                </a:schemeClr>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3"/>
          <p:cNvSpPr>
            <a:spLocks noGrp="1"/>
          </p:cNvSpPr>
          <p:nvPr>
            <p:ph type="body" sz="quarter" idx="12"/>
          </p:nvPr>
        </p:nvSpPr>
        <p:spPr/>
        <p:txBody>
          <a:bodyPr/>
          <a:lstStyle/>
          <a:p>
            <a:pPr marL="342900" indent="-342900">
              <a:lnSpc>
                <a:spcPct val="150000"/>
              </a:lnSpc>
              <a:buAutoNum type="arabicPeriod"/>
            </a:pPr>
            <a:r>
              <a:rPr lang="en-US" altLang="zh-CN" sz="2960">
                <a:latin typeface="Aptos" panose="020B0004020202020204" pitchFamily="34" charset="0"/>
                <a:ea typeface="微软雅黑" panose="020B0503020204020204" pitchFamily="34" charset="-122"/>
              </a:rPr>
              <a:t> Background</a:t>
            </a:r>
            <a:r>
              <a:rPr lang="en-US" altLang="zh-CN" sz="2960" b="1">
                <a:solidFill>
                  <a:schemeClr val="tx1"/>
                </a:solidFill>
                <a:latin typeface="Aptos" panose="020B0004020202020204" pitchFamily="34" charset="0"/>
                <a:ea typeface="微软雅黑" panose="020B0503020204020204" pitchFamily="34" charset="-122"/>
              </a:rPr>
              <a:t> </a:t>
            </a:r>
          </a:p>
          <a:p>
            <a:pPr marL="342900" indent="-342900">
              <a:lnSpc>
                <a:spcPct val="150000"/>
              </a:lnSpc>
              <a:buAutoNum type="arabicPeriod"/>
            </a:pPr>
            <a:r>
              <a:rPr lang="en-US" altLang="zh-CN" sz="2960">
                <a:latin typeface="Aptos" panose="020B0004020202020204" pitchFamily="34" charset="0"/>
                <a:ea typeface="微软雅黑" panose="020B0503020204020204" pitchFamily="34" charset="-122"/>
              </a:rPr>
              <a:t> Connectivity Governance Solution</a:t>
            </a:r>
          </a:p>
          <a:p>
            <a:pPr marL="342900" indent="-342900">
              <a:lnSpc>
                <a:spcPct val="150000"/>
              </a:lnSpc>
              <a:buAutoNum type="arabicPeriod"/>
            </a:pPr>
            <a:r>
              <a:rPr lang="en-US" altLang="zh-CN" sz="2960">
                <a:latin typeface="Aptos" panose="020B0004020202020204" pitchFamily="34" charset="0"/>
                <a:ea typeface="微软雅黑" panose="020B0503020204020204" pitchFamily="34" charset="-122"/>
              </a:rPr>
              <a:t> </a:t>
            </a:r>
            <a:r>
              <a:rPr lang="en-US" altLang="zh-CN" sz="2960" err="1">
                <a:latin typeface="Aptos" panose="020B0004020202020204" pitchFamily="34" charset="0"/>
                <a:ea typeface="微软雅黑" panose="020B0503020204020204" pitchFamily="34" charset="-122"/>
                <a:sym typeface="+mn-ea"/>
              </a:rPr>
              <a:t>ConnectivityGovernance</a:t>
            </a:r>
            <a:r>
              <a:rPr lang="en-US" altLang="zh-CN" sz="2960">
                <a:latin typeface="Aptos" panose="020B0004020202020204" pitchFamily="34" charset="0"/>
                <a:ea typeface="微软雅黑" panose="020B0503020204020204" pitchFamily="34" charset="-122"/>
                <a:sym typeface="+mn-ea"/>
              </a:rPr>
              <a:t> </a:t>
            </a:r>
            <a:r>
              <a:rPr lang="en-US" altLang="zh-CN" sz="2960">
                <a:latin typeface="Aptos" panose="020B0004020202020204" pitchFamily="34" charset="0"/>
                <a:ea typeface="微软雅黑" panose="020B0503020204020204" pitchFamily="34" charset="-122"/>
              </a:rPr>
              <a:t>API</a:t>
            </a:r>
          </a:p>
          <a:p>
            <a:pPr marL="342900" indent="-342900">
              <a:lnSpc>
                <a:spcPct val="150000"/>
              </a:lnSpc>
              <a:buAutoNum type="arabicPeriod"/>
            </a:pPr>
            <a:r>
              <a:rPr lang="en-US" altLang="zh-CN" sz="2960">
                <a:latin typeface="Aptos" panose="020B0004020202020204" pitchFamily="34" charset="0"/>
                <a:ea typeface="微软雅黑" panose="020B0503020204020204" pitchFamily="34" charset="-122"/>
              </a:rPr>
              <a:t> User story</a:t>
            </a:r>
          </a:p>
          <a:p>
            <a:pPr marL="342900" indent="-342900">
              <a:lnSpc>
                <a:spcPct val="150000"/>
              </a:lnSpc>
              <a:buAutoNum type="arabicPeriod"/>
            </a:pPr>
            <a:r>
              <a:rPr lang="en-US" altLang="zh-CN" sz="2960">
                <a:latin typeface="Aptos" panose="020B0004020202020204" pitchFamily="34" charset="0"/>
                <a:ea typeface="微软雅黑" panose="020B0503020204020204" pitchFamily="34" charset="-122"/>
              </a:rPr>
              <a:t> </a:t>
            </a:r>
            <a:r>
              <a:rPr lang="en-US" altLang="zh-CN" sz="2960">
                <a:latin typeface="Aptos" panose="020B0004020202020204" pitchFamily="34" charset="0"/>
                <a:ea typeface="微软雅黑" panose="020B0503020204020204" pitchFamily="34" charset="-122"/>
                <a:sym typeface="+mn-ea"/>
              </a:rPr>
              <a:t>Connectivity Governance API  Deliverables Plan </a:t>
            </a:r>
            <a:endParaRPr lang="zh-CN" altLang="en-US" sz="2960">
              <a:latin typeface="Aptos" panose="020B0004020202020204" pitchFamily="34" charset="0"/>
              <a:ea typeface="微软雅黑" panose="020B0503020204020204" pitchFamily="34" charset="-122"/>
              <a:sym typeface="+mn-ea"/>
            </a:endParaRPr>
          </a:p>
        </p:txBody>
      </p:sp>
      <p:sp>
        <p:nvSpPr>
          <p:cNvPr id="4" name="文本框 3"/>
          <p:cNvSpPr txBox="1"/>
          <p:nvPr/>
        </p:nvSpPr>
        <p:spPr>
          <a:xfrm>
            <a:off x="1281134" y="604407"/>
            <a:ext cx="3540096" cy="741680"/>
          </a:xfrm>
          <a:prstGeom prst="rect">
            <a:avLst/>
          </a:prstGeom>
          <a:noFill/>
        </p:spPr>
        <p:txBody>
          <a:bodyPr wrap="square" rtlCol="0">
            <a:spAutoFit/>
          </a:bodyPr>
          <a:lstStyle/>
          <a:p>
            <a:r>
              <a:rPr lang="en-US" altLang="zh-CN" sz="4230">
                <a:solidFill>
                  <a:schemeClr val="bg1"/>
                </a:solidFill>
                <a:latin typeface="Aptos" panose="020B0004020202020204" pitchFamily="34" charset="0"/>
                <a:ea typeface="Segoe UI Black" panose="020B0A02040204020203" pitchFamily="34" charset="0"/>
              </a:rPr>
              <a:t>Contents</a:t>
            </a:r>
            <a:endParaRPr lang="zh-CN" altLang="en-US" sz="4230">
              <a:solidFill>
                <a:schemeClr val="bg1"/>
              </a:solidFill>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9900" y="436880"/>
            <a:ext cx="6273800" cy="829945"/>
          </a:xfrm>
        </p:spPr>
        <p:txBody>
          <a:bodyPr>
            <a:normAutofit fontScale="90000"/>
          </a:bodyPr>
          <a:lstStyle/>
          <a:p>
            <a:r>
              <a:rPr lang="zh-CN" altLang="en-US" dirty="0">
                <a:latin typeface="Aptos" panose="020B0004020202020204" pitchFamily="34" charset="0"/>
                <a:ea typeface="微软雅黑" panose="020B0503020204020204" pitchFamily="34" charset="-122"/>
              </a:rPr>
              <a:t>Background</a:t>
            </a:r>
            <a:r>
              <a:rPr lang="en-US" altLang="zh-CN" dirty="0">
                <a:latin typeface="Aptos" panose="020B0004020202020204" pitchFamily="34" charset="0"/>
                <a:ea typeface="微软雅黑" panose="020B0503020204020204" pitchFamily="34" charset="-122"/>
              </a:rPr>
              <a:t>-</a:t>
            </a:r>
            <a:br>
              <a:rPr lang="en-US" altLang="zh-CN" dirty="0">
                <a:latin typeface="Aptos" panose="020B0004020202020204" pitchFamily="34" charset="0"/>
                <a:ea typeface="微软雅黑" panose="020B0503020204020204" pitchFamily="34" charset="-122"/>
              </a:rPr>
            </a:br>
            <a:r>
              <a:rPr lang="en-US" altLang="zh-CN" sz="2665" dirty="0">
                <a:latin typeface="Aptos" panose="020B0004020202020204" pitchFamily="34" charset="0"/>
                <a:ea typeface="微软雅黑" panose="020B0503020204020204" pitchFamily="34" charset="-122"/>
              </a:rPr>
              <a:t>what drives Connectivity Governance API</a:t>
            </a:r>
            <a:r>
              <a:rPr lang="zh-CN" altLang="en-US" sz="2665" dirty="0">
                <a:latin typeface="Aptos" panose="020B0004020202020204" pitchFamily="34" charset="0"/>
                <a:ea typeface="微软雅黑" panose="020B0503020204020204" pitchFamily="34" charset="-122"/>
              </a:rPr>
              <a:t> </a:t>
            </a:r>
          </a:p>
        </p:txBody>
      </p:sp>
      <p:sp>
        <p:nvSpPr>
          <p:cNvPr id="6" name="右箭头 5"/>
          <p:cNvSpPr/>
          <p:nvPr/>
        </p:nvSpPr>
        <p:spPr>
          <a:xfrm rot="5400000">
            <a:off x="5885849" y="3056023"/>
            <a:ext cx="2136806" cy="279132"/>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ptos" panose="020B0004020202020204" pitchFamily="34" charset="0"/>
            </a:endParaRPr>
          </a:p>
        </p:txBody>
      </p:sp>
      <p:sp>
        <p:nvSpPr>
          <p:cNvPr id="8" name="文本框 7"/>
          <p:cNvSpPr txBox="1"/>
          <p:nvPr/>
        </p:nvSpPr>
        <p:spPr>
          <a:xfrm>
            <a:off x="7753350" y="1982667"/>
            <a:ext cx="3854450" cy="2502706"/>
          </a:xfrm>
          <a:prstGeom prst="rect">
            <a:avLst/>
          </a:prstGeom>
          <a:noFill/>
        </p:spPr>
        <p:txBody>
          <a:bodyPr wrap="square" rtlCol="0" anchor="t">
            <a:noAutofit/>
          </a:bodyPr>
          <a:lstStyle/>
          <a:p>
            <a:pPr marL="285750" indent="-285750">
              <a:buFont typeface="Courier New" panose="02070309020205020404" pitchFamily="49" charset="0"/>
              <a:buChar char="o"/>
            </a:pPr>
            <a:r>
              <a:rPr lang="en-US" altLang="zh-CN" sz="1400" dirty="0">
                <a:latin typeface="Aptos" panose="020B0004020202020204" pitchFamily="34" charset="0"/>
              </a:rPr>
              <a:t>Block risky applications for all roaming devices</a:t>
            </a:r>
          </a:p>
          <a:p>
            <a:pPr marL="285750" indent="-285750">
              <a:buFont typeface="Courier New" panose="02070309020205020404" pitchFamily="49" charset="0"/>
              <a:buChar char="o"/>
            </a:pPr>
            <a:r>
              <a:rPr lang="en-US" altLang="zh-CN" sz="1400" dirty="0">
                <a:latin typeface="Aptos" panose="020B0004020202020204" pitchFamily="34" charset="0"/>
              </a:rPr>
              <a:t>Apply temporary emergency bandwidth throttling</a:t>
            </a:r>
          </a:p>
          <a:p>
            <a:pPr marL="285750" indent="-285750">
              <a:buFont typeface="Courier New" panose="02070309020205020404" pitchFamily="49" charset="0"/>
              <a:buChar char="o"/>
            </a:pPr>
            <a:r>
              <a:rPr lang="en-GB" altLang="zh-CN" sz="1400" dirty="0">
                <a:latin typeface="Aptos" panose="020B0004020202020204" pitchFamily="34" charset="0"/>
              </a:rPr>
              <a:t>Reduces risk without invading employee privacy and across devices.</a:t>
            </a:r>
          </a:p>
          <a:p>
            <a:pPr marL="285750" indent="-285750">
              <a:buFont typeface="Courier New" panose="02070309020205020404" pitchFamily="49" charset="0"/>
              <a:buChar char="o"/>
            </a:pPr>
            <a:r>
              <a:rPr lang="en-GB" altLang="zh-CN" sz="1400" dirty="0">
                <a:latin typeface="Aptos" panose="020B0004020202020204" pitchFamily="34" charset="0"/>
              </a:rPr>
              <a:t>Enterprise-grade governance without agents and compliments CASB solutions.</a:t>
            </a:r>
          </a:p>
          <a:p>
            <a:pPr marL="285750" indent="-285750">
              <a:buFont typeface="Courier New" panose="02070309020205020404" pitchFamily="49" charset="0"/>
              <a:buChar char="o"/>
            </a:pPr>
            <a:r>
              <a:rPr lang="en-GB" altLang="zh-CN" sz="1400" dirty="0">
                <a:latin typeface="Aptos" panose="020B0004020202020204" pitchFamily="34" charset="0"/>
              </a:rPr>
              <a:t>A multi-tiered policy enforcement can be enforced on the back of this solution.</a:t>
            </a:r>
            <a:endParaRPr lang="en-US" altLang="zh-CN" sz="1400" dirty="0">
              <a:latin typeface="Aptos" panose="020B0004020202020204" pitchFamily="34" charset="0"/>
            </a:endParaRPr>
          </a:p>
        </p:txBody>
      </p:sp>
      <p:sp>
        <p:nvSpPr>
          <p:cNvPr id="14" name="椭圆 13"/>
          <p:cNvSpPr/>
          <p:nvPr/>
        </p:nvSpPr>
        <p:spPr>
          <a:xfrm>
            <a:off x="7753350" y="1584526"/>
            <a:ext cx="3958567" cy="401955"/>
          </a:xfrm>
          <a:prstGeom prst="roundRect">
            <a:avLst/>
          </a:prstGeom>
          <a:solidFill>
            <a:schemeClr val="tx2">
              <a:lumMod val="75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Aptos" panose="020B0004020202020204" pitchFamily="34" charset="0"/>
              </a:rPr>
              <a:t>API benefit</a:t>
            </a:r>
          </a:p>
        </p:txBody>
      </p:sp>
      <p:sp>
        <p:nvSpPr>
          <p:cNvPr id="4" name="文本框 2">
            <a:extLst>
              <a:ext uri="{FF2B5EF4-FFF2-40B4-BE49-F238E27FC236}">
                <a16:creationId xmlns:a16="http://schemas.microsoft.com/office/drawing/2014/main" id="{668B026E-C492-0162-10E4-92E97A29FD44}"/>
              </a:ext>
            </a:extLst>
          </p:cNvPr>
          <p:cNvSpPr txBox="1"/>
          <p:nvPr/>
        </p:nvSpPr>
        <p:spPr>
          <a:xfrm>
            <a:off x="350341" y="4514103"/>
            <a:ext cx="11536859" cy="2205674"/>
          </a:xfrm>
          <a:prstGeom prst="rect">
            <a:avLst/>
          </a:prstGeom>
          <a:noFill/>
        </p:spPr>
        <p:txBody>
          <a:bodyPr wrap="square" rtlCol="0" anchor="t">
            <a:noAutofit/>
          </a:bodyPr>
          <a:lstStyle/>
          <a:p>
            <a:pPr indent="0" fontAlgn="auto">
              <a:lnSpc>
                <a:spcPct val="150000"/>
              </a:lnSpc>
            </a:pPr>
            <a:r>
              <a:rPr lang="en-US" sz="1400" b="1">
                <a:latin typeface="Aptos" panose="020B0004020202020204" pitchFamily="34" charset="0"/>
                <a:ea typeface="微软雅黑" panose="020B0503020204020204" pitchFamily="34" charset="-122"/>
                <a:cs typeface="+mn-lt"/>
                <a:sym typeface="+mn-ea"/>
              </a:rPr>
              <a:t>New business scenarios driven：</a:t>
            </a:r>
          </a:p>
          <a:p>
            <a:pPr indent="0" fontAlgn="auto"/>
            <a:r>
              <a:rPr lang="en-GB" sz="1400">
                <a:latin typeface="Aptos" panose="020B0004020202020204" pitchFamily="34" charset="0"/>
              </a:rPr>
              <a:t>A network‑level policy enforcement API that enables telcos to provide enterprise customers with centralized control over application access, bandwidth optimization, productivity protection, and compliance enforcement across MPLS, SD‑WAN, and mobile networks—without requiring any device‑level software or agents. Unlike traditional endpoint‑based tools such as MDMs or content filters, which add operational overhead and are easily bypassed, this API enforces policies directly at the network gateway layer (PE routers, SD‑WAN edges, or the telco core), ensuring consistent, tamper‑proof, and cross‑device enforcement. This capability can also be offered as a differentiated, revenue‑generating add‑on bundled with enterprise connectivity products.</a:t>
            </a:r>
            <a:r>
              <a:rPr lang="en-US" sz="1400">
                <a:latin typeface="Aptos" panose="020B0004020202020204" pitchFamily="34" charset="0"/>
                <a:ea typeface="微软雅黑" panose="020B0503020204020204" pitchFamily="34" charset="-122"/>
                <a:cs typeface="+mn-lt"/>
                <a:sym typeface="+mn-ea"/>
              </a:rPr>
              <a:t>This API is proposed for enterprise customers and use cases exist across Health Care, Legal, Media/Entertainment  domain.</a:t>
            </a:r>
          </a:p>
        </p:txBody>
      </p:sp>
      <p:pic>
        <p:nvPicPr>
          <p:cNvPr id="5" name="Picture 4">
            <a:extLst>
              <a:ext uri="{FF2B5EF4-FFF2-40B4-BE49-F238E27FC236}">
                <a16:creationId xmlns:a16="http://schemas.microsoft.com/office/drawing/2014/main" id="{F9282A7C-F334-CA7A-693F-36DB8765A8CA}"/>
              </a:ext>
            </a:extLst>
          </p:cNvPr>
          <p:cNvPicPr>
            <a:picLocks noChangeAspect="1"/>
          </p:cNvPicPr>
          <p:nvPr/>
        </p:nvPicPr>
        <p:blipFill>
          <a:blip r:embed="rId3"/>
          <a:stretch>
            <a:fillRect/>
          </a:stretch>
        </p:blipFill>
        <p:spPr>
          <a:xfrm>
            <a:off x="1068608" y="1982665"/>
            <a:ext cx="3754061" cy="25027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A4787593-88E3-333F-722F-83827CBAC2E0}"/>
              </a:ext>
            </a:extLst>
          </p:cNvPr>
          <p:cNvSpPr>
            <a:spLocks noGrp="1"/>
          </p:cNvSpPr>
          <p:nvPr>
            <p:ph type="title"/>
          </p:nvPr>
        </p:nvSpPr>
        <p:spPr>
          <a:xfrm>
            <a:off x="0" y="0"/>
            <a:ext cx="8464238" cy="829945"/>
          </a:xfrm>
        </p:spPr>
        <p:txBody>
          <a:bodyPr vert="horz" lIns="91440" tIns="45720" rIns="91440" bIns="45720" rtlCol="0" anchor="ctr">
            <a:normAutofit fontScale="90000"/>
          </a:bodyPr>
          <a:lstStyle/>
          <a:p>
            <a:r>
              <a:rPr lang="en-GB" altLang="zh-CN" dirty="0">
                <a:latin typeface="Aptos" panose="020B0004020202020204" pitchFamily="34" charset="0"/>
                <a:ea typeface="微软雅黑" panose="020B0503020204020204" pitchFamily="34" charset="-122"/>
              </a:rPr>
              <a:t>API Scope (Connectivity Governance)</a:t>
            </a:r>
            <a:endParaRPr lang="zh-CN" altLang="en-US" dirty="0">
              <a:latin typeface="Aptos" panose="020B0004020202020204" pitchFamily="34" charset="0"/>
              <a:ea typeface="微软雅黑" panose="020B0503020204020204" pitchFamily="34" charset="-122"/>
            </a:endParaRPr>
          </a:p>
        </p:txBody>
      </p:sp>
      <p:sp>
        <p:nvSpPr>
          <p:cNvPr id="9" name="TextBox 8">
            <a:extLst>
              <a:ext uri="{FF2B5EF4-FFF2-40B4-BE49-F238E27FC236}">
                <a16:creationId xmlns:a16="http://schemas.microsoft.com/office/drawing/2014/main" id="{B294F75C-0579-4927-864B-85D317A42037}"/>
              </a:ext>
            </a:extLst>
          </p:cNvPr>
          <p:cNvSpPr txBox="1"/>
          <p:nvPr/>
        </p:nvSpPr>
        <p:spPr>
          <a:xfrm>
            <a:off x="419724" y="2228035"/>
            <a:ext cx="10972800" cy="3477875"/>
          </a:xfrm>
          <a:prstGeom prst="rect">
            <a:avLst/>
          </a:prstGeom>
          <a:noFill/>
        </p:spPr>
        <p:txBody>
          <a:bodyPr wrap="square">
            <a:spAutoFit/>
          </a:bodyPr>
          <a:lstStyle/>
          <a:p>
            <a:r>
              <a:rPr lang="en-GB" sz="2000" b="1" dirty="0"/>
              <a:t>In-Scope</a:t>
            </a:r>
          </a:p>
          <a:p>
            <a:endParaRPr lang="en-GB" dirty="0"/>
          </a:p>
          <a:p>
            <a:pPr marL="285750" indent="-285750">
              <a:buFont typeface="Arial" panose="020B0604020202020204" pitchFamily="34" charset="0"/>
              <a:buChar char="•"/>
            </a:pPr>
            <a:r>
              <a:rPr lang="en-GB" dirty="0"/>
              <a:t>Exposes portable, intent‑based governance for enterprise connectivity: define policies (allow/deny, QoS priority, rate‑limit, time windows) against a connectivity scope (enterprise, site, segment, subscription group, 5G slice). </a:t>
            </a:r>
          </a:p>
          <a:p>
            <a:pPr marL="285750" indent="-285750">
              <a:buFont typeface="Arial" panose="020B0604020202020204" pitchFamily="34" charset="0"/>
              <a:buChar char="•"/>
            </a:pPr>
            <a:r>
              <a:rPr lang="en-GB" dirty="0"/>
              <a:t>Provides capability discovery (supported categories/actions/limits) to ensure multi‑operator interoperability. </a:t>
            </a:r>
          </a:p>
          <a:p>
            <a:pPr marL="285750" indent="-285750">
              <a:buFont typeface="Arial" panose="020B0604020202020204" pitchFamily="34" charset="0"/>
              <a:buChar char="•"/>
            </a:pPr>
            <a:r>
              <a:rPr lang="en-GB" dirty="0"/>
              <a:t>Standardizes resource model, error format, and security per CAMARA Commonalities. </a:t>
            </a:r>
          </a:p>
          <a:p>
            <a:endParaRPr lang="en-GB" dirty="0"/>
          </a:p>
          <a:p>
            <a:r>
              <a:rPr lang="en-GB" sz="2000" b="1" dirty="0"/>
              <a:t>Out of Scope </a:t>
            </a:r>
          </a:p>
          <a:p>
            <a:endParaRPr lang="en-GB" dirty="0"/>
          </a:p>
          <a:p>
            <a:pPr marL="285750" indent="-285750">
              <a:buFont typeface="Arial" panose="020B0604020202020204" pitchFamily="34" charset="0"/>
              <a:buChar char="•"/>
            </a:pPr>
            <a:r>
              <a:rPr lang="en-GB" dirty="0"/>
              <a:t>No endpoint/agent management or device telemetry, enforcement is network‑side only. </a:t>
            </a:r>
          </a:p>
          <a:p>
            <a:pPr marL="285750" indent="-285750">
              <a:buFont typeface="Arial" panose="020B0604020202020204" pitchFamily="34" charset="0"/>
              <a:buChar char="•"/>
            </a:pPr>
            <a:r>
              <a:rPr lang="en-GB" dirty="0"/>
              <a:t>No commitment to specific vendor DPI/SD‑WAN features, maps intents to operator backend abstractly. </a:t>
            </a:r>
          </a:p>
          <a:p>
            <a:pPr marL="285750" indent="-285750">
              <a:buFont typeface="Arial" panose="020B0604020202020204" pitchFamily="34" charset="0"/>
              <a:buChar char="•"/>
            </a:pPr>
            <a:r>
              <a:rPr lang="en-GB" dirty="0"/>
              <a:t>Not a replacement for CASB/MDM feature parity, designed to complement network controls.</a:t>
            </a:r>
          </a:p>
        </p:txBody>
      </p:sp>
    </p:spTree>
    <p:extLst>
      <p:ext uri="{BB962C8B-B14F-4D97-AF65-F5344CB8AC3E}">
        <p14:creationId xmlns:p14="http://schemas.microsoft.com/office/powerpoint/2010/main" val="3238570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6672-5B88-E507-706B-89BA924BDC77}"/>
              </a:ext>
            </a:extLst>
          </p:cNvPr>
          <p:cNvSpPr>
            <a:spLocks noGrp="1"/>
          </p:cNvSpPr>
          <p:nvPr>
            <p:ph type="title"/>
          </p:nvPr>
        </p:nvSpPr>
        <p:spPr/>
        <p:txBody>
          <a:bodyPr/>
          <a:lstStyle/>
          <a:p>
            <a:r>
              <a:rPr lang="en-US" altLang="zh-CN" dirty="0">
                <a:latin typeface="Aptos" panose="020B0004020202020204" pitchFamily="34" charset="0"/>
                <a:ea typeface="微软雅黑" panose="020B0503020204020204" pitchFamily="34" charset="-122"/>
              </a:rPr>
              <a:t>Connectivity Governance API</a:t>
            </a:r>
            <a:endParaRPr lang="en-US" dirty="0"/>
          </a:p>
        </p:txBody>
      </p:sp>
      <p:pic>
        <p:nvPicPr>
          <p:cNvPr id="4" name="Picture 3">
            <a:extLst>
              <a:ext uri="{FF2B5EF4-FFF2-40B4-BE49-F238E27FC236}">
                <a16:creationId xmlns:a16="http://schemas.microsoft.com/office/drawing/2014/main" id="{9A8ED921-88FA-A572-8FB6-753068CB4A03}"/>
              </a:ext>
            </a:extLst>
          </p:cNvPr>
          <p:cNvPicPr>
            <a:picLocks noChangeAspect="1"/>
          </p:cNvPicPr>
          <p:nvPr/>
        </p:nvPicPr>
        <p:blipFill>
          <a:blip r:embed="rId2"/>
          <a:stretch>
            <a:fillRect/>
          </a:stretch>
        </p:blipFill>
        <p:spPr>
          <a:xfrm>
            <a:off x="940279" y="1764453"/>
            <a:ext cx="10691004" cy="4133749"/>
          </a:xfrm>
          <a:prstGeom prst="rect">
            <a:avLst/>
          </a:prstGeom>
        </p:spPr>
      </p:pic>
    </p:spTree>
    <p:extLst>
      <p:ext uri="{BB962C8B-B14F-4D97-AF65-F5344CB8AC3E}">
        <p14:creationId xmlns:p14="http://schemas.microsoft.com/office/powerpoint/2010/main" val="1169715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0432635-3A56-3B0E-BFFC-4A56BC370897}"/>
              </a:ext>
            </a:extLst>
          </p:cNvPr>
          <p:cNvPicPr>
            <a:picLocks noChangeAspect="1"/>
          </p:cNvPicPr>
          <p:nvPr/>
        </p:nvPicPr>
        <p:blipFill>
          <a:blip r:embed="rId2"/>
          <a:stretch>
            <a:fillRect/>
          </a:stretch>
        </p:blipFill>
        <p:spPr>
          <a:xfrm>
            <a:off x="0" y="1966160"/>
            <a:ext cx="12192000" cy="4305905"/>
          </a:xfrm>
          <a:prstGeom prst="rect">
            <a:avLst/>
          </a:prstGeom>
        </p:spPr>
      </p:pic>
      <p:sp>
        <p:nvSpPr>
          <p:cNvPr id="7" name="Title 1">
            <a:extLst>
              <a:ext uri="{FF2B5EF4-FFF2-40B4-BE49-F238E27FC236}">
                <a16:creationId xmlns:a16="http://schemas.microsoft.com/office/drawing/2014/main" id="{BB82FEAF-DB81-8FBC-9542-C6E93EBAF635}"/>
              </a:ext>
            </a:extLst>
          </p:cNvPr>
          <p:cNvSpPr>
            <a:spLocks noGrp="1"/>
          </p:cNvSpPr>
          <p:nvPr>
            <p:ph type="title"/>
          </p:nvPr>
        </p:nvSpPr>
        <p:spPr>
          <a:xfrm>
            <a:off x="470211" y="436920"/>
            <a:ext cx="7319442" cy="829647"/>
          </a:xfrm>
        </p:spPr>
        <p:txBody>
          <a:bodyPr/>
          <a:lstStyle/>
          <a:p>
            <a:r>
              <a:rPr lang="en-US" altLang="zh-CN" dirty="0">
                <a:latin typeface="Aptos" panose="020B0004020202020204" pitchFamily="34" charset="0"/>
                <a:ea typeface="微软雅黑" panose="020B0503020204020204" pitchFamily="34" charset="-122"/>
              </a:rPr>
              <a:t>API </a:t>
            </a:r>
            <a:r>
              <a:rPr lang="en-US" altLang="zh-CN">
                <a:latin typeface="Aptos" panose="020B0004020202020204" pitchFamily="34" charset="0"/>
                <a:ea typeface="微软雅黑" panose="020B0503020204020204" pitchFamily="34" charset="-122"/>
              </a:rPr>
              <a:t>Sequence Diagram</a:t>
            </a:r>
            <a:endParaRPr lang="en-US" dirty="0"/>
          </a:p>
        </p:txBody>
      </p:sp>
    </p:spTree>
    <p:extLst>
      <p:ext uri="{BB962C8B-B14F-4D97-AF65-F5344CB8AC3E}">
        <p14:creationId xmlns:p14="http://schemas.microsoft.com/office/powerpoint/2010/main" val="1717584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latin typeface="Aptos" panose="020B0004020202020204" pitchFamily="34" charset="0"/>
                <a:ea typeface="微软雅黑" panose="020B0503020204020204" pitchFamily="34" charset="-122"/>
              </a:rPr>
              <a:t>Connectivity Governance API</a:t>
            </a:r>
            <a:endParaRPr lang="zh-CN" altLang="en-US">
              <a:latin typeface="Aptos" panose="020B0004020202020204" pitchFamily="34" charset="0"/>
            </a:endParaRPr>
          </a:p>
        </p:txBody>
      </p:sp>
      <p:sp>
        <p:nvSpPr>
          <p:cNvPr id="25" name="textbox 25"/>
          <p:cNvSpPr/>
          <p:nvPr>
            <p:custDataLst>
              <p:tags r:id="rId1"/>
            </p:custDataLst>
          </p:nvPr>
        </p:nvSpPr>
        <p:spPr>
          <a:xfrm>
            <a:off x="252522" y="1370742"/>
            <a:ext cx="7446644" cy="376554"/>
          </a:xfrm>
          <a:prstGeom prst="rect">
            <a:avLst/>
          </a:prstGeom>
        </p:spPr>
        <p:txBody>
          <a:bodyPr vert="horz" wrap="square" lIns="0" tIns="0" rIns="0" bIns="0"/>
          <a:lstStyle/>
          <a:p>
            <a:pPr algn="l" rtl="0" eaLnBrk="0">
              <a:lnSpc>
                <a:spcPct val="107000"/>
              </a:lnSpc>
            </a:pPr>
            <a:endParaRPr lang="en-US" altLang="en-US" sz="400" dirty="0">
              <a:latin typeface="Aptos" panose="020B0004020202020204" pitchFamily="34" charset="0"/>
            </a:endParaRPr>
          </a:p>
          <a:p>
            <a:pPr marL="12700" algn="l" rtl="0" eaLnBrk="0">
              <a:lnSpc>
                <a:spcPct val="84000"/>
              </a:lnSpc>
              <a:spcBef>
                <a:spcPts val="5"/>
              </a:spcBef>
            </a:pPr>
            <a:r>
              <a:rPr lang="en-US" altLang="zh-CN" sz="2200" b="1" dirty="0">
                <a:latin typeface="Aptos" panose="020B0004020202020204" pitchFamily="34" charset="0"/>
                <a:sym typeface="+mn-ea"/>
              </a:rPr>
              <a:t>Overview</a:t>
            </a:r>
            <a:endParaRPr lang="en-US" altLang="zh-CN" sz="2200" b="1" dirty="0">
              <a:latin typeface="Aptos" panose="020B0004020202020204" pitchFamily="34" charset="0"/>
            </a:endParaRPr>
          </a:p>
          <a:p>
            <a:pPr marL="12700" algn="l" rtl="0" eaLnBrk="0">
              <a:lnSpc>
                <a:spcPct val="84000"/>
              </a:lnSpc>
              <a:spcBef>
                <a:spcPts val="5"/>
              </a:spcBef>
            </a:pPr>
            <a:endParaRPr lang="en-US" altLang="en-US" sz="2200" dirty="0">
              <a:latin typeface="Aptos" panose="020B0004020202020204" pitchFamily="34" charset="0"/>
            </a:endParaRPr>
          </a:p>
        </p:txBody>
      </p:sp>
      <p:sp>
        <p:nvSpPr>
          <p:cNvPr id="20" name="TextBox 19">
            <a:extLst>
              <a:ext uri="{FF2B5EF4-FFF2-40B4-BE49-F238E27FC236}">
                <a16:creationId xmlns:a16="http://schemas.microsoft.com/office/drawing/2014/main" id="{8A888B4D-A5A9-3715-FD45-40522B0D451E}"/>
              </a:ext>
            </a:extLst>
          </p:cNvPr>
          <p:cNvSpPr txBox="1"/>
          <p:nvPr/>
        </p:nvSpPr>
        <p:spPr>
          <a:xfrm>
            <a:off x="252522" y="1804432"/>
            <a:ext cx="11580552" cy="4832092"/>
          </a:xfrm>
          <a:prstGeom prst="rect">
            <a:avLst/>
          </a:prstGeom>
          <a:noFill/>
        </p:spPr>
        <p:txBody>
          <a:bodyPr wrap="square">
            <a:spAutoFit/>
          </a:bodyPr>
          <a:lstStyle/>
          <a:p>
            <a:r>
              <a:rPr lang="en-GB" sz="1400" dirty="0">
                <a:latin typeface="Aptos" panose="020B0004020202020204" pitchFamily="34" charset="0"/>
              </a:rPr>
              <a:t>The Connectivity Governance API provides a unified, network-level policy enforcement capability that enables telecom operators to offer enterprise customers precise control over application access, bandwidth usage, compliance, and productivity—without requiring any device-level software, agents, or MDM configurations. By exposing a portable, intent-based interface, the API allows enterprises to define governance rules that are enforced directly at network gateways such as PE routers, SD‑WAN edges, and mobile core policy functions, making them tamper‑proof, unpassable, and effective across all employee devices, including unmanaged BYOD endpoints.</a:t>
            </a:r>
          </a:p>
          <a:p>
            <a:endParaRPr lang="en-GB" sz="1400" dirty="0">
              <a:latin typeface="Aptos" panose="020B0004020202020204" pitchFamily="34" charset="0"/>
            </a:endParaRPr>
          </a:p>
          <a:p>
            <a:r>
              <a:rPr lang="en-GB" sz="1400" dirty="0">
                <a:latin typeface="Aptos" panose="020B0004020202020204" pitchFamily="34" charset="0"/>
              </a:rPr>
              <a:t>When invoked with specific governance intents—such as category-based restrictions, time-based rules, rate limits, or prioritization requirements</a:t>
            </a:r>
          </a:p>
          <a:p>
            <a:r>
              <a:rPr lang="en-GB" sz="1400" dirty="0">
                <a:latin typeface="Aptos" panose="020B0004020202020204" pitchFamily="34" charset="0"/>
              </a:rPr>
              <a:t>the operator translates these portable policies into network-level enforcement using SD‑WAN controllers, router ACLs, firewall rules, DNS filters, or mobile core PCF configurations. This enables enterprises to achieve consistent, cross-network enforcement across MPLS, SD‑WAN, broadband, mobile networks, and 5G slices through a single, standardized API.</a:t>
            </a:r>
          </a:p>
          <a:p>
            <a:endParaRPr lang="en-GB" sz="1400" dirty="0">
              <a:latin typeface="Aptos" panose="020B0004020202020204" pitchFamily="34" charset="0"/>
            </a:endParaRPr>
          </a:p>
          <a:p>
            <a:r>
              <a:rPr lang="en-GB" sz="1400" dirty="0">
                <a:latin typeface="Aptos" panose="020B0004020202020204" pitchFamily="34" charset="0"/>
              </a:rPr>
              <a:t>Designed to support multi-site, hybrid-work, and multi-access enterprise environments, the Connectivity Governance API enables organizations to enforce productivity controls (e.g., restricting streaming during work hours), enhance security posture (e.g., blocking VPN/proxy or TOR usage), safeguard critical operations (e.g., prioritizing real-time collaboration traffic), and ensure compliance in sensitive sectors such as banking, healthcare, government, and manufacturing. The API is equally effective across fixed, mobile, and cloud-connected environments, offering a unified governance layer for modern distributed enterprises.</a:t>
            </a:r>
          </a:p>
          <a:p>
            <a:endParaRPr lang="en-GB" sz="1400" dirty="0">
              <a:latin typeface="Aptos" panose="020B0004020202020204" pitchFamily="34" charset="0"/>
            </a:endParaRPr>
          </a:p>
          <a:p>
            <a:r>
              <a:rPr lang="en-GB" sz="1400" dirty="0">
                <a:latin typeface="Aptos" panose="020B0004020202020204" pitchFamily="34" charset="0"/>
              </a:rPr>
              <a:t>By leveraging this API, operators can deliver governance-as-a-service—bundled with MPLS, SD‑WAN, enterprise broadband, mobile corporate plans, or 5G </a:t>
            </a:r>
            <a:r>
              <a:rPr lang="en-GB" sz="1400">
                <a:latin typeface="Aptos" panose="020B0004020202020204" pitchFamily="34" charset="0"/>
              </a:rPr>
              <a:t>slicing, creating </a:t>
            </a:r>
            <a:r>
              <a:rPr lang="en-GB" sz="1400" dirty="0">
                <a:latin typeface="Aptos" panose="020B0004020202020204" pitchFamily="34" charset="0"/>
              </a:rPr>
              <a:t>a differentiated and revenue-generating value proposition. Enterprises benefit from simplified management, stronger security, and consistent enforcement without the overhead, privacy concerns, or bypass risks associated with endpoint agents.</a:t>
            </a:r>
          </a:p>
          <a:p>
            <a:r>
              <a:rPr lang="en-GB" sz="1400" dirty="0">
                <a:latin typeface="Aptos" panose="020B0004020202020204" pitchFamily="34" charset="0"/>
              </a:rPr>
              <a:t>Additionally, the API enables rapid, policy-driven control across site‑to‑site, site‑to‑cloud, and device‑to‑network scenarios, ensuring reliable and compliant access regardless of network type or device used.</a:t>
            </a:r>
            <a:endParaRPr lang="en-US" sz="14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Aptos" panose="020B0004020202020204" pitchFamily="34" charset="0"/>
                <a:ea typeface="微软雅黑" panose="020B0503020204020204" pitchFamily="34" charset="-122"/>
              </a:rPr>
              <a:t>API Functions</a:t>
            </a:r>
            <a:endParaRPr dirty="0">
              <a:latin typeface="Aptos" panose="020B0004020202020204" pitchFamily="34" charset="0"/>
              <a:ea typeface="微软雅黑" panose="020B0503020204020204" pitchFamily="34" charset="-122"/>
              <a:sym typeface="+mn-ea"/>
            </a:endParaRPr>
          </a:p>
        </p:txBody>
      </p:sp>
      <p:graphicFrame>
        <p:nvGraphicFramePr>
          <p:cNvPr id="4" name="表格 3"/>
          <p:cNvGraphicFramePr/>
          <p:nvPr>
            <p:custDataLst>
              <p:tags r:id="rId1"/>
            </p:custDataLst>
            <p:extLst>
              <p:ext uri="{D42A27DB-BD31-4B8C-83A1-F6EECF244321}">
                <p14:modId xmlns:p14="http://schemas.microsoft.com/office/powerpoint/2010/main" val="2159769423"/>
              </p:ext>
            </p:extLst>
          </p:nvPr>
        </p:nvGraphicFramePr>
        <p:xfrm>
          <a:off x="1294670" y="1831662"/>
          <a:ext cx="9887991" cy="4331889"/>
        </p:xfrm>
        <a:graphic>
          <a:graphicData uri="http://schemas.openxmlformats.org/drawingml/2006/table">
            <a:tbl>
              <a:tblPr firstRow="1" bandRow="1">
                <a:effectLst/>
                <a:tableStyleId>{5940675A-B579-460E-94D1-54222C63F5DA}</a:tableStyleId>
              </a:tblPr>
              <a:tblGrid>
                <a:gridCol w="2467861">
                  <a:extLst>
                    <a:ext uri="{9D8B030D-6E8A-4147-A177-3AD203B41FA5}">
                      <a16:colId xmlns:a16="http://schemas.microsoft.com/office/drawing/2014/main" val="20000"/>
                    </a:ext>
                  </a:extLst>
                </a:gridCol>
                <a:gridCol w="1843790">
                  <a:extLst>
                    <a:ext uri="{9D8B030D-6E8A-4147-A177-3AD203B41FA5}">
                      <a16:colId xmlns:a16="http://schemas.microsoft.com/office/drawing/2014/main" val="3114983018"/>
                    </a:ext>
                  </a:extLst>
                </a:gridCol>
                <a:gridCol w="1981274">
                  <a:extLst>
                    <a:ext uri="{9D8B030D-6E8A-4147-A177-3AD203B41FA5}">
                      <a16:colId xmlns:a16="http://schemas.microsoft.com/office/drawing/2014/main" val="20001"/>
                    </a:ext>
                  </a:extLst>
                </a:gridCol>
                <a:gridCol w="3595066">
                  <a:extLst>
                    <a:ext uri="{9D8B030D-6E8A-4147-A177-3AD203B41FA5}">
                      <a16:colId xmlns:a16="http://schemas.microsoft.com/office/drawing/2014/main" val="20002"/>
                    </a:ext>
                  </a:extLst>
                </a:gridCol>
              </a:tblGrid>
              <a:tr h="355131">
                <a:tc>
                  <a:txBody>
                    <a:bodyPr/>
                    <a:lstStyle/>
                    <a:p>
                      <a:pPr>
                        <a:buNone/>
                      </a:pPr>
                      <a:r>
                        <a:rPr lang="en-US" altLang="zh-CN" sz="1400" b="1" dirty="0">
                          <a:solidFill>
                            <a:srgbClr val="FFFFFF"/>
                          </a:solidFill>
                          <a:latin typeface="Aptos" panose="020B0004020202020204" pitchFamily="34" charset="0"/>
                          <a:ea typeface="微软雅黑" panose="020B0503020204020204" pitchFamily="34" charset="-122"/>
                        </a:rPr>
                        <a:t>API name</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solidFill>
                      <a:schemeClr val="tx2">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1" dirty="0">
                          <a:solidFill>
                            <a:srgbClr val="FFFFFF"/>
                          </a:solidFill>
                          <a:latin typeface="Aptos" panose="020B0004020202020204" pitchFamily="34" charset="0"/>
                          <a:ea typeface="微软雅黑" panose="020B0503020204020204" pitchFamily="34" charset="-122"/>
                          <a:sym typeface="微软雅黑" panose="020B0503020204020204" pitchFamily="34" charset="-122"/>
                        </a:rPr>
                        <a:t>API function</a:t>
                      </a: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solidFill>
                      <a:schemeClr val="tx2">
                        <a:lumMod val="75000"/>
                      </a:schemeClr>
                    </a:solidFill>
                  </a:tcPr>
                </a:tc>
                <a:tc>
                  <a:txBody>
                    <a:bodyPr/>
                    <a:lstStyle/>
                    <a:p>
                      <a:pPr>
                        <a:buNone/>
                      </a:pPr>
                      <a:r>
                        <a:rPr lang="en-US" altLang="zh-CN" sz="1400" b="1" dirty="0">
                          <a:solidFill>
                            <a:srgbClr val="FFFFFF"/>
                          </a:solidFill>
                          <a:latin typeface="Aptos" panose="020B0004020202020204" pitchFamily="34" charset="0"/>
                          <a:ea typeface="微软雅黑" panose="020B0503020204020204" pitchFamily="34" charset="-122"/>
                          <a:sym typeface="微软雅黑" panose="020B0503020204020204" pitchFamily="34" charset="-122"/>
                        </a:rPr>
                        <a:t>Method</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solidFill>
                      <a:schemeClr val="tx2">
                        <a:lumMod val="75000"/>
                      </a:schemeClr>
                    </a:solidFill>
                  </a:tcPr>
                </a:tc>
                <a:tc>
                  <a:txBody>
                    <a:bodyPr/>
                    <a:lstStyle/>
                    <a:p>
                      <a:pPr>
                        <a:buNone/>
                      </a:pPr>
                      <a:r>
                        <a:rPr lang="en-US" altLang="zh-CN" sz="1400" b="1" dirty="0">
                          <a:solidFill>
                            <a:srgbClr val="FFFFFF"/>
                          </a:solidFill>
                          <a:latin typeface="Aptos" panose="020B0004020202020204" pitchFamily="34" charset="0"/>
                          <a:ea typeface="微软雅黑" panose="020B0503020204020204" pitchFamily="34" charset="-122"/>
                          <a:sym typeface="微软雅黑" panose="020B0503020204020204" pitchFamily="34" charset="-122"/>
                        </a:rPr>
                        <a:t>Description</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10000"/>
                  </a:ext>
                </a:extLst>
              </a:tr>
              <a:tr h="671159">
                <a:tc>
                  <a:txBody>
                    <a:bodyPr/>
                    <a:lstStyle/>
                    <a:p>
                      <a:pPr>
                        <a:buNone/>
                      </a:pPr>
                      <a:r>
                        <a:rPr lang="en-GB" sz="1200">
                          <a:effectLst/>
                          <a:latin typeface="Courier New" panose="02070309020205020404" pitchFamily="49" charset="0"/>
                        </a:rPr>
                        <a:t>/capabilities</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a:effectLst/>
                        </a:rPr>
                        <a:t>List supported capabilities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GET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dirty="0">
                          <a:effectLst/>
                        </a:rPr>
                        <a:t>Discovery for actions/limits</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extLst>
                  <a:ext uri="{0D108BD9-81ED-4DB2-BD59-A6C34878D82A}">
                    <a16:rowId xmlns:a16="http://schemas.microsoft.com/office/drawing/2014/main" val="34177216"/>
                  </a:ext>
                </a:extLst>
              </a:tr>
              <a:tr h="671159">
                <a:tc>
                  <a:txBody>
                    <a:bodyPr/>
                    <a:lstStyle/>
                    <a:p>
                      <a:pPr>
                        <a:buNone/>
                      </a:pPr>
                      <a:r>
                        <a:rPr lang="en-GB" sz="1200">
                          <a:effectLst/>
                          <a:latin typeface="Courier New" panose="02070309020205020404" pitchFamily="49" charset="0"/>
                        </a:rPr>
                        <a:t>/capabilities/categories</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dirty="0">
                          <a:effectLst/>
                        </a:rPr>
                        <a:t>List category taxonomy</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dirty="0">
                          <a:effectLst/>
                        </a:rPr>
                        <a:t>GET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a:effectLst/>
                        </a:rPr>
                        <a:t>Discovery for content filtering</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extLst>
                  <a:ext uri="{0D108BD9-81ED-4DB2-BD59-A6C34878D82A}">
                    <a16:rowId xmlns:a16="http://schemas.microsoft.com/office/drawing/2014/main" val="3442118365"/>
                  </a:ext>
                </a:extLst>
              </a:tr>
              <a:tr h="671159">
                <a:tc>
                  <a:txBody>
                    <a:bodyPr/>
                    <a:lstStyle/>
                    <a:p>
                      <a:pPr>
                        <a:buNone/>
                      </a:pPr>
                      <a:r>
                        <a:rPr lang="en-GB" sz="1200">
                          <a:effectLst/>
                          <a:latin typeface="Courier New" panose="02070309020205020404" pitchFamily="49" charset="0"/>
                        </a:rPr>
                        <a:t>/connectivityScopes</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a:effectLst/>
                        </a:rPr>
                        <a:t>List scopes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GET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a:effectLst/>
                        </a:rPr>
                        <a:t>Filter by type/labels</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extLst>
                  <a:ext uri="{0D108BD9-81ED-4DB2-BD59-A6C34878D82A}">
                    <a16:rowId xmlns:a16="http://schemas.microsoft.com/office/drawing/2014/main" val="1741138488"/>
                  </a:ext>
                </a:extLst>
              </a:tr>
              <a:tr h="290077">
                <a:tc>
                  <a:txBody>
                    <a:bodyPr/>
                    <a:lstStyle/>
                    <a:p>
                      <a:pPr>
                        <a:buNone/>
                      </a:pPr>
                      <a:r>
                        <a:rPr lang="en-GB" sz="1200">
                          <a:effectLst/>
                          <a:latin typeface="Courier New" panose="02070309020205020404" pitchFamily="49" charset="0"/>
                        </a:rPr>
                        <a:t>/connectivityScopes/{scopeId}</a:t>
                      </a:r>
                      <a:endParaRPr lang="en-GB" sz="1200">
                        <a:effectLs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40000"/>
                        <a:lumOff val="60000"/>
                      </a:schemeClr>
                    </a:solidFill>
                  </a:tcPr>
                </a:tc>
                <a:tc>
                  <a:txBody>
                    <a:bodyPr/>
                    <a:lstStyle/>
                    <a:p>
                      <a:pPr>
                        <a:buNone/>
                      </a:pPr>
                      <a:r>
                        <a:rPr lang="en-GB" sz="1200">
                          <a:effectLst/>
                        </a:rPr>
                        <a:t>Get scope</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40000"/>
                        <a:lumOff val="60000"/>
                      </a:schemeClr>
                    </a:solidFill>
                  </a:tcPr>
                </a:tc>
                <a:tc>
                  <a:txBody>
                    <a:bodyPr/>
                    <a:lstStyle/>
                    <a:p>
                      <a:pPr>
                        <a:buNone/>
                      </a:pPr>
                      <a:r>
                        <a:rPr lang="en-GB" sz="1200">
                          <a:effectLst/>
                        </a:rPr>
                        <a:t>GET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40000"/>
                        <a:lumOff val="60000"/>
                      </a:schemeClr>
                    </a:solidFill>
                  </a:tcPr>
                </a:tc>
                <a:tc>
                  <a:txBody>
                    <a:bodyPr/>
                    <a:lstStyle/>
                    <a:p>
                      <a:pPr>
                        <a:buNone/>
                      </a:pPr>
                      <a:endParaRPr lang="en-GB" sz="1200">
                        <a:effectLs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40000"/>
                        <a:lumOff val="60000"/>
                      </a:schemeClr>
                    </a:solidFill>
                  </a:tcPr>
                </a:tc>
                <a:extLst>
                  <a:ext uri="{0D108BD9-81ED-4DB2-BD59-A6C34878D82A}">
                    <a16:rowId xmlns:a16="http://schemas.microsoft.com/office/drawing/2014/main" val="10003"/>
                  </a:ext>
                </a:extLst>
              </a:tr>
              <a:tr h="345773">
                <a:tc>
                  <a:txBody>
                    <a:bodyPr/>
                    <a:lstStyle/>
                    <a:p>
                      <a:pPr>
                        <a:buNone/>
                      </a:pPr>
                      <a:r>
                        <a:rPr lang="en-GB" sz="1200">
                          <a:effectLst/>
                          <a:latin typeface="Courier New" panose="02070309020205020404" pitchFamily="49" charset="0"/>
                        </a:rPr>
                        <a:t>/policies</a:t>
                      </a:r>
                      <a:endParaRPr lang="en-GB" sz="1200">
                        <a:effectLst/>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20000"/>
                        <a:lumOff val="80000"/>
                      </a:schemeClr>
                    </a:solidFill>
                  </a:tcPr>
                </a:tc>
                <a:tc>
                  <a:txBody>
                    <a:bodyPr/>
                    <a:lstStyle/>
                    <a:p>
                      <a:pPr>
                        <a:buNone/>
                      </a:pPr>
                      <a:r>
                        <a:rPr lang="en-GB" sz="1200">
                          <a:effectLst/>
                        </a:rPr>
                        <a:t>Create policy</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POST</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20000"/>
                        <a:lumOff val="80000"/>
                      </a:schemeClr>
                    </a:solidFill>
                  </a:tcPr>
                </a:tc>
                <a:tc>
                  <a:txBody>
                    <a:bodyPr/>
                    <a:lstStyle/>
                    <a:p>
                      <a:pPr>
                        <a:buNone/>
                      </a:pPr>
                      <a:r>
                        <a:rPr lang="en-GB" sz="1200">
                          <a:effectLst/>
                        </a:rPr>
                        <a:t>Idempotency key supported</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1">
                        <a:lumMod val="20000"/>
                        <a:lumOff val="80000"/>
                      </a:schemeClr>
                    </a:solidFill>
                  </a:tcPr>
                </a:tc>
                <a:extLst>
                  <a:ext uri="{0D108BD9-81ED-4DB2-BD59-A6C34878D82A}">
                    <a16:rowId xmlns:a16="http://schemas.microsoft.com/office/drawing/2014/main" val="10004"/>
                  </a:ext>
                </a:extLst>
              </a:tr>
              <a:tr h="290077">
                <a:tc>
                  <a:txBody>
                    <a:bodyPr/>
                    <a:lstStyle/>
                    <a:p>
                      <a:pPr>
                        <a:buNone/>
                      </a:pPr>
                      <a:r>
                        <a:rPr lang="en-GB" sz="1200">
                          <a:effectLst/>
                          <a:latin typeface="Courier New" panose="02070309020205020404" pitchFamily="49" charset="0"/>
                        </a:rPr>
                        <a:t>/policies</a:t>
                      </a:r>
                      <a:endParaRPr lang="en-GB" sz="1200">
                        <a:effectLst/>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List policies</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GET</a:t>
                      </a: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US" sz="1200">
                          <a:effectLst/>
                        </a:rPr>
                        <a:t>Filter by </a:t>
                      </a:r>
                      <a:r>
                        <a:rPr lang="en-US" sz="1200">
                          <a:effectLst/>
                          <a:latin typeface="Courier New" panose="02070309020205020404" pitchFamily="49" charset="0"/>
                        </a:rPr>
                        <a:t>scopeId</a:t>
                      </a:r>
                      <a:r>
                        <a:rPr lang="en-US" sz="1200">
                          <a:effectLst/>
                        </a:rPr>
                        <a:t>, </a:t>
                      </a:r>
                      <a:r>
                        <a:rPr lang="en-US" sz="1200">
                          <a:effectLst/>
                          <a:latin typeface="Courier New" panose="02070309020205020404" pitchFamily="49" charset="0"/>
                        </a:rPr>
                        <a:t>state</a:t>
                      </a:r>
                      <a:r>
                        <a:rPr lang="en-US" sz="1200">
                          <a:effectLst/>
                        </a:rPr>
                        <a:t>, </a:t>
                      </a:r>
                      <a:r>
                        <a:rPr lang="en-US" sz="1200">
                          <a:effectLst/>
                          <a:latin typeface="Courier New" panose="02070309020205020404" pitchFamily="49" charset="0"/>
                        </a:rPr>
                        <a:t>category</a:t>
                      </a:r>
                      <a:endParaRPr lang="en-US" sz="1200">
                        <a:effectLst/>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290077">
                <a:tc>
                  <a:txBody>
                    <a:bodyPr/>
                    <a:lstStyle/>
                    <a:p>
                      <a:pPr>
                        <a:buNone/>
                      </a:pPr>
                      <a:r>
                        <a:rPr lang="en-GB" sz="1200">
                          <a:effectLst/>
                          <a:latin typeface="Courier New" panose="02070309020205020404" pitchFamily="49" charset="0"/>
                        </a:rPr>
                        <a:t>/policies/{policyId}</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Get policy</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GET</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endParaRPr lang="en-GB" sz="1200">
                        <a:effectLst/>
                      </a:endParaRP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43360457"/>
                  </a:ext>
                </a:extLst>
              </a:tr>
              <a:tr h="290077">
                <a:tc>
                  <a:txBody>
                    <a:bodyPr/>
                    <a:lstStyle/>
                    <a:p>
                      <a:pPr>
                        <a:buNone/>
                      </a:pPr>
                      <a:r>
                        <a:rPr lang="en-GB" sz="1200">
                          <a:effectLst/>
                          <a:latin typeface="Courier New" panose="02070309020205020404" pitchFamily="49" charset="0"/>
                        </a:rPr>
                        <a:t>/policies/{policyId}</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Update policy</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a:effectLst/>
                        </a:rPr>
                        <a:t>PATCH</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tc>
                  <a:txBody>
                    <a:bodyPr/>
                    <a:lstStyle/>
                    <a:p>
                      <a:pPr>
                        <a:buNone/>
                      </a:pPr>
                      <a:r>
                        <a:rPr lang="en-GB" sz="1200" dirty="0">
                          <a:effectLst/>
                        </a:rPr>
                        <a:t>Partial update</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54133215"/>
                  </a:ext>
                </a:extLst>
              </a:tr>
              <a:tr h="290077">
                <a:tc>
                  <a:txBody>
                    <a:bodyPr/>
                    <a:lstStyle/>
                    <a:p>
                      <a:pPr>
                        <a:buNone/>
                      </a:pPr>
                      <a:r>
                        <a:rPr lang="en-GB" sz="1200">
                          <a:effectLst/>
                          <a:latin typeface="Courier New" panose="02070309020205020404" pitchFamily="49" charset="0"/>
                        </a:rPr>
                        <a:t>/policies/{policyId}</a:t>
                      </a:r>
                      <a:endParaRPr lang="en-GB" sz="1200">
                        <a:effectLs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solidFill>
                      <a:schemeClr val="accent1">
                        <a:lumMod val="20000"/>
                        <a:lumOff val="80000"/>
                      </a:schemeClr>
                    </a:solidFill>
                  </a:tcPr>
                </a:tc>
                <a:tc>
                  <a:txBody>
                    <a:bodyPr/>
                    <a:lstStyle/>
                    <a:p>
                      <a:pPr>
                        <a:buNone/>
                      </a:pPr>
                      <a:r>
                        <a:rPr lang="en-GB" sz="1200">
                          <a:effectLst/>
                        </a:rPr>
                        <a:t>Delete policy</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solidFill>
                      <a:schemeClr val="accent1">
                        <a:lumMod val="20000"/>
                        <a:lumOff val="80000"/>
                      </a:schemeClr>
                    </a:solidFill>
                  </a:tcPr>
                </a:tc>
                <a:tc>
                  <a:txBody>
                    <a:bodyPr/>
                    <a:lstStyle/>
                    <a:p>
                      <a:pPr>
                        <a:buNone/>
                      </a:pPr>
                      <a:r>
                        <a:rPr lang="en-GB" sz="1200">
                          <a:effectLst/>
                        </a:rPr>
                        <a:t>DELETE</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solidFill>
                      <a:schemeClr val="accent1">
                        <a:lumMod val="20000"/>
                        <a:lumOff val="80000"/>
                      </a:schemeClr>
                    </a:solidFill>
                  </a:tcPr>
                </a:tc>
                <a:tc>
                  <a:txBody>
                    <a:bodyPr/>
                    <a:lstStyle/>
                    <a:p>
                      <a:pPr>
                        <a:buNone/>
                      </a:pPr>
                      <a:r>
                        <a:rPr lang="en-US" sz="1200" dirty="0">
                          <a:effectLst/>
                        </a:rPr>
                        <a:t>Soft or hard delete (operator‑specific)</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solidFill>
                      <a:schemeClr val="accent1">
                        <a:lumMod val="20000"/>
                        <a:lumOff val="80000"/>
                      </a:schemeClr>
                    </a:solidFill>
                  </a:tcPr>
                </a:tc>
                <a:extLst>
                  <a:ext uri="{0D108BD9-81ED-4DB2-BD59-A6C34878D82A}">
                    <a16:rowId xmlns:a16="http://schemas.microsoft.com/office/drawing/2014/main" val="225457707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1332F25-2E71-6E78-BF10-E8ADCCB7A795}"/>
              </a:ext>
            </a:extLst>
          </p:cNvPr>
          <p:cNvSpPr>
            <a:spLocks noGrp="1"/>
          </p:cNvSpPr>
          <p:nvPr>
            <p:ph type="title"/>
          </p:nvPr>
        </p:nvSpPr>
        <p:spPr>
          <a:xfrm>
            <a:off x="470211" y="436920"/>
            <a:ext cx="11580552" cy="829647"/>
          </a:xfrm>
        </p:spPr>
        <p:txBody>
          <a:bodyPr>
            <a:normAutofit/>
          </a:bodyPr>
          <a:lstStyle/>
          <a:p>
            <a:r>
              <a:rPr lang="en-US" altLang="zh-CN" dirty="0">
                <a:latin typeface="Aptos" panose="020B0004020202020204" pitchFamily="34" charset="0"/>
                <a:ea typeface="微软雅黑" panose="020B0503020204020204" pitchFamily="34" charset="-122"/>
              </a:rPr>
              <a:t>Sample payload (Create)</a:t>
            </a:r>
            <a:endParaRPr dirty="0">
              <a:latin typeface="Aptos" panose="020B0004020202020204" pitchFamily="34" charset="0"/>
              <a:ea typeface="微软雅黑" panose="020B0503020204020204" pitchFamily="34" charset="-122"/>
              <a:sym typeface="+mn-ea"/>
            </a:endParaRPr>
          </a:p>
        </p:txBody>
      </p:sp>
      <p:sp>
        <p:nvSpPr>
          <p:cNvPr id="7" name="TextBox 6">
            <a:extLst>
              <a:ext uri="{FF2B5EF4-FFF2-40B4-BE49-F238E27FC236}">
                <a16:creationId xmlns:a16="http://schemas.microsoft.com/office/drawing/2014/main" id="{BD2278E1-395B-16FC-82EF-80BA99823AF2}"/>
              </a:ext>
            </a:extLst>
          </p:cNvPr>
          <p:cNvSpPr txBox="1"/>
          <p:nvPr/>
        </p:nvSpPr>
        <p:spPr>
          <a:xfrm>
            <a:off x="2188565" y="1896765"/>
            <a:ext cx="7547546" cy="4524315"/>
          </a:xfrm>
          <a:prstGeom prst="rect">
            <a:avLst/>
          </a:prstGeom>
          <a:noFill/>
        </p:spPr>
        <p:txBody>
          <a:bodyPr wrap="square">
            <a:spAutoFit/>
          </a:bodyPr>
          <a:lstStyle/>
          <a:p>
            <a:r>
              <a:rPr lang="en-GB" sz="1200" dirty="0"/>
              <a:t>{</a:t>
            </a:r>
          </a:p>
          <a:p>
            <a:r>
              <a:rPr lang="en-GB" sz="1200" dirty="0"/>
              <a:t>  "</a:t>
            </a:r>
            <a:r>
              <a:rPr lang="en-GB" sz="1200" dirty="0" err="1"/>
              <a:t>scopeId</a:t>
            </a:r>
            <a:r>
              <a:rPr lang="en-GB" sz="1200" dirty="0"/>
              <a:t>": "site:Site-001",</a:t>
            </a:r>
          </a:p>
          <a:p>
            <a:r>
              <a:rPr lang="en-GB" sz="1200" dirty="0"/>
              <a:t>  "description": "Work-hours productivity controls",</a:t>
            </a:r>
          </a:p>
          <a:p>
            <a:r>
              <a:rPr lang="en-GB" sz="1200" dirty="0"/>
              <a:t>  "valid-From": "2026-03-01T08:00:00",</a:t>
            </a:r>
          </a:p>
          <a:p>
            <a:r>
              <a:rPr lang="en-GB" sz="1200" dirty="0"/>
              <a:t>  "valid-Until": "2026-06-30T18:00:00",</a:t>
            </a:r>
          </a:p>
          <a:p>
            <a:r>
              <a:rPr lang="en-GB" sz="1200" dirty="0"/>
              <a:t>  "priority": 50,</a:t>
            </a:r>
          </a:p>
          <a:p>
            <a:r>
              <a:rPr lang="en-GB" sz="1200" dirty="0"/>
              <a:t>  "rules": [</a:t>
            </a:r>
          </a:p>
          <a:p>
            <a:r>
              <a:rPr lang="en-GB" sz="1200" dirty="0"/>
              <a:t>    {</a:t>
            </a:r>
          </a:p>
          <a:p>
            <a:r>
              <a:rPr lang="en-GB" sz="1200" dirty="0"/>
              <a:t>      "action": "DENY",</a:t>
            </a:r>
          </a:p>
          <a:p>
            <a:r>
              <a:rPr lang="en-GB" sz="1200" dirty="0"/>
              <a:t>      "target": { "categories": ["</a:t>
            </a:r>
            <a:r>
              <a:rPr lang="en-GB" sz="1200" dirty="0" err="1"/>
              <a:t>streaming.video</a:t>
            </a:r>
            <a:r>
              <a:rPr lang="en-GB" sz="1200" dirty="0"/>
              <a:t>", "gaming"] },</a:t>
            </a:r>
          </a:p>
          <a:p>
            <a:r>
              <a:rPr lang="en-GB" sz="1200" dirty="0"/>
              <a:t>      "schedule": {</a:t>
            </a:r>
          </a:p>
          <a:p>
            <a:r>
              <a:rPr lang="en-GB" sz="1200" dirty="0"/>
              <a:t>        "</a:t>
            </a:r>
            <a:r>
              <a:rPr lang="en-GB" sz="1200" dirty="0" err="1"/>
              <a:t>timezone</a:t>
            </a:r>
            <a:r>
              <a:rPr lang="en-GB" sz="1200" dirty="0"/>
              <a:t>": "Europe/London",</a:t>
            </a:r>
          </a:p>
          <a:p>
            <a:r>
              <a:rPr lang="en-GB" sz="1200" dirty="0"/>
              <a:t>        "days": ["MON","TUE","WED","THU","FRI"],</a:t>
            </a:r>
          </a:p>
          <a:p>
            <a:r>
              <a:rPr lang="en-GB" sz="1200" dirty="0"/>
              <a:t>        "start": "09:00",</a:t>
            </a:r>
          </a:p>
          <a:p>
            <a:r>
              <a:rPr lang="en-GB" sz="1200" dirty="0"/>
              <a:t>        "end": "18:00"</a:t>
            </a:r>
          </a:p>
          <a:p>
            <a:r>
              <a:rPr lang="en-GB" sz="1200" dirty="0"/>
              <a:t>      }</a:t>
            </a:r>
          </a:p>
          <a:p>
            <a:r>
              <a:rPr lang="en-GB" sz="1200" dirty="0"/>
              <a:t>    },</a:t>
            </a:r>
          </a:p>
          <a:p>
            <a:r>
              <a:rPr lang="en-GB" sz="1200" dirty="0"/>
              <a:t>    {</a:t>
            </a:r>
          </a:p>
          <a:p>
            <a:r>
              <a:rPr lang="en-GB" sz="1200" dirty="0"/>
              <a:t>      "action": "PRIORITIZE",</a:t>
            </a:r>
          </a:p>
          <a:p>
            <a:r>
              <a:rPr lang="en-GB" sz="1200" dirty="0"/>
              <a:t>      "target": { "</a:t>
            </a:r>
            <a:r>
              <a:rPr lang="en-GB" sz="1200" dirty="0" err="1"/>
              <a:t>appIds</a:t>
            </a:r>
            <a:r>
              <a:rPr lang="en-GB" sz="1200" dirty="0"/>
              <a:t>": ["</a:t>
            </a:r>
            <a:r>
              <a:rPr lang="en-GB" sz="1200" dirty="0" err="1"/>
              <a:t>msteams</a:t>
            </a:r>
            <a:r>
              <a:rPr lang="en-GB" sz="1200" dirty="0"/>
              <a:t>", "zoom"] },</a:t>
            </a:r>
          </a:p>
          <a:p>
            <a:r>
              <a:rPr lang="en-GB" sz="1200" dirty="0"/>
              <a:t>      "</a:t>
            </a:r>
            <a:r>
              <a:rPr lang="en-GB" sz="1200" dirty="0" err="1"/>
              <a:t>qos</a:t>
            </a:r>
            <a:r>
              <a:rPr lang="en-GB" sz="1200" dirty="0"/>
              <a:t>": { "</a:t>
            </a:r>
            <a:r>
              <a:rPr lang="en-GB" sz="1200" dirty="0" err="1"/>
              <a:t>dscp</a:t>
            </a:r>
            <a:r>
              <a:rPr lang="en-GB" sz="1200" dirty="0"/>
              <a:t>": 46, "class": "EF" }</a:t>
            </a:r>
          </a:p>
          <a:p>
            <a:r>
              <a:rPr lang="en-GB" sz="1200" dirty="0"/>
              <a:t>    }</a:t>
            </a:r>
          </a:p>
          <a:p>
            <a:r>
              <a:rPr lang="en-GB" sz="1200" dirty="0"/>
              <a:t>  ]</a:t>
            </a:r>
          </a:p>
          <a:p>
            <a:r>
              <a:rPr lang="en-GB" sz="1200" dirty="0"/>
              <a:t>}</a:t>
            </a:r>
          </a:p>
        </p:txBody>
      </p:sp>
    </p:spTree>
    <p:extLst>
      <p:ext uri="{BB962C8B-B14F-4D97-AF65-F5344CB8AC3E}">
        <p14:creationId xmlns:p14="http://schemas.microsoft.com/office/powerpoint/2010/main" val="2902880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atin typeface="Aptos" panose="020B0004020202020204" pitchFamily="34" charset="0"/>
                <a:ea typeface="微软雅黑" panose="020B0503020204020204" pitchFamily="34" charset="-122"/>
                <a:sym typeface="+mn-ea"/>
              </a:rPr>
              <a:t>User story</a:t>
            </a:r>
            <a:endParaRPr lang="zh-CN" altLang="en-US">
              <a:latin typeface="Aptos" panose="020B0004020202020204" pitchFamily="34" charset="0"/>
              <a:ea typeface="微软雅黑" panose="020B0503020204020204" pitchFamily="34" charset="-122"/>
            </a:endParaRPr>
          </a:p>
        </p:txBody>
      </p:sp>
      <p:graphicFrame>
        <p:nvGraphicFramePr>
          <p:cNvPr id="5" name="表格 4"/>
          <p:cNvGraphicFramePr/>
          <p:nvPr>
            <p:custDataLst>
              <p:tags r:id="rId1"/>
            </p:custDataLst>
            <p:extLst>
              <p:ext uri="{D42A27DB-BD31-4B8C-83A1-F6EECF244321}">
                <p14:modId xmlns:p14="http://schemas.microsoft.com/office/powerpoint/2010/main" val="3961596847"/>
              </p:ext>
            </p:extLst>
          </p:nvPr>
        </p:nvGraphicFramePr>
        <p:xfrm>
          <a:off x="409826" y="1094145"/>
          <a:ext cx="11024870" cy="5614024"/>
        </p:xfrm>
        <a:graphic>
          <a:graphicData uri="http://schemas.openxmlformats.org/drawingml/2006/table">
            <a:tbl>
              <a:tblPr firstRow="1" bandRow="1">
                <a:tableStyleId>{5C22544A-7EE6-4342-B048-85BDC9FD1C3A}</a:tableStyleId>
              </a:tblPr>
              <a:tblGrid>
                <a:gridCol w="2364105">
                  <a:extLst>
                    <a:ext uri="{9D8B030D-6E8A-4147-A177-3AD203B41FA5}">
                      <a16:colId xmlns:a16="http://schemas.microsoft.com/office/drawing/2014/main" val="20000"/>
                    </a:ext>
                  </a:extLst>
                </a:gridCol>
                <a:gridCol w="8660765">
                  <a:extLst>
                    <a:ext uri="{9D8B030D-6E8A-4147-A177-3AD203B41FA5}">
                      <a16:colId xmlns:a16="http://schemas.microsoft.com/office/drawing/2014/main" val="20001"/>
                    </a:ext>
                  </a:extLst>
                </a:gridCol>
              </a:tblGrid>
              <a:tr h="603630">
                <a:tc>
                  <a:txBody>
                    <a:bodyPr/>
                    <a:lstStyle/>
                    <a:p>
                      <a:pPr>
                        <a:buNone/>
                      </a:pPr>
                      <a:r>
                        <a:rPr lang="en-US" altLang="zh-CN" sz="1200">
                          <a:latin typeface="Aptos" panose="020B0004020202020204" pitchFamily="34" charset="0"/>
                        </a:rPr>
                        <a:t>item</a:t>
                      </a:r>
                    </a:p>
                  </a:txBody>
                  <a:tcPr>
                    <a:solidFill>
                      <a:schemeClr val="tx2">
                        <a:lumMod val="75000"/>
                      </a:schemeClr>
                    </a:solidFill>
                  </a:tcPr>
                </a:tc>
                <a:tc>
                  <a:txBody>
                    <a:bodyPr/>
                    <a:lstStyle/>
                    <a:p>
                      <a:pPr>
                        <a:buNone/>
                      </a:pPr>
                      <a:r>
                        <a:rPr lang="zh-CN" altLang="en-US" sz="1200">
                          <a:latin typeface="Aptos" panose="020B0004020202020204" pitchFamily="34" charset="0"/>
                        </a:rPr>
                        <a:t>Details</a:t>
                      </a:r>
                    </a:p>
                  </a:txBody>
                  <a:tcPr>
                    <a:solidFill>
                      <a:schemeClr val="tx2">
                        <a:lumMod val="75000"/>
                      </a:schemeClr>
                    </a:solidFill>
                  </a:tcPr>
                </a:tc>
                <a:extLst>
                  <a:ext uri="{0D108BD9-81ED-4DB2-BD59-A6C34878D82A}">
                    <a16:rowId xmlns:a16="http://schemas.microsoft.com/office/drawing/2014/main" val="10000"/>
                  </a:ext>
                </a:extLst>
              </a:tr>
              <a:tr h="987034">
                <a:tc>
                  <a:txBody>
                    <a:bodyPr/>
                    <a:lstStyle/>
                    <a:p>
                      <a:pPr>
                        <a:buNone/>
                      </a:pPr>
                      <a:r>
                        <a:rPr lang="zh-CN" altLang="en-US" sz="1200">
                          <a:latin typeface="Aptos" panose="020B0004020202020204" pitchFamily="34" charset="0"/>
                        </a:rPr>
                        <a:t>Summary</a:t>
                      </a:r>
                    </a:p>
                  </a:txBody>
                  <a:tcPr/>
                </a:tc>
                <a:tc>
                  <a:txBody>
                    <a:bodyPr/>
                    <a:lstStyle/>
                    <a:p>
                      <a:pPr>
                        <a:buNone/>
                      </a:pPr>
                      <a:r>
                        <a:rPr lang="en-GB" altLang="zh-CN" sz="1200">
                          <a:latin typeface="Aptos" panose="020B0004020202020204" pitchFamily="34" charset="0"/>
                        </a:rPr>
                        <a:t>As an enterprise customer or application developer, I want to define and enforce network‑level governance policies (e.g., allow/deny rules, bandwidth limits, prioritization, time‑based restrictions) using my backend/application server, so that I can ensure secure, compliant, productive, and optimized connectivity for my organization across MPLS, SD‑WAN, broadband, and mobile networks—without installing or managing any device‑level software or agents.</a:t>
                      </a:r>
                      <a:endParaRPr lang="zh-CN" altLang="en-US" sz="1200">
                        <a:latin typeface="Aptos" panose="020B0004020202020204" pitchFamily="34" charset="0"/>
                      </a:endParaRPr>
                    </a:p>
                  </a:txBody>
                  <a:tcPr/>
                </a:tc>
                <a:extLst>
                  <a:ext uri="{0D108BD9-81ED-4DB2-BD59-A6C34878D82A}">
                    <a16:rowId xmlns:a16="http://schemas.microsoft.com/office/drawing/2014/main" val="10001"/>
                  </a:ext>
                </a:extLst>
              </a:tr>
              <a:tr h="987034">
                <a:tc>
                  <a:txBody>
                    <a:bodyPr/>
                    <a:lstStyle/>
                    <a:p>
                      <a:pPr>
                        <a:buNone/>
                      </a:pPr>
                      <a:r>
                        <a:rPr lang="zh-CN" altLang="en-US" sz="1200">
                          <a:latin typeface="Aptos" panose="020B0004020202020204" pitchFamily="34" charset="0"/>
                        </a:rPr>
                        <a:t>Roles, Actors and Scope</a:t>
                      </a:r>
                    </a:p>
                  </a:txBody>
                  <a:tcPr/>
                </a:tc>
                <a:tc>
                  <a:txBody>
                    <a:bodyPr/>
                    <a:lstStyle/>
                    <a:p>
                      <a:pPr>
                        <a:buNone/>
                      </a:pPr>
                      <a:r>
                        <a:rPr lang="en-GB" altLang="zh-CN" sz="1200" b="1">
                          <a:latin typeface="Aptos" panose="020B0004020202020204" pitchFamily="34" charset="0"/>
                        </a:rPr>
                        <a:t>Roles</a:t>
                      </a:r>
                      <a:r>
                        <a:rPr lang="en-GB" altLang="zh-CN" sz="1200">
                          <a:latin typeface="Aptos" panose="020B0004020202020204" pitchFamily="34" charset="0"/>
                        </a:rPr>
                        <a:t>: Enterprise Customer, Network/IT Administrators, Application Developers / Integrators</a:t>
                      </a:r>
                    </a:p>
                    <a:p>
                      <a:pPr>
                        <a:buNone/>
                      </a:pPr>
                      <a:r>
                        <a:rPr lang="en-GB" altLang="zh-CN" sz="1200" b="1">
                          <a:latin typeface="Aptos" panose="020B0004020202020204" pitchFamily="34" charset="0"/>
                        </a:rPr>
                        <a:t>Actors</a:t>
                      </a:r>
                      <a:r>
                        <a:rPr lang="en-GB" altLang="zh-CN" sz="1200">
                          <a:latin typeface="Aptos" panose="020B0004020202020204" pitchFamily="34" charset="0"/>
                        </a:rPr>
                        <a:t>: Enterprise IT teams, Application service providers, Enterprise customers using multi‑site or hybrid network environments </a:t>
                      </a:r>
                    </a:p>
                    <a:p>
                      <a:pPr>
                        <a:buNone/>
                      </a:pPr>
                      <a:r>
                        <a:rPr lang="en-GB" altLang="zh-CN" sz="1200" b="1">
                          <a:latin typeface="Aptos" panose="020B0004020202020204" pitchFamily="34" charset="0"/>
                        </a:rPr>
                        <a:t>Scope</a:t>
                      </a:r>
                      <a:r>
                        <a:rPr lang="en-GB" altLang="zh-CN" sz="1200">
                          <a:latin typeface="Aptos" panose="020B0004020202020204" pitchFamily="34" charset="0"/>
                        </a:rPr>
                        <a:t>: Service assessment: Query operator-supported governance capabilities (categories, application catalogue, scope availability).Create, modify, delete, enable, disable, and retrieve network governance policies, Define and manage Connectivity Scope resources (enterprise, site, segment, subscription group, or slice).</a:t>
                      </a:r>
                      <a:endParaRPr lang="zh-CN" altLang="en-US" sz="1200">
                        <a:latin typeface="Aptos" panose="020B0004020202020204" pitchFamily="34" charset="0"/>
                      </a:endParaRPr>
                    </a:p>
                  </a:txBody>
                  <a:tcPr/>
                </a:tc>
                <a:extLst>
                  <a:ext uri="{0D108BD9-81ED-4DB2-BD59-A6C34878D82A}">
                    <a16:rowId xmlns:a16="http://schemas.microsoft.com/office/drawing/2014/main" val="10002"/>
                  </a:ext>
                </a:extLst>
              </a:tr>
              <a:tr h="1655670">
                <a:tc>
                  <a:txBody>
                    <a:bodyPr/>
                    <a:lstStyle/>
                    <a:p>
                      <a:pPr>
                        <a:buNone/>
                      </a:pPr>
                      <a:r>
                        <a:rPr lang="zh-CN" altLang="en-US" sz="1200">
                          <a:latin typeface="Aptos" panose="020B0004020202020204" pitchFamily="34" charset="0"/>
                        </a:rPr>
                        <a:t>Activities/Steps</a:t>
                      </a:r>
                    </a:p>
                  </a:txBody>
                  <a:tcPr/>
                </a:tc>
                <a:tc>
                  <a:txBody>
                    <a:bodyPr/>
                    <a:lstStyle/>
                    <a:p>
                      <a:pPr>
                        <a:buNone/>
                      </a:pPr>
                      <a:r>
                        <a:rPr lang="en-GB" altLang="zh-CN" sz="1200" b="1">
                          <a:latin typeface="Aptos" panose="020B0004020202020204" pitchFamily="34" charset="0"/>
                          <a:sym typeface="+mn-ea"/>
                        </a:rPr>
                        <a:t>Starts when</a:t>
                      </a:r>
                      <a:r>
                        <a:rPr lang="en-GB" altLang="zh-CN" sz="1200">
                          <a:latin typeface="Aptos" panose="020B0004020202020204" pitchFamily="34" charset="0"/>
                          <a:sym typeface="+mn-ea"/>
                        </a:rPr>
                        <a:t>: The enterprise application server makes a POST request to the Connectivity Governance API, providing the required connectivity scope (e.g., enterprise/site/segment), along with policy intents such as application categories, allowed/denied services, rate limits, time windows, or QoS requirements. This call creates a new Policy resource associated with the selected Connectivity Scope.</a:t>
                      </a:r>
                    </a:p>
                    <a:p>
                      <a:pPr>
                        <a:buNone/>
                      </a:pPr>
                      <a:r>
                        <a:rPr lang="en-GB" altLang="zh-CN" sz="1200" b="1">
                          <a:latin typeface="Aptos" panose="020B0004020202020204" pitchFamily="34" charset="0"/>
                          <a:sym typeface="+mn-ea"/>
                        </a:rPr>
                        <a:t>Possible Input parameters</a:t>
                      </a:r>
                      <a:r>
                        <a:rPr lang="en-GB" altLang="zh-CN" sz="1200">
                          <a:latin typeface="Aptos" panose="020B0004020202020204" pitchFamily="34" charset="0"/>
                          <a:sym typeface="+mn-ea"/>
                        </a:rPr>
                        <a:t>:</a:t>
                      </a:r>
                    </a:p>
                    <a:p>
                      <a:pPr marL="171450" indent="-171450">
                        <a:buFont typeface="Wingdings" panose="05000000000000000000" pitchFamily="2" charset="2"/>
                        <a:buChar char="§"/>
                      </a:pPr>
                      <a:r>
                        <a:rPr lang="en-GB" altLang="zh-CN" sz="1200">
                          <a:latin typeface="Aptos" panose="020B0004020202020204" pitchFamily="34" charset="0"/>
                          <a:sym typeface="+mn-ea"/>
                        </a:rPr>
                        <a:t>Target site / enterprise / segment / mobile subscription group</a:t>
                      </a:r>
                    </a:p>
                    <a:p>
                      <a:pPr marL="171450" indent="-171450">
                        <a:buFont typeface="Wingdings" panose="05000000000000000000" pitchFamily="2" charset="2"/>
                        <a:buChar char="§"/>
                      </a:pPr>
                      <a:r>
                        <a:rPr lang="en-GB" altLang="zh-CN" sz="1200">
                          <a:latin typeface="Aptos" panose="020B0004020202020204" pitchFamily="34" charset="0"/>
                          <a:sym typeface="+mn-ea"/>
                        </a:rPr>
                        <a:t>Governance rules (deny streaming video, rate-limit social media, prioritize collaboration, etc.)</a:t>
                      </a:r>
                    </a:p>
                    <a:p>
                      <a:pPr marL="171450" indent="-171450">
                        <a:buFont typeface="Wingdings" panose="05000000000000000000" pitchFamily="2" charset="2"/>
                        <a:buChar char="§"/>
                      </a:pPr>
                      <a:r>
                        <a:rPr lang="en-GB" altLang="zh-CN" sz="1200">
                          <a:latin typeface="Aptos" panose="020B0004020202020204" pitchFamily="34" charset="0"/>
                          <a:sym typeface="+mn-ea"/>
                        </a:rPr>
                        <a:t>Time windows (business hours, emergency windows, maintenance periods)</a:t>
                      </a:r>
                    </a:p>
                    <a:p>
                      <a:pPr marL="171450" indent="-171450">
                        <a:buFont typeface="Wingdings" panose="05000000000000000000" pitchFamily="2" charset="2"/>
                        <a:buChar char="§"/>
                      </a:pPr>
                      <a:r>
                        <a:rPr lang="en-GB" altLang="zh-CN" sz="1200">
                          <a:latin typeface="Aptos" panose="020B0004020202020204" pitchFamily="34" charset="0"/>
                          <a:sym typeface="+mn-ea"/>
                        </a:rPr>
                        <a:t>Bandwidth prioritization or throttling thresholds.</a:t>
                      </a:r>
                    </a:p>
                    <a:p>
                      <a:pPr>
                        <a:buNone/>
                      </a:pPr>
                      <a:r>
                        <a:rPr lang="en-GB" altLang="zh-CN" sz="1200" b="1">
                          <a:latin typeface="Aptos" panose="020B0004020202020204" pitchFamily="34" charset="0"/>
                          <a:sym typeface="+mn-ea"/>
                        </a:rPr>
                        <a:t>Ends when</a:t>
                      </a:r>
                      <a:r>
                        <a:rPr lang="en-GB" altLang="zh-CN" sz="1200">
                          <a:latin typeface="Aptos" panose="020B0004020202020204" pitchFamily="34" charset="0"/>
                          <a:sym typeface="+mn-ea"/>
                        </a:rPr>
                        <a:t>: The enterprise application server issues a DELETE request for the policy, or the operator automatically removes the policy because:</a:t>
                      </a:r>
                    </a:p>
                    <a:p>
                      <a:pPr marL="171450" indent="-171450">
                        <a:buFont typeface="Arial" panose="020B0604020202020204" pitchFamily="34" charset="0"/>
                        <a:buChar char="•"/>
                      </a:pPr>
                      <a:r>
                        <a:rPr lang="en-GB" altLang="zh-CN" sz="1200">
                          <a:latin typeface="Aptos" panose="020B0004020202020204" pitchFamily="34" charset="0"/>
                          <a:sym typeface="+mn-ea"/>
                        </a:rPr>
                        <a:t>The enterprise‑specified validity period expires, or</a:t>
                      </a:r>
                    </a:p>
                    <a:p>
                      <a:pPr marL="171450" indent="-171450">
                        <a:buFont typeface="Arial" panose="020B0604020202020204" pitchFamily="34" charset="0"/>
                        <a:buChar char="•"/>
                      </a:pPr>
                      <a:r>
                        <a:rPr lang="en-GB" altLang="zh-CN" sz="1200">
                          <a:latin typeface="Aptos" panose="020B0004020202020204" pitchFamily="34" charset="0"/>
                          <a:sym typeface="+mn-ea"/>
                        </a:rPr>
                        <a:t>A default operator-defined enforcement window or expiration limit is reached (e.g., emergency rule expiry, temporary enforcement rules).</a:t>
                      </a:r>
                    </a:p>
                    <a:p>
                      <a:pPr marL="171450" indent="-171450">
                        <a:buFont typeface="Arial" panose="020B0604020202020204" pitchFamily="34" charset="0"/>
                        <a:buChar char="•"/>
                      </a:pPr>
                      <a:r>
                        <a:rPr lang="en-GB" altLang="zh-CN" sz="1200">
                          <a:latin typeface="Aptos" panose="020B0004020202020204" pitchFamily="34" charset="0"/>
                          <a:sym typeface="+mn-ea"/>
                        </a:rPr>
                        <a:t>At this point, the associated governance rule is removed, and the network enforcement reverts to default or previously active baseline policies.</a:t>
                      </a:r>
                      <a:endParaRPr lang="en-US" altLang="zh-CN" sz="1200">
                        <a:highlight>
                          <a:srgbClr val="000000">
                            <a:alpha val="0"/>
                          </a:srgbClr>
                        </a:highlight>
                        <a:latin typeface="Aptos" panose="020B0004020202020204" pitchFamily="34" charset="0"/>
                        <a:sym typeface="+mn-ea"/>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5391" y="318075"/>
            <a:ext cx="7780655" cy="829945"/>
          </a:xfrm>
        </p:spPr>
        <p:txBody>
          <a:bodyPr>
            <a:normAutofit/>
          </a:bodyPr>
          <a:lstStyle/>
          <a:p>
            <a:r>
              <a:rPr lang="en-US" altLang="zh-CN" sz="3200">
                <a:latin typeface="Aptos" panose="020B0004020202020204" pitchFamily="34" charset="0"/>
                <a:ea typeface="微软雅黑" panose="020B0503020204020204" pitchFamily="34" charset="-122"/>
              </a:rPr>
              <a:t>Connectivity Governance </a:t>
            </a:r>
            <a:r>
              <a:rPr lang="en-US" altLang="zh-CN" sz="3110">
                <a:latin typeface="Aptos" panose="020B0004020202020204" pitchFamily="34" charset="0"/>
                <a:ea typeface="微软雅黑" panose="020B0503020204020204" pitchFamily="34" charset="-122"/>
                <a:sym typeface="+mn-ea"/>
              </a:rPr>
              <a:t>Deliverables Plan </a:t>
            </a:r>
          </a:p>
        </p:txBody>
      </p:sp>
      <p:graphicFrame>
        <p:nvGraphicFramePr>
          <p:cNvPr id="5" name="table 5"/>
          <p:cNvGraphicFramePr>
            <a:graphicFrameLocks noGrp="1"/>
          </p:cNvGraphicFramePr>
          <p:nvPr>
            <p:custDataLst>
              <p:tags r:id="rId1"/>
            </p:custDataLst>
            <p:extLst>
              <p:ext uri="{D42A27DB-BD31-4B8C-83A1-F6EECF244321}">
                <p14:modId xmlns:p14="http://schemas.microsoft.com/office/powerpoint/2010/main" val="1682845070"/>
              </p:ext>
            </p:extLst>
          </p:nvPr>
        </p:nvGraphicFramePr>
        <p:xfrm>
          <a:off x="855980" y="2093595"/>
          <a:ext cx="5605780" cy="3512820"/>
        </p:xfrm>
        <a:graphic>
          <a:graphicData uri="http://schemas.openxmlformats.org/drawingml/2006/table">
            <a:tbl>
              <a:tblPr>
                <a:effectLst/>
                <a:tableStyleId>{5940675A-B579-460E-94D1-54222C63F5DA}</a:tableStyleId>
              </a:tblPr>
              <a:tblGrid>
                <a:gridCol w="1908810">
                  <a:extLst>
                    <a:ext uri="{9D8B030D-6E8A-4147-A177-3AD203B41FA5}">
                      <a16:colId xmlns:a16="http://schemas.microsoft.com/office/drawing/2014/main" val="20000"/>
                    </a:ext>
                  </a:extLst>
                </a:gridCol>
                <a:gridCol w="1007745">
                  <a:extLst>
                    <a:ext uri="{9D8B030D-6E8A-4147-A177-3AD203B41FA5}">
                      <a16:colId xmlns:a16="http://schemas.microsoft.com/office/drawing/2014/main" val="20001"/>
                    </a:ext>
                  </a:extLst>
                </a:gridCol>
                <a:gridCol w="2689225">
                  <a:extLst>
                    <a:ext uri="{9D8B030D-6E8A-4147-A177-3AD203B41FA5}">
                      <a16:colId xmlns:a16="http://schemas.microsoft.com/office/drawing/2014/main" val="20002"/>
                    </a:ext>
                  </a:extLst>
                </a:gridCol>
              </a:tblGrid>
              <a:tr h="849630">
                <a:tc gridSpan="3">
                  <a:txBody>
                    <a:bodyPr/>
                    <a:lstStyle/>
                    <a:p>
                      <a:pPr algn="l" rtl="0" eaLnBrk="0">
                        <a:lnSpc>
                          <a:spcPct val="102000"/>
                        </a:lnSpc>
                      </a:pPr>
                      <a:endParaRPr lang="en-US" altLang="en-US" sz="500"/>
                    </a:p>
                    <a:p>
                      <a:pPr marL="94615" algn="l" rtl="0" eaLnBrk="0">
                        <a:lnSpc>
                          <a:spcPct val="91000"/>
                        </a:lnSpc>
                        <a:spcBef>
                          <a:spcPts val="0"/>
                        </a:spcBef>
                      </a:pPr>
                      <a:r>
                        <a:rPr sz="1400" b="1" i="1" spc="-30">
                          <a:solidFill>
                            <a:srgbClr val="000000">
                              <a:alpha val="100000"/>
                            </a:srgbClr>
                          </a:solidFill>
                          <a:latin typeface="Arial" panose="020B0604020202020204"/>
                          <a:ea typeface="Arial" panose="020B0604020202020204"/>
                          <a:cs typeface="Arial" panose="020B0604020202020204"/>
                        </a:rPr>
                        <a:t>Deliverable</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Required/Optional</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(R/O)</a:t>
                      </a:r>
                      <a:r>
                        <a:rPr sz="1400" spc="-30">
                          <a:solidFill>
                            <a:srgbClr val="000000">
                              <a:alpha val="100000"/>
                            </a:srgbClr>
                          </a:solidFill>
                          <a:latin typeface="Arial" panose="020B0604020202020204"/>
                          <a:ea typeface="Arial" panose="020B0604020202020204"/>
                          <a:cs typeface="Arial" panose="020B0604020202020204"/>
                        </a:rPr>
                        <a:t>           </a:t>
                      </a:r>
                      <a:r>
                        <a:rPr sz="1400" b="1" i="1" spc="-30">
                          <a:solidFill>
                            <a:srgbClr val="000000">
                              <a:alpha val="100000"/>
                            </a:srgbClr>
                          </a:solidFill>
                          <a:latin typeface="Arial" panose="020B0604020202020204"/>
                          <a:ea typeface="Arial" panose="020B0604020202020204"/>
                          <a:cs typeface="Arial" panose="020B0604020202020204"/>
                        </a:rPr>
                        <a:t>C</a:t>
                      </a:r>
                      <a:r>
                        <a:rPr sz="1400" b="1" i="1" spc="0">
                          <a:solidFill>
                            <a:srgbClr val="000000">
                              <a:alpha val="100000"/>
                            </a:srgbClr>
                          </a:solidFill>
                          <a:latin typeface="Arial" panose="020B0604020202020204"/>
                          <a:ea typeface="Arial" panose="020B0604020202020204"/>
                          <a:cs typeface="Arial" panose="020B0604020202020204"/>
                        </a:rPr>
                        <a:t>urrent</a:t>
                      </a:r>
                      <a:r>
                        <a:rPr sz="1400" spc="-30">
                          <a:solidFill>
                            <a:srgbClr val="000000">
                              <a:alpha val="100000"/>
                            </a:srgbClr>
                          </a:solidFill>
                          <a:latin typeface="Arial" panose="020B0604020202020204"/>
                          <a:ea typeface="Arial" panose="020B0604020202020204"/>
                          <a:cs typeface="Arial" panose="020B0604020202020204"/>
                        </a:rPr>
                        <a:t> </a:t>
                      </a:r>
                      <a:r>
                        <a:rPr sz="1400" b="1" i="1" spc="0">
                          <a:solidFill>
                            <a:srgbClr val="000000">
                              <a:alpha val="100000"/>
                            </a:srgbClr>
                          </a:solidFill>
                          <a:latin typeface="Arial" panose="020B0604020202020204"/>
                          <a:ea typeface="Arial" panose="020B0604020202020204"/>
                          <a:cs typeface="Arial" panose="020B0604020202020204"/>
                        </a:rPr>
                        <a:t>status</a:t>
                      </a:r>
                      <a:endParaRPr lang="en-US" altLang="en-US" sz="1400">
                        <a:solidFill>
                          <a:srgbClr val="000000"/>
                        </a:solidFill>
                      </a:endParaRPr>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noFill/>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tc hMerge="1">
                  <a:txBody>
                    <a:bodyPr/>
                    <a:lstStyle/>
                    <a:p>
                      <a:endParaRPr lang="en-US"/>
                    </a:p>
                  </a:txBody>
                  <a:tcPr marL="0" marR="0" marT="0" marB="0">
                    <a:lnL>
                      <a:noFill/>
                    </a:lnL>
                    <a:lnR>
                      <a:noFill/>
                    </a:lnR>
                    <a:lnT w="3175" cap="flat" cmpd="sng" algn="ctr">
                      <a:solidFill>
                        <a:srgbClr val="A4DEEE"/>
                      </a:solidFill>
                      <a:prstDash val="solid"/>
                      <a:round/>
                      <a:headEnd type="none" w="med" len="med"/>
                      <a:tailEnd type="none" w="med" len="med"/>
                    </a:lnT>
                    <a:lnB w="3175" cap="flat" cmpd="sng" algn="ctr">
                      <a:solidFill>
                        <a:srgbClr val="A4DEEE"/>
                      </a:solidFill>
                      <a:prstDash val="solid"/>
                      <a:round/>
                      <a:headEnd type="none" w="med" len="med"/>
                      <a:tailEnd type="none" w="med" len="med"/>
                    </a:lnB>
                  </a:tcPr>
                </a:tc>
                <a:extLst>
                  <a:ext uri="{0D108BD9-81ED-4DB2-BD59-A6C34878D82A}">
                    <a16:rowId xmlns:a16="http://schemas.microsoft.com/office/drawing/2014/main" val="10000"/>
                  </a:ext>
                </a:extLst>
              </a:tr>
              <a:tr h="483870">
                <a:tc>
                  <a:txBody>
                    <a:bodyPr/>
                    <a:lstStyle/>
                    <a:p>
                      <a:pPr algn="l" rtl="0" eaLnBrk="0">
                        <a:lnSpc>
                          <a:spcPct val="11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ct val="99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API Spe</a:t>
                      </a:r>
                      <a:r>
                        <a:rPr lang="en-US" altLang="en-US" sz="1400" spc="0">
                          <a:solidFill>
                            <a:srgbClr val="000000"/>
                          </a:solidFill>
                          <a:latin typeface="微软雅黑" panose="020B0503020204020204" pitchFamily="34" charset="-122"/>
                          <a:ea typeface="微软雅黑" panose="020B0503020204020204" pitchFamily="34" charset="-122"/>
                        </a:rPr>
                        <a:t>cs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tc>
                  <a:txBody>
                    <a:bodyPr/>
                    <a:lstStyle/>
                    <a:p>
                      <a:pPr algn="l" rtl="0" eaLnBrk="0">
                        <a:lnSpc>
                          <a:spcPct val="113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In Progress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w="3175" cap="flat" cmpd="sng" algn="ctr">
                      <a:solidFill>
                        <a:srgbClr val="A4DEEE"/>
                      </a:solidFill>
                      <a:prstDash val="solid"/>
                      <a:round/>
                      <a:headEnd type="none" w="med" len="med"/>
                      <a:tailEnd type="none" w="med" len="med"/>
                    </a:lnT>
                    <a:lnB>
                      <a:noFill/>
                    </a:lnB>
                    <a:solidFill>
                      <a:srgbClr val="EDF7FC"/>
                    </a:solidFill>
                  </a:tcPr>
                </a:tc>
                <a:extLst>
                  <a:ext uri="{0D108BD9-81ED-4DB2-BD59-A6C34878D82A}">
                    <a16:rowId xmlns:a16="http://schemas.microsoft.com/office/drawing/2014/main" val="10001"/>
                  </a:ext>
                </a:extLst>
              </a:tr>
              <a:tr h="701675">
                <a:tc>
                  <a:txBody>
                    <a:bodyPr/>
                    <a:lstStyle/>
                    <a:p>
                      <a:pPr algn="l" rtl="0" eaLnBrk="0">
                        <a:lnSpc>
                          <a:spcPct val="114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ts val="1805"/>
                        </a:lnSpc>
                      </a:pPr>
                      <a:r>
                        <a:rPr lang="en-US" altLang="en-US" sz="1400">
                          <a:solidFill>
                            <a:srgbClr val="000000"/>
                          </a:solidFill>
                          <a:latin typeface="微软雅黑" panose="020B0503020204020204" pitchFamily="34" charset="-122"/>
                          <a:ea typeface="微软雅黑" panose="020B0503020204020204" pitchFamily="34" charset="-122"/>
                        </a:rPr>
                        <a:t>API documentation</a:t>
                      </a:r>
                    </a:p>
                  </a:txBody>
                  <a:tcPr marL="0" marR="0" marT="0" marB="0">
                    <a:lnL>
                      <a:noFill/>
                    </a:lnL>
                    <a:lnR>
                      <a:noFill/>
                    </a:lnR>
                    <a:lnT>
                      <a:noFill/>
                    </a:lnT>
                    <a:lnB>
                      <a:noFill/>
                    </a:lnB>
                    <a:noFill/>
                  </a:tcPr>
                </a:tc>
                <a:tc>
                  <a:txBody>
                    <a:bodyPr/>
                    <a:lstStyle/>
                    <a:p>
                      <a:pPr algn="l" rtl="0" eaLnBrk="0">
                        <a:lnSpc>
                          <a:spcPct val="11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5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pPr>
                      <a:r>
                        <a:rPr lang="en-US" altLang="en-US" sz="140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a:noFill/>
                    </a:lnB>
                    <a:noFill/>
                  </a:tcPr>
                </a:tc>
                <a:extLst>
                  <a:ext uri="{0D108BD9-81ED-4DB2-BD59-A6C34878D82A}">
                    <a16:rowId xmlns:a16="http://schemas.microsoft.com/office/drawing/2014/main" val="10002"/>
                  </a:ext>
                </a:extLst>
              </a:tr>
              <a:tr h="499110">
                <a:tc>
                  <a:txBody>
                    <a:bodyPr/>
                    <a:lstStyle/>
                    <a:p>
                      <a:pPr algn="l" rtl="0" eaLnBrk="0">
                        <a:lnSpc>
                          <a:spcPct val="100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5250" algn="l" rtl="0" eaLnBrk="0">
                        <a:lnSpc>
                          <a:spcPts val="1805"/>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User stories</a:t>
                      </a:r>
                    </a:p>
                  </a:txBody>
                  <a:tcPr marL="0" marR="0" marT="0" marB="0">
                    <a:lnL>
                      <a:noFill/>
                    </a:lnL>
                    <a:lnR>
                      <a:noFill/>
                    </a:lnR>
                    <a:lnT>
                      <a:noFill/>
                    </a:lnT>
                    <a:lnB>
                      <a:noFill/>
                    </a:lnB>
                    <a:solidFill>
                      <a:srgbClr val="EDF7FB"/>
                    </a:solidFill>
                  </a:tcPr>
                </a:tc>
                <a:tc>
                  <a:txBody>
                    <a:bodyPr/>
                    <a:lstStyle/>
                    <a:p>
                      <a:pPr algn="l" rtl="0" eaLnBrk="0">
                        <a:lnSpc>
                          <a:spcPct val="119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solidFill>
                      <a:srgbClr val="EDF7FB"/>
                    </a:solidFill>
                  </a:tcPr>
                </a:tc>
                <a:tc>
                  <a:txBody>
                    <a:bodyPr/>
                    <a:lstStyle/>
                    <a:p>
                      <a:pPr algn="l" rtl="0" eaLnBrk="0">
                        <a:lnSpc>
                          <a:spcPct val="101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1171575" algn="l" rtl="0" eaLnBrk="0">
                        <a:lnSpc>
                          <a:spcPct val="91000"/>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Available</a:t>
                      </a:r>
                    </a:p>
                  </a:txBody>
                  <a:tcPr marL="0" marR="0" marT="0" marB="0">
                    <a:lnL>
                      <a:noFill/>
                    </a:lnL>
                    <a:lnR>
                      <a:noFill/>
                    </a:lnR>
                    <a:lnT>
                      <a:noFill/>
                    </a:lnT>
                    <a:lnB>
                      <a:noFill/>
                    </a:lnB>
                    <a:solidFill>
                      <a:srgbClr val="EDF7FB"/>
                    </a:solidFill>
                  </a:tcPr>
                </a:tc>
                <a:extLst>
                  <a:ext uri="{0D108BD9-81ED-4DB2-BD59-A6C34878D82A}">
                    <a16:rowId xmlns:a16="http://schemas.microsoft.com/office/drawing/2014/main" val="10003"/>
                  </a:ext>
                </a:extLst>
              </a:tr>
              <a:tr h="479425">
                <a:tc>
                  <a:txBody>
                    <a:bodyPr/>
                    <a:lstStyle/>
                    <a:p>
                      <a:pPr algn="l" rtl="0" eaLnBrk="0">
                        <a:lnSpc>
                          <a:spcPct val="11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455" algn="l" rtl="0" eaLnBrk="0">
                        <a:lnSpc>
                          <a:spcPts val="1785"/>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Test ca</a:t>
                      </a:r>
                      <a:r>
                        <a:rPr lang="en-US" altLang="en-US" sz="1400" spc="0">
                          <a:solidFill>
                            <a:srgbClr val="000000"/>
                          </a:solidFill>
                          <a:latin typeface="微软雅黑" panose="020B0503020204020204" pitchFamily="34" charset="-122"/>
                          <a:ea typeface="微软雅黑" panose="020B0503020204020204" pitchFamily="34" charset="-122"/>
                        </a:rPr>
                        <a:t>ses</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08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52805" algn="l" rtl="0" eaLnBrk="0">
                        <a:lnSpc>
                          <a:spcPct val="80000"/>
                        </a:lnSpc>
                        <a:spcBef>
                          <a:spcPts val="0"/>
                        </a:spcBef>
                      </a:pPr>
                      <a:r>
                        <a:rPr lang="en-US" altLang="en-US" sz="1400" spc="0">
                          <a:solidFill>
                            <a:srgbClr val="000000"/>
                          </a:solidFill>
                          <a:latin typeface="微软雅黑" panose="020B0503020204020204" pitchFamily="34" charset="-122"/>
                          <a:ea typeface="微软雅黑" panose="020B0503020204020204" pitchFamily="34" charset="-122"/>
                        </a:rPr>
                        <a:t>R</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tc>
                  <a:txBody>
                    <a:bodyPr/>
                    <a:lstStyle/>
                    <a:p>
                      <a:pPr algn="l" rtl="0" eaLnBrk="0">
                        <a:lnSpc>
                          <a:spcPct val="112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sym typeface="+mn-ea"/>
                        </a:rPr>
                        <a:t>TBD</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a:noFill/>
                    </a:lnB>
                    <a:noFill/>
                  </a:tcPr>
                </a:tc>
                <a:extLst>
                  <a:ext uri="{0D108BD9-81ED-4DB2-BD59-A6C34878D82A}">
                    <a16:rowId xmlns:a16="http://schemas.microsoft.com/office/drawing/2014/main" val="10004"/>
                  </a:ext>
                </a:extLst>
              </a:tr>
              <a:tr h="499110">
                <a:tc>
                  <a:txBody>
                    <a:bodyPr/>
                    <a:lstStyle/>
                    <a:p>
                      <a:pPr algn="l" rtl="0" eaLnBrk="0">
                        <a:lnSpc>
                          <a:spcPct val="101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96520" algn="l" rtl="0" eaLnBrk="0">
                        <a:lnSpc>
                          <a:spcPct val="92000"/>
                        </a:lnSpc>
                        <a:spcBef>
                          <a:spcPts val="5"/>
                        </a:spcBef>
                      </a:pPr>
                      <a:r>
                        <a:rPr lang="en-US" altLang="en-US" sz="1400">
                          <a:solidFill>
                            <a:srgbClr val="000000"/>
                          </a:solidFill>
                          <a:latin typeface="微软雅黑" panose="020B0503020204020204" pitchFamily="34" charset="-122"/>
                          <a:ea typeface="微软雅黑" panose="020B0503020204020204" pitchFamily="34" charset="-122"/>
                        </a:rPr>
                        <a:t>Implementation</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17000"/>
                        </a:lnSpc>
                      </a:pPr>
                      <a:endParaRPr lang="en-US" altLang="en-US" sz="1400">
                        <a:solidFill>
                          <a:srgbClr val="000000"/>
                        </a:solidFill>
                        <a:latin typeface="微软雅黑" panose="020B0503020204020204" pitchFamily="34" charset="-122"/>
                        <a:ea typeface="微软雅黑" panose="020B0503020204020204" pitchFamily="34" charset="-122"/>
                      </a:endParaRPr>
                    </a:p>
                    <a:p>
                      <a:pPr marL="846455" algn="l" rtl="0" eaLnBrk="0">
                        <a:lnSpc>
                          <a:spcPct val="81000"/>
                        </a:lnSpc>
                        <a:spcBef>
                          <a:spcPts val="5"/>
                        </a:spcBef>
                      </a:pPr>
                      <a:r>
                        <a:rPr lang="en-US" altLang="en-US" sz="1400" spc="0">
                          <a:solidFill>
                            <a:srgbClr val="000000"/>
                          </a:solidFill>
                          <a:latin typeface="微软雅黑" panose="020B0503020204020204" pitchFamily="34" charset="-122"/>
                          <a:ea typeface="微软雅黑" panose="020B0503020204020204" pitchFamily="34" charset="-122"/>
                        </a:rPr>
                        <a:t>O</a:t>
                      </a:r>
                      <a:endParaRPr lang="en-US" altLang="en-US" sz="1400">
                        <a:solidFill>
                          <a:srgbClr val="000000"/>
                        </a:solidFill>
                        <a:latin typeface="微软雅黑" panose="020B0503020204020204" pitchFamily="34" charset="-122"/>
                        <a:ea typeface="微软雅黑" panose="020B0503020204020204" pitchFamily="34" charset="-122"/>
                      </a:endParaRP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tc>
                  <a:txBody>
                    <a:bodyPr/>
                    <a:lstStyle/>
                    <a:p>
                      <a:pPr algn="l" rtl="0" eaLnBrk="0">
                        <a:lnSpc>
                          <a:spcPct val="100000"/>
                        </a:lnSpc>
                      </a:pPr>
                      <a:endParaRPr lang="en-US" altLang="en-US" sz="1400" dirty="0">
                        <a:solidFill>
                          <a:srgbClr val="000000"/>
                        </a:solidFill>
                        <a:latin typeface="微软雅黑" panose="020B0503020204020204" pitchFamily="34" charset="-122"/>
                        <a:ea typeface="微软雅黑" panose="020B0503020204020204" pitchFamily="34" charset="-122"/>
                      </a:endParaRPr>
                    </a:p>
                    <a:p>
                      <a:pPr marL="1160145" algn="l" rtl="0" eaLnBrk="0">
                        <a:lnSpc>
                          <a:spcPct val="80000"/>
                        </a:lnSpc>
                        <a:spcBef>
                          <a:spcPts val="5"/>
                        </a:spcBef>
                      </a:pPr>
                      <a:r>
                        <a:rPr lang="en-US" altLang="en-US" sz="1400" dirty="0">
                          <a:solidFill>
                            <a:srgbClr val="000000"/>
                          </a:solidFill>
                          <a:latin typeface="微软雅黑" panose="020B0503020204020204" pitchFamily="34" charset="-122"/>
                          <a:ea typeface="微软雅黑" panose="020B0503020204020204" pitchFamily="34" charset="-122"/>
                        </a:rPr>
                        <a:t>TBD</a:t>
                      </a:r>
                    </a:p>
                  </a:txBody>
                  <a:tcPr marL="0" marR="0" marT="0" marB="0">
                    <a:lnL>
                      <a:noFill/>
                    </a:lnL>
                    <a:lnR>
                      <a:noFill/>
                    </a:lnR>
                    <a:lnT>
                      <a:noFill/>
                    </a:lnT>
                    <a:lnB w="3175" cap="flat" cmpd="sng" algn="ctr">
                      <a:solidFill>
                        <a:srgbClr val="A4DEEE"/>
                      </a:solidFill>
                      <a:prstDash val="solid"/>
                      <a:round/>
                      <a:headEnd type="none" w="med" len="med"/>
                      <a:tailEnd type="none" w="med" len="med"/>
                    </a:lnB>
                    <a:solidFill>
                      <a:srgbClr val="EDF7FC"/>
                    </a:solidFill>
                  </a:tcPr>
                </a:tc>
                <a:extLst>
                  <a:ext uri="{0D108BD9-81ED-4DB2-BD59-A6C34878D82A}">
                    <a16:rowId xmlns:a16="http://schemas.microsoft.com/office/drawing/2014/main" val="10005"/>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57c7f136-5fe9-46ac-88f0-c360e5a39059"/>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 name="KSO_WM_UNIT_TABLE_BEAUTIFY" val="smartTable{5686ad4a-9d4a-4115-944e-b7479b4b0959}"/>
  <p:tag name="TABLE_ENDDRAG_ORIGIN_RECT" val="757*394"/>
  <p:tag name="TABLE_ENDDRAG_RECT" val="57*146*757*394"/>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77377f74-861f-498b-952a-840ef1eb51eb}"/>
  <p:tag name="TABLE_ENDDRAG_ORIGIN_RECT" val="776*318"/>
  <p:tag name="TABLE_ENDDRAG_RECT" val="77*154*776*318"/>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3429a95c-b9eb-4227-abd9-56169d3e95d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CCCB101D1EC2439BD1F30E1646277F" ma:contentTypeVersion="12" ma:contentTypeDescription="Create a new document." ma:contentTypeScope="" ma:versionID="5464bb158b6625c1c22789ae9835c753">
  <xsd:schema xmlns:xsd="http://www.w3.org/2001/XMLSchema" xmlns:xs="http://www.w3.org/2001/XMLSchema" xmlns:p="http://schemas.microsoft.com/office/2006/metadata/properties" xmlns:ns2="43278b8a-3ce2-4c22-927e-d744b2493138" xmlns:ns3="81c23e35-feae-41a6-9660-303b6c1ddfab" targetNamespace="http://schemas.microsoft.com/office/2006/metadata/properties" ma:root="true" ma:fieldsID="be7f2cea10a1ecaebc42b3a306c3a710" ns2:_="" ns3:_="">
    <xsd:import namespace="43278b8a-3ce2-4c22-927e-d744b2493138"/>
    <xsd:import namespace="81c23e35-feae-41a6-9660-303b6c1ddf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278b8a-3ce2-4c22-927e-d744b24931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c23e35-feae-41a6-9660-303b6c1ddfa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d858e15-233b-4e39-8e83-950feb039e72}" ma:internalName="TaxCatchAll" ma:showField="CatchAllData" ma:web="81c23e35-feae-41a6-9660-303b6c1ddf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1c23e35-feae-41a6-9660-303b6c1ddfab" xsi:nil="true"/>
    <lcf76f155ced4ddcb4097134ff3c332f xmlns="43278b8a-3ce2-4c22-927e-d744b249313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50E84FB-34D8-422A-8859-169795F02D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278b8a-3ce2-4c22-927e-d744b2493138"/>
    <ds:schemaRef ds:uri="81c23e35-feae-41a6-9660-303b6c1ddf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E903CFA-AA15-4431-9054-79A4A24BF933}">
  <ds:schemaRefs>
    <ds:schemaRef ds:uri="http://schemas.microsoft.com/sharepoint/v3/contenttype/forms"/>
  </ds:schemaRefs>
</ds:datastoreItem>
</file>

<file path=customXml/itemProps3.xml><?xml version="1.0" encoding="utf-8"?>
<ds:datastoreItem xmlns:ds="http://schemas.openxmlformats.org/officeDocument/2006/customXml" ds:itemID="{393E37D5-A273-44DE-91F9-C57145F405BD}">
  <ds:schemaRefs>
    <ds:schemaRef ds:uri="http://schemas.microsoft.com/office/infopath/2007/PartnerControls"/>
    <ds:schemaRef ds:uri="http://purl.org/dc/dcmitype/"/>
    <ds:schemaRef ds:uri="http://purl.org/dc/elements/1.1/"/>
    <ds:schemaRef ds:uri="http://schemas.openxmlformats.org/package/2006/metadata/core-properties"/>
    <ds:schemaRef ds:uri="http://schemas.microsoft.com/office/2006/documentManagement/types"/>
    <ds:schemaRef ds:uri="http://www.w3.org/XML/1998/namespace"/>
    <ds:schemaRef ds:uri="81c23e35-feae-41a6-9660-303b6c1ddfab"/>
    <ds:schemaRef ds:uri="43278b8a-3ce2-4c22-927e-d744b2493138"/>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otalTime>344</TotalTime>
  <Words>1553</Words>
  <Application>Microsoft Office PowerPoint</Application>
  <PresentationFormat>Widescreen</PresentationFormat>
  <Paragraphs>165</Paragraphs>
  <Slides>11</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2" baseType="lpstr">
      <vt:lpstr>微软雅黑</vt:lpstr>
      <vt:lpstr>Aptos</vt:lpstr>
      <vt:lpstr>Arial</vt:lpstr>
      <vt:lpstr>Calibri</vt:lpstr>
      <vt:lpstr>Calibri Light</vt:lpstr>
      <vt:lpstr>Century Gothic</vt:lpstr>
      <vt:lpstr>Courier New</vt:lpstr>
      <vt:lpstr>Montserrat Light</vt:lpstr>
      <vt:lpstr>Wingdings</vt:lpstr>
      <vt:lpstr>Office 主题</vt:lpstr>
      <vt:lpstr>think-cell Folie</vt:lpstr>
      <vt:lpstr>PowerPoint Presentation</vt:lpstr>
      <vt:lpstr>PowerPoint Presentation</vt:lpstr>
      <vt:lpstr>Background- what drives Connectivity Governance API </vt:lpstr>
      <vt:lpstr>API Scope (Connectivity Governance)</vt:lpstr>
      <vt:lpstr>Connectivity Governance API</vt:lpstr>
      <vt:lpstr>API Sequence Diagram</vt:lpstr>
      <vt:lpstr>Connectivity Governance API</vt:lpstr>
      <vt:lpstr>API Functions</vt:lpstr>
      <vt:lpstr>Sample payload (Create)</vt:lpstr>
      <vt:lpstr>User story</vt:lpstr>
      <vt:lpstr>Connectivity Governance Deliverables Plan </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Provisioning API</dc:title>
  <dc:creator>Chenchuanyu</dc:creator>
  <cp:lastModifiedBy>Bishnu Panda (TCCLX C)</cp:lastModifiedBy>
  <cp:revision>2</cp:revision>
  <dcterms:created xsi:type="dcterms:W3CDTF">2023-05-18T03:52:00Z</dcterms:created>
  <dcterms:modified xsi:type="dcterms:W3CDTF">2026-04-20T17:08:14Z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(2)fAhiAU9J4LnzkpIrkXM09AQboDunmcluQ0NQeuqRTdTkYC0Gz1vcnh5qhsHYzRt4kxQYGHuu
iQ1aYax8SC8CgqW69rGFvgu3MUPFa+t2HVCLf/x65vuHZ9xtWwUrM1fhOjP4cjeFy4he8OKO
589XpT5lYzmhKISJ1I55vobvoylpWWhwEK+VxNmhFkC3/sh9j+U81sGOXbJXNNSFBl8qo8FE
CVcPnVVLyzHn7B95UY</vt:lpwstr>
  </property>
  <property fmtid="{D5CDD505-2E9C-101B-9397-08002B2CF9AE}" pid="3" name="_2015_ms_pID_7253431">
    <vt:lpwstr>MP82+Ox3BuCZRFUEWL2q3Id9rLAut0RyRWCHdpYbEONDXc933l2g5i
XRlkFhg0MKd7bw8YC5JSKYj4wyCFTdOPH2/xPFM9eolilcU+zgN0j1CITbz8fp1u2E+1+m/i
Gu+U4KSZCRtgotsK+0RpVoAj7NVb/lKdg3qFM9jTW1EV78tafiHmHhKw8tTchvWNrrDgUNqq
uQ83fq7JeXkMhrjj</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1683169333</vt:lpwstr>
  </property>
  <property fmtid="{D5CDD505-2E9C-101B-9397-08002B2CF9AE}" pid="8" name="ICV">
    <vt:lpwstr>DA6429A0156D4F719CD30201ED15326B_13</vt:lpwstr>
  </property>
  <property fmtid="{D5CDD505-2E9C-101B-9397-08002B2CF9AE}" pid="9" name="KSOProductBuildVer">
    <vt:lpwstr>2052-11.1.0.14309</vt:lpwstr>
  </property>
  <property fmtid="{D5CDD505-2E9C-101B-9397-08002B2CF9AE}" pid="10" name="ContentTypeId">
    <vt:lpwstr>0x01010091CCCB101D1EC2439BD1F30E1646277F</vt:lpwstr>
  </property>
  <property fmtid="{D5CDD505-2E9C-101B-9397-08002B2CF9AE}" pid="11" name="MSIP_Label_a0819fa7-4367-4500-ba88-dd630d977609_Enabled">
    <vt:lpwstr>true</vt:lpwstr>
  </property>
  <property fmtid="{D5CDD505-2E9C-101B-9397-08002B2CF9AE}" pid="12" name="MSIP_Label_a0819fa7-4367-4500-ba88-dd630d977609_SetDate">
    <vt:lpwstr>2025-04-03T11:05:00Z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b79cf1c5-ea9a-4bd9-8a1c-1357813e3dd5</vt:lpwstr>
  </property>
  <property fmtid="{D5CDD505-2E9C-101B-9397-08002B2CF9AE}" pid="17" name="MSIP_Label_a0819fa7-4367-4500-ba88-dd630d977609_ContentBits">
    <vt:lpwstr>0</vt:lpwstr>
  </property>
  <property fmtid="{D5CDD505-2E9C-101B-9397-08002B2CF9AE}" pid="18" name="MSIP_Label_a0819fa7-4367-4500-ba88-dd630d977609_Tag">
    <vt:lpwstr>10, 3, 0, 1</vt:lpwstr>
  </property>
  <property fmtid="{D5CDD505-2E9C-101B-9397-08002B2CF9AE}" pid="19" name="MSIP_Label_55818d02-8d25-4bb9-b27c-e4db64670887_Enabled">
    <vt:lpwstr>true</vt:lpwstr>
  </property>
  <property fmtid="{D5CDD505-2E9C-101B-9397-08002B2CF9AE}" pid="20" name="MSIP_Label_55818d02-8d25-4bb9-b27c-e4db64670887_SetDate">
    <vt:lpwstr>2026-02-23T09:31:41Z</vt:lpwstr>
  </property>
  <property fmtid="{D5CDD505-2E9C-101B-9397-08002B2CF9AE}" pid="21" name="MSIP_Label_55818d02-8d25-4bb9-b27c-e4db64670887_Method">
    <vt:lpwstr>Standard</vt:lpwstr>
  </property>
  <property fmtid="{D5CDD505-2E9C-101B-9397-08002B2CF9AE}" pid="22" name="MSIP_Label_55818d02-8d25-4bb9-b27c-e4db64670887_Name">
    <vt:lpwstr>55818d02-8d25-4bb9-b27c-e4db64670887</vt:lpwstr>
  </property>
  <property fmtid="{D5CDD505-2E9C-101B-9397-08002B2CF9AE}" pid="23" name="MSIP_Label_55818d02-8d25-4bb9-b27c-e4db64670887_SiteId">
    <vt:lpwstr>a7f35688-9c00-4d5e-ba41-29f146377ab0</vt:lpwstr>
  </property>
  <property fmtid="{D5CDD505-2E9C-101B-9397-08002B2CF9AE}" pid="24" name="MSIP_Label_55818d02-8d25-4bb9-b27c-e4db64670887_ActionId">
    <vt:lpwstr>c420b3eb-be5d-4311-8b9d-f92e0661eb0f</vt:lpwstr>
  </property>
  <property fmtid="{D5CDD505-2E9C-101B-9397-08002B2CF9AE}" pid="25" name="MSIP_Label_55818d02-8d25-4bb9-b27c-e4db64670887_ContentBits">
    <vt:lpwstr>3</vt:lpwstr>
  </property>
  <property fmtid="{D5CDD505-2E9C-101B-9397-08002B2CF9AE}" pid="26" name="MSIP_Label_55818d02-8d25-4bb9-b27c-e4db64670887_Tag">
    <vt:lpwstr>10, 3, 0, 1</vt:lpwstr>
  </property>
  <property fmtid="{D5CDD505-2E9C-101B-9397-08002B2CF9AE}" pid="27" name="ClassificationContentMarkingFooterLocations">
    <vt:lpwstr>Office 主题:10</vt:lpwstr>
  </property>
  <property fmtid="{D5CDD505-2E9C-101B-9397-08002B2CF9AE}" pid="28" name="ClassificationContentMarkingFooterText">
    <vt:lpwstr>General</vt:lpwstr>
  </property>
  <property fmtid="{D5CDD505-2E9C-101B-9397-08002B2CF9AE}" pid="29" name="ClassificationContentMarkingHeaderLocations">
    <vt:lpwstr>Office 主题:9</vt:lpwstr>
  </property>
  <property fmtid="{D5CDD505-2E9C-101B-9397-08002B2CF9AE}" pid="30" name="ClassificationContentMarkingHeaderText">
    <vt:lpwstr>General</vt:lpwstr>
  </property>
  <property fmtid="{D5CDD505-2E9C-101B-9397-08002B2CF9AE}" pid="31" name="MediaServiceImageTags">
    <vt:lpwstr/>
  </property>
</Properties>
</file>