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2"/>
  </p:notesMasterIdLst>
  <p:handoutMasterIdLst>
    <p:handoutMasterId r:id="rId23"/>
  </p:handoutMasterIdLst>
  <p:sldIdLst>
    <p:sldId id="361" r:id="rId5"/>
    <p:sldId id="362" r:id="rId6"/>
    <p:sldId id="370" r:id="rId7"/>
    <p:sldId id="366" r:id="rId8"/>
    <p:sldId id="365" r:id="rId9"/>
    <p:sldId id="357" r:id="rId10"/>
    <p:sldId id="323" r:id="rId11"/>
    <p:sldId id="287" r:id="rId12"/>
    <p:sldId id="265" r:id="rId13"/>
    <p:sldId id="371" r:id="rId14"/>
    <p:sldId id="367" r:id="rId15"/>
    <p:sldId id="368" r:id="rId16"/>
    <p:sldId id="369" r:id="rId17"/>
    <p:sldId id="373" r:id="rId18"/>
    <p:sldId id="374" r:id="rId19"/>
    <p:sldId id="375" r:id="rId20"/>
    <p:sldId id="376" r:id="rId21"/>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1" name="xudan-XD" initials="XD" lastIdx="1" clrIdx="0"/>
  <p:cmAuthor id="2" name="Administrator" initials="l" lastIdx="1" clrIdx="1"/>
  <p:cmAuthor id="3" name="作者" initials="A" lastIdx="0" clrIdx="2"/>
  <p:cmAuthor id="4" name="HP" initials="H" lastIdx="4" clrIdx="3"/>
  <p:cmAuthor id="5" name="宋洁然" initials="宋" lastIdx="2" clrIdx="1"/>
  <p:cmAuthor id="6" name="ming qiu" initials="m" lastIdx="17" clrIdx="1"/>
  <p:cmAuthor id="7" name="1206988966@qq.com" initials="1" lastIdx="1" clrIdx="2"/>
  <p:cmAuthor id="8" name="姜伟光" initials="姜" lastIdx="1" clrIdx="0"/>
  <p:cmAuthor id="9" name="ASUS" initials="A" lastIdx="28" clrIdx="4"/>
  <p:cmAuthor id="10" name="lenovo" initials="l" lastIdx="6" clrIdx="2"/>
  <p:cmAuthor id="11" name="xiedk" initials="x" lastIdx="2" clrIdx="10"/>
  <p:cmAuthor id="12" name="未知用户1" initials="未知用户1" lastIdx="2" clrIdx="11"/>
  <p:cmAuthor id="13" name="马云飞10014438" initials="马" lastIdx="4" clrIdx="0"/>
  <p:cmAuthor id="14" name="10077969" initials="10077969" lastIdx="2" clrIdx="13"/>
  <p:cmAuthor id="15" name="康浩杰|hnkanghaojie" initials="A" lastIdx="1" clrIdx="14"/>
  <p:cmAuthor id="16" name="孟伟伟" initials="孟" lastIdx="1" clrIdx="15"/>
  <p:cmAuthor id="17" name="dongrp" initials="d" lastIdx="1" clrIdx="16"/>
  <p:cmAuthor id="18" name="hc" initials="h" lastIdx="1" clrIdx="17"/>
  <p:cmAuthor id="19" name="Saku Uchikawa" initials="S" lastIdx="11" clrIdx="0"/>
  <p:cmAuthor id="20" name="00065088" initials="0" lastIdx="2" clrIdx="19"/>
  <p:cmAuthor id="21" name="10066351" initials="1" lastIdx="2" clrIdx="0"/>
  <p:cmAuthor id="22" name="蔡建楠" initials="caijianna" lastIdx="15" clrIdx="17"/>
  <p:cmAuthor id="23" name="赵诚荣10027092" initials="赵" lastIdx="2" clrIdx="25"/>
  <p:cmAuthor id="24" name="李蕾00009994" initials="李" lastIdx="6" clrIdx="17"/>
  <p:cmAuthor id="25" name="wyz" initials="w" lastIdx="1" clrIdx="24"/>
  <p:cmAuthor id="26" name="10270945" initials="1" lastIdx="1" clrIdx="25"/>
  <p:cmAuthor id="27" name="10295142" initials="1" lastIdx="1" clrIdx="26"/>
  <p:cmAuthor id="28" name="Hou Yingfeng" initials="H" lastIdx="10" clrIdx="23"/>
  <p:cmAuthor id="30" name="10056791" initials="ZTE" lastIdx="1" clrIdx="29"/>
  <p:cmAuthor id="31" name="Author" initials="A" lastIdx="0" clrIdx="30"/>
  <p:cmAuthor id="32" name="李楠10047711" initials="李楠10047711" lastIdx="2" clrIdx="31"/>
  <p:cmAuthor id="76" name="许 志军" initials="许" lastIdx="1" clrIdx="25"/>
  <p:cmAuthor id="33" name="610007" initials="6" lastIdx="0" clrIdx="32"/>
  <p:cmAuthor id="77" name="欧 志芳" initials="欧" lastIdx="1" clrIdx="26"/>
  <p:cmAuthor id="34" name="Jason" initials="J" lastIdx="18" clrIdx="33"/>
  <p:cmAuthor id="35" name="stephen" initials="s" lastIdx="1" clrIdx="34"/>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722BD6-AAF6-48B9-B072-38115D6BB196}" v="13" dt="2026-04-20T16:25:52.65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ek Das" userId="e456e576-22ea-42db-b4d9-4b031e1650af" providerId="ADAL" clId="{925D8AC3-419F-4E99-BBDD-163A5A147865}"/>
    <pc:docChg chg="modSld sldOrd">
      <pc:chgData name="Abhisek Das" userId="e456e576-22ea-42db-b4d9-4b031e1650af" providerId="ADAL" clId="{925D8AC3-419F-4E99-BBDD-163A5A147865}" dt="2026-04-20T16:32:27.317" v="12"/>
      <pc:docMkLst>
        <pc:docMk/>
      </pc:docMkLst>
      <pc:sldChg chg="modSp mod">
        <pc:chgData name="Abhisek Das" userId="e456e576-22ea-42db-b4d9-4b031e1650af" providerId="ADAL" clId="{925D8AC3-419F-4E99-BBDD-163A5A147865}" dt="2026-04-20T16:29:31.125" v="5" actId="1076"/>
        <pc:sldMkLst>
          <pc:docMk/>
          <pc:sldMk cId="0" sldId="357"/>
        </pc:sldMkLst>
        <pc:graphicFrameChg chg="mod modGraphic">
          <ac:chgData name="Abhisek Das" userId="e456e576-22ea-42db-b4d9-4b031e1650af" providerId="ADAL" clId="{925D8AC3-419F-4E99-BBDD-163A5A147865}" dt="2026-04-20T16:29:31.125" v="5" actId="1076"/>
          <ac:graphicFrameMkLst>
            <pc:docMk/>
            <pc:sldMk cId="0" sldId="357"/>
            <ac:graphicFrameMk id="5" creationId="{4AE650D0-C865-7616-EDBD-C08DC87701DC}"/>
          </ac:graphicFrameMkLst>
        </pc:graphicFrameChg>
      </pc:sldChg>
      <pc:sldChg chg="modSp mod ord">
        <pc:chgData name="Abhisek Das" userId="e456e576-22ea-42db-b4d9-4b031e1650af" providerId="ADAL" clId="{925D8AC3-419F-4E99-BBDD-163A5A147865}" dt="2026-04-20T16:32:27.317" v="12"/>
        <pc:sldMkLst>
          <pc:docMk/>
          <pc:sldMk cId="179558471" sldId="367"/>
        </pc:sldMkLst>
        <pc:graphicFrameChg chg="mod">
          <ac:chgData name="Abhisek Das" userId="e456e576-22ea-42db-b4d9-4b031e1650af" providerId="ADAL" clId="{925D8AC3-419F-4E99-BBDD-163A5A147865}" dt="2026-04-20T16:31:50.158" v="10" actId="1076"/>
          <ac:graphicFrameMkLst>
            <pc:docMk/>
            <pc:sldMk cId="179558471" sldId="367"/>
            <ac:graphicFrameMk id="13" creationId="{9DFC3899-3F39-A19B-6016-236558F70793}"/>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2026/4/20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679B6-DFB9-465D-BCF7-63C3CDB22F53}" type="datetimeFigureOut">
              <a:rPr lang="zh-CN" altLang="en-US" smtClean="0"/>
              <a:t>2026/4/20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DDE9C1-3A93-4484-ADD9-54060A054C8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a:p>
        </p:txBody>
      </p:sp>
      <p:sp>
        <p:nvSpPr>
          <p:cNvPr id="4" name="灯片编号占位符 3"/>
          <p:cNvSpPr>
            <a:spLocks noGrp="1"/>
          </p:cNvSpPr>
          <p:nvPr>
            <p:ph type="sldNum" sz="quarter" idx="10"/>
          </p:nvPr>
        </p:nvSpPr>
        <p:spPr/>
        <p:txBody>
          <a:bodyPr/>
          <a:lstStyle/>
          <a:p>
            <a:fld id="{DD817DD0-38E7-46ED-A2FE-994A5C249761}" type="slidenum">
              <a:rPr lang="de-DE" smtClean="0"/>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3ABC8-35A3-A6AF-B7FB-B910F17B96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C785F7-FE90-E582-2C76-7F8CD6E4941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AF8DCA9-BF11-9217-FF05-22D13645F864}"/>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694788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emf"/><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ext 1 Column">
    <p:bg>
      <p:bgRef idx="1001">
        <a:schemeClr val="bg1"/>
      </p:bgRef>
    </p:bg>
    <p:spTree>
      <p:nvGrpSpPr>
        <p:cNvPr id="1" name=""/>
        <p:cNvGrpSpPr/>
        <p:nvPr/>
      </p:nvGrpSpPr>
      <p:grpSpPr>
        <a:xfrm>
          <a:off x="0" y="0"/>
          <a:ext cx="0" cy="0"/>
          <a:chOff x="0" y="0"/>
          <a:chExt cx="0" cy="0"/>
        </a:xfrm>
      </p:grpSpPr>
      <p:graphicFrame>
        <p:nvGraphicFramePr>
          <p:cNvPr id="6" name="Objekt 5" hidden="1"/>
          <p:cNvGraphicFramePr>
            <a:graphicFrameLocks noChangeAspect="1"/>
          </p:cNvGraphicFramePr>
          <p:nvPr userDrawn="1">
            <p:custDataLst>
              <p:tags r:id="rId1"/>
            </p:custDataLst>
          </p:nvPr>
        </p:nvGraphicFramePr>
        <p:xfrm>
          <a:off x="1681" y="1682"/>
          <a:ext cx="1679" cy="1678"/>
        </p:xfrm>
        <a:graphic>
          <a:graphicData uri="http://schemas.openxmlformats.org/presentationml/2006/ole">
            <mc:AlternateContent xmlns:mc="http://schemas.openxmlformats.org/markup-compatibility/2006">
              <mc:Choice xmlns:v="urn:schemas-microsoft-com:vml" Requires="v">
                <p:oleObj name="think-cell Folie" r:id="rId3" imgW="12700" imgH="12700" progId="TCLayout.ActiveDocument.1">
                  <p:embed/>
                </p:oleObj>
              </mc:Choice>
              <mc:Fallback>
                <p:oleObj name="think-cell Folie" r:id="rId3" imgW="12700" imgH="12700" progId="TCLayout.ActiveDocument.1">
                  <p:embed/>
                  <p:pic>
                    <p:nvPicPr>
                      <p:cNvPr id="6" name="Objekt 5" hidden="1"/>
                      <p:cNvPicPr/>
                      <p:nvPr/>
                    </p:nvPicPr>
                    <p:blipFill>
                      <a:blip r:embed="rId4"/>
                      <a:stretch>
                        <a:fillRect/>
                      </a:stretch>
                    </p:blipFill>
                    <p:spPr>
                      <a:xfrm>
                        <a:off x="1681" y="1682"/>
                        <a:ext cx="1679" cy="1678"/>
                      </a:xfrm>
                      <a:prstGeom prst="rect">
                        <a:avLst/>
                      </a:prstGeom>
                    </p:spPr>
                  </p:pic>
                </p:oleObj>
              </mc:Fallback>
            </mc:AlternateContent>
          </a:graphicData>
        </a:graphic>
      </p:graphicFrame>
      <p:pic>
        <p:nvPicPr>
          <p:cNvPr id="4" name="Grafik 3"/>
          <p:cNvPicPr>
            <a:picLocks noChangeAspect="1"/>
          </p:cNvPicPr>
          <p:nvPr userDrawn="1"/>
        </p:nvPicPr>
        <p:blipFill>
          <a:blip r:embed="rId5"/>
          <a:stretch>
            <a:fillRect/>
          </a:stretch>
        </p:blipFill>
        <p:spPr>
          <a:xfrm>
            <a:off x="8228916" y="497258"/>
            <a:ext cx="3684694" cy="708970"/>
          </a:xfrm>
          <a:prstGeom prst="rect">
            <a:avLst/>
          </a:prstGeom>
        </p:spPr>
      </p:pic>
      <p:pic>
        <p:nvPicPr>
          <p:cNvPr id="11" name="Picture 10"/>
          <p:cNvPicPr>
            <a:picLocks noChangeAspect="1"/>
          </p:cNvPicPr>
          <p:nvPr userDrawn="1"/>
        </p:nvPicPr>
        <p:blipFill>
          <a:blip r:embed="rId6"/>
          <a:stretch>
            <a:fillRect/>
          </a:stretch>
        </p:blipFill>
        <p:spPr>
          <a:xfrm>
            <a:off x="1" y="0"/>
            <a:ext cx="8382468" cy="1786654"/>
          </a:xfrm>
          <a:prstGeom prst="rect">
            <a:avLst/>
          </a:prstGeom>
        </p:spPr>
      </p:pic>
      <p:sp>
        <p:nvSpPr>
          <p:cNvPr id="12" name="Title 1"/>
          <p:cNvSpPr>
            <a:spLocks noGrp="1"/>
          </p:cNvSpPr>
          <p:nvPr>
            <p:ph type="title" hasCustomPrompt="1"/>
          </p:nvPr>
        </p:nvSpPr>
        <p:spPr>
          <a:xfrm>
            <a:off x="470211" y="436920"/>
            <a:ext cx="11580552" cy="829647"/>
          </a:xfrm>
          <a:prstGeom prst="rect">
            <a:avLst/>
          </a:prstGeom>
        </p:spPr>
        <p:txBody>
          <a:bodyPr vert="horz"/>
          <a:lstStyle>
            <a:lvl1pPr>
              <a:defRPr b="0" i="0">
                <a:solidFill>
                  <a:schemeClr val="bg1"/>
                </a:solidFill>
                <a:latin typeface="Montserrat Light" pitchFamily="2" charset="77"/>
              </a:defRPr>
            </a:lvl1pPr>
          </a:lstStyle>
          <a:p>
            <a:r>
              <a:rPr lang="en-US" sz="2540">
                <a:solidFill>
                  <a:schemeClr val="bg1"/>
                </a:solidFill>
              </a:rPr>
              <a:t>Slide</a:t>
            </a:r>
            <a:br>
              <a:rPr lang="en-US" sz="2540">
                <a:solidFill>
                  <a:schemeClr val="bg1"/>
                </a:solidFill>
              </a:rPr>
            </a:br>
            <a:r>
              <a:rPr lang="en-US" sz="2540">
                <a:solidFill>
                  <a:schemeClr val="bg1"/>
                </a:solidFill>
              </a:rPr>
              <a:t>Title</a:t>
            </a:r>
          </a:p>
        </p:txBody>
      </p:sp>
      <p:sp>
        <p:nvSpPr>
          <p:cNvPr id="20" name="Content Placeholder 17"/>
          <p:cNvSpPr>
            <a:spLocks noGrp="1"/>
          </p:cNvSpPr>
          <p:nvPr>
            <p:ph sz="quarter" idx="10" hasCustomPrompt="1"/>
          </p:nvPr>
        </p:nvSpPr>
        <p:spPr>
          <a:xfrm>
            <a:off x="470211" y="1999093"/>
            <a:ext cx="11580552" cy="4361648"/>
          </a:xfrm>
        </p:spPr>
        <p:txBody>
          <a:bodyPr/>
          <a:lstStyle>
            <a:lvl1pPr>
              <a:defRPr sz="1585" b="0" i="0">
                <a:solidFill>
                  <a:schemeClr val="tx2"/>
                </a:solidFill>
                <a:latin typeface="Montserrat Light" pitchFamily="2" charset="77"/>
              </a:defRPr>
            </a:lvl1pPr>
            <a:lvl2pPr>
              <a:defRPr sz="1585" b="0" i="0">
                <a:solidFill>
                  <a:schemeClr val="tx2"/>
                </a:solidFill>
                <a:latin typeface="Montserrat Light" pitchFamily="2" charset="77"/>
              </a:defRPr>
            </a:lvl2pPr>
            <a:lvl3pPr>
              <a:defRPr sz="1585" b="0" i="0">
                <a:solidFill>
                  <a:schemeClr val="tx2"/>
                </a:solidFill>
                <a:latin typeface="Montserrat Light" pitchFamily="2" charset="77"/>
              </a:defRPr>
            </a:lvl3pPr>
            <a:lvl4pPr>
              <a:defRPr sz="1585" b="0" i="0">
                <a:solidFill>
                  <a:schemeClr val="tx2"/>
                </a:solidFill>
                <a:latin typeface="Montserrat Light" pitchFamily="2" charset="77"/>
              </a:defRPr>
            </a:lvl4pPr>
            <a:lvl5pPr>
              <a:defRPr sz="1585" b="0" i="0">
                <a:solidFill>
                  <a:schemeClr val="tx2"/>
                </a:solidFill>
                <a:latin typeface="Montserrat Light" pitchFamily="2" charset="77"/>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nvPr>
        </p:nvGraphicFramePr>
        <p:xfrm>
          <a:off x="1680" y="1682"/>
          <a:ext cx="1679" cy="1678"/>
        </p:xfrm>
        <a:graphic>
          <a:graphicData uri="http://schemas.openxmlformats.org/presentationml/2006/ole">
            <mc:AlternateContent xmlns:mc="http://schemas.openxmlformats.org/markup-compatibility/2006">
              <mc:Choice xmlns:v="urn:schemas-microsoft-com:vml" Requires="v">
                <p:oleObj name="think-cell Folie" r:id="rId4" imgW="12700" imgH="12700" progId="TCLayout.ActiveDocument.1">
                  <p:embed/>
                </p:oleObj>
              </mc:Choice>
              <mc:Fallback>
                <p:oleObj name="think-cell Folie" r:id="rId4" imgW="12700" imgH="12700" progId="TCLayout.ActiveDocument.1">
                  <p:embed/>
                  <p:pic>
                    <p:nvPicPr>
                      <p:cNvPr id="5" name="Objekt 4" hidden="1"/>
                      <p:cNvPicPr/>
                      <p:nvPr/>
                    </p:nvPicPr>
                    <p:blipFill>
                      <a:blip r:embed="rId5"/>
                      <a:stretch>
                        <a:fillRect/>
                      </a:stretch>
                    </p:blipFill>
                    <p:spPr>
                      <a:xfrm>
                        <a:off x="1680" y="1682"/>
                        <a:ext cx="1679" cy="1678"/>
                      </a:xfrm>
                      <a:prstGeom prst="rect">
                        <a:avLst/>
                      </a:prstGeom>
                    </p:spPr>
                  </p:pic>
                </p:oleObj>
              </mc:Fallback>
            </mc:AlternateContent>
          </a:graphicData>
        </a:graphic>
      </p:graphicFrame>
      <p:sp>
        <p:nvSpPr>
          <p:cNvPr id="9" name="Textfeld 8"/>
          <p:cNvSpPr txBox="1"/>
          <p:nvPr userDrawn="1"/>
        </p:nvSpPr>
        <p:spPr>
          <a:xfrm>
            <a:off x="5290458" y="6423342"/>
            <a:ext cx="1709057" cy="277013"/>
          </a:xfrm>
          <a:prstGeom prst="rect">
            <a:avLst/>
          </a:prstGeom>
          <a:noFill/>
        </p:spPr>
        <p:txBody>
          <a:bodyPr wrap="square" lIns="0" tIns="0" rIns="0" bIns="0" rtlCol="0">
            <a:noAutofit/>
          </a:bodyPr>
          <a:lstStyle/>
          <a:p>
            <a:endParaRPr lang="de-DE" sz="1905"/>
          </a:p>
        </p:txBody>
      </p:sp>
      <p:sp>
        <p:nvSpPr>
          <p:cNvPr id="4" name="Textplatzhalter 3"/>
          <p:cNvSpPr>
            <a:spLocks noGrp="1"/>
          </p:cNvSpPr>
          <p:nvPr>
            <p:ph type="body" sz="quarter" idx="12" hasCustomPrompt="1"/>
          </p:nvPr>
        </p:nvSpPr>
        <p:spPr>
          <a:xfrm>
            <a:off x="1401303" y="2998047"/>
            <a:ext cx="9403181" cy="2345288"/>
          </a:xfrm>
          <a:prstGeom prst="rect">
            <a:avLst/>
          </a:prstGeom>
        </p:spPr>
        <p:txBody>
          <a:bodyPr>
            <a:noAutofit/>
          </a:bodyPr>
          <a:lstStyle>
            <a:lvl1pPr>
              <a:lnSpc>
                <a:spcPct val="104000"/>
              </a:lnSpc>
              <a:spcBef>
                <a:spcPts val="0"/>
              </a:spcBef>
              <a:defRPr sz="4655" b="0" i="0" baseline="0">
                <a:solidFill>
                  <a:schemeClr val="bg1"/>
                </a:solidFill>
                <a:latin typeface="Montserrat Light" pitchFamily="2" charset="77"/>
                <a:ea typeface="Montserrat Light" pitchFamily="2" charset="77"/>
              </a:defRPr>
            </a:lvl1pPr>
          </a:lstStyle>
          <a:p>
            <a:pPr lvl="0"/>
            <a:r>
              <a:rPr lang="de-DE"/>
              <a:t>Montserrat Light</a:t>
            </a:r>
            <a:br>
              <a:rPr lang="de-DE"/>
            </a:br>
            <a:r>
              <a:rPr lang="de-DE"/>
              <a:t>Maximum 3 </a:t>
            </a:r>
            <a:r>
              <a:rPr lang="de-DE" err="1"/>
              <a:t>lines</a:t>
            </a:r>
            <a:br>
              <a:rPr lang="de-DE"/>
            </a:br>
            <a:r>
              <a:rPr lang="de-DE"/>
              <a:t>44 </a:t>
            </a:r>
            <a:r>
              <a:rPr lang="de-DE" err="1"/>
              <a:t>pt</a:t>
            </a:r>
            <a:endParaRPr lang="de-DE"/>
          </a:p>
        </p:txBody>
      </p:sp>
      <p:sp>
        <p:nvSpPr>
          <p:cNvPr id="6" name="Textplatzhalter 5"/>
          <p:cNvSpPr>
            <a:spLocks noGrp="1"/>
          </p:cNvSpPr>
          <p:nvPr>
            <p:ph type="body" sz="quarter" idx="13" hasCustomPrompt="1"/>
          </p:nvPr>
        </p:nvSpPr>
        <p:spPr>
          <a:xfrm>
            <a:off x="1401303" y="5800211"/>
            <a:ext cx="9403181" cy="316683"/>
          </a:xfrm>
          <a:prstGeom prst="rect">
            <a:avLst/>
          </a:prstGeom>
        </p:spPr>
        <p:txBody>
          <a:bodyPr wrap="square">
            <a:spAutoFit/>
          </a:bodyPr>
          <a:lstStyle>
            <a:lvl1pPr>
              <a:spcBef>
                <a:spcPts val="0"/>
              </a:spcBef>
              <a:defRPr sz="2115" b="0" i="0" baseline="0">
                <a:solidFill>
                  <a:schemeClr val="bg1"/>
                </a:solidFill>
                <a:latin typeface="Montserrat Light" pitchFamily="2" charset="77"/>
                <a:ea typeface="Montserrat Light" pitchFamily="2" charset="77"/>
              </a:defRPr>
            </a:lvl1pPr>
            <a:lvl5pPr>
              <a:defRPr/>
            </a:lvl5pPr>
          </a:lstStyle>
          <a:p>
            <a:pPr lvl="0"/>
            <a:r>
              <a:rPr lang="de-DE" err="1"/>
              <a:t>Subheading</a:t>
            </a:r>
            <a:r>
              <a:rPr lang="de-DE"/>
              <a:t> Montserrat Light, 20 </a:t>
            </a:r>
            <a:r>
              <a:rPr lang="de-DE" err="1"/>
              <a:t>pt</a:t>
            </a:r>
            <a:endParaRPr lang="de-DE"/>
          </a:p>
        </p:txBody>
      </p:sp>
      <p:grpSp>
        <p:nvGrpSpPr>
          <p:cNvPr id="147" name="Gruppieren 146"/>
          <p:cNvGrpSpPr/>
          <p:nvPr userDrawn="1"/>
        </p:nvGrpSpPr>
        <p:grpSpPr>
          <a:xfrm>
            <a:off x="-368850" y="-326337"/>
            <a:ext cx="12916643" cy="7537262"/>
            <a:chOff x="-348582" y="-308570"/>
            <a:chExt cx="12206900" cy="7126900"/>
          </a:xfrm>
        </p:grpSpPr>
        <p:grpSp>
          <p:nvGrpSpPr>
            <p:cNvPr id="148" name="Gruppieren 147"/>
            <p:cNvGrpSpPr/>
            <p:nvPr userDrawn="1"/>
          </p:nvGrpSpPr>
          <p:grpSpPr>
            <a:xfrm>
              <a:off x="-348582" y="362069"/>
              <a:ext cx="180000" cy="5931473"/>
              <a:chOff x="-348582" y="362069"/>
              <a:chExt cx="180000" cy="5931473"/>
            </a:xfrm>
          </p:grpSpPr>
          <p:cxnSp>
            <p:nvCxnSpPr>
              <p:cNvPr id="175" name="Gerade Verbindung 6"/>
              <p:cNvCxnSpPr/>
              <p:nvPr userDrawn="1"/>
            </p:nvCxnSpPr>
            <p:spPr>
              <a:xfrm>
                <a:off x="-348582"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Gerade Verbindung 7"/>
              <p:cNvCxnSpPr/>
              <p:nvPr userDrawn="1"/>
            </p:nvCxnSpPr>
            <p:spPr>
              <a:xfrm>
                <a:off x="-348582"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Gerade Verbindung 8"/>
              <p:cNvCxnSpPr/>
              <p:nvPr userDrawn="1"/>
            </p:nvCxnSpPr>
            <p:spPr>
              <a:xfrm>
                <a:off x="-348582"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Gerade Verbindung 9"/>
              <p:cNvCxnSpPr/>
              <p:nvPr userDrawn="1"/>
            </p:nvCxnSpPr>
            <p:spPr>
              <a:xfrm>
                <a:off x="-348582"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Gerade Verbindung 10"/>
              <p:cNvCxnSpPr/>
              <p:nvPr userDrawn="1"/>
            </p:nvCxnSpPr>
            <p:spPr>
              <a:xfrm>
                <a:off x="-348582"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Gerade Verbindung 11"/>
              <p:cNvCxnSpPr/>
              <p:nvPr userDrawn="1"/>
            </p:nvCxnSpPr>
            <p:spPr>
              <a:xfrm>
                <a:off x="-348582"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Gerade Verbindung 12"/>
              <p:cNvCxnSpPr/>
              <p:nvPr userDrawn="1"/>
            </p:nvCxnSpPr>
            <p:spPr>
              <a:xfrm>
                <a:off x="-348582"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9" name="Gruppieren 148"/>
            <p:cNvGrpSpPr/>
            <p:nvPr userDrawn="1"/>
          </p:nvGrpSpPr>
          <p:grpSpPr>
            <a:xfrm>
              <a:off x="11678318" y="362069"/>
              <a:ext cx="180000" cy="5931473"/>
              <a:chOff x="11678318" y="362069"/>
              <a:chExt cx="180000" cy="5931473"/>
            </a:xfrm>
          </p:grpSpPr>
          <p:cxnSp>
            <p:nvCxnSpPr>
              <p:cNvPr id="168" name="Gerade Verbindung 56"/>
              <p:cNvCxnSpPr/>
              <p:nvPr userDrawn="1"/>
            </p:nvCxnSpPr>
            <p:spPr>
              <a:xfrm>
                <a:off x="11678318"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Gerade Verbindung 57"/>
              <p:cNvCxnSpPr/>
              <p:nvPr userDrawn="1"/>
            </p:nvCxnSpPr>
            <p:spPr>
              <a:xfrm>
                <a:off x="11678318"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Gerade Verbindung 58"/>
              <p:cNvCxnSpPr/>
              <p:nvPr userDrawn="1"/>
            </p:nvCxnSpPr>
            <p:spPr>
              <a:xfrm>
                <a:off x="11678318"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Gerade Verbindung 59"/>
              <p:cNvCxnSpPr/>
              <p:nvPr userDrawn="1"/>
            </p:nvCxnSpPr>
            <p:spPr>
              <a:xfrm>
                <a:off x="11678318"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Gerade Verbindung 60"/>
              <p:cNvCxnSpPr/>
              <p:nvPr userDrawn="1"/>
            </p:nvCxnSpPr>
            <p:spPr>
              <a:xfrm>
                <a:off x="11678318"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Gerade Verbindung 61"/>
              <p:cNvCxnSpPr/>
              <p:nvPr userDrawn="1"/>
            </p:nvCxnSpPr>
            <p:spPr>
              <a:xfrm>
                <a:off x="11678318"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Gerade Verbindung 62"/>
              <p:cNvCxnSpPr/>
              <p:nvPr userDrawn="1"/>
            </p:nvCxnSpPr>
            <p:spPr>
              <a:xfrm>
                <a:off x="11678318"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0" name="Gruppieren 149"/>
            <p:cNvGrpSpPr/>
            <p:nvPr userDrawn="1"/>
          </p:nvGrpSpPr>
          <p:grpSpPr>
            <a:xfrm>
              <a:off x="288925" y="6638330"/>
              <a:ext cx="10944224" cy="180000"/>
              <a:chOff x="288925" y="6638330"/>
              <a:chExt cx="10944224" cy="180000"/>
            </a:xfrm>
          </p:grpSpPr>
          <p:cxnSp>
            <p:nvCxnSpPr>
              <p:cNvPr id="160" name="Gerade Verbindung 65"/>
              <p:cNvCxnSpPr/>
              <p:nvPr userDrawn="1"/>
            </p:nvCxnSpPr>
            <p:spPr>
              <a:xfrm>
                <a:off x="28892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74"/>
              <p:cNvCxnSpPr/>
              <p:nvPr userDrawn="1"/>
            </p:nvCxnSpPr>
            <p:spPr>
              <a:xfrm>
                <a:off x="291147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75"/>
              <p:cNvCxnSpPr/>
              <p:nvPr userDrawn="1"/>
            </p:nvCxnSpPr>
            <p:spPr>
              <a:xfrm>
                <a:off x="306101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Gerade Verbindung 72"/>
              <p:cNvCxnSpPr/>
              <p:nvPr userDrawn="1"/>
            </p:nvCxnSpPr>
            <p:spPr>
              <a:xfrm>
                <a:off x="568966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Gerade Verbindung 73"/>
              <p:cNvCxnSpPr/>
              <p:nvPr userDrawn="1"/>
            </p:nvCxnSpPr>
            <p:spPr>
              <a:xfrm>
                <a:off x="582968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Gerade Verbindung 70"/>
              <p:cNvCxnSpPr/>
              <p:nvPr userDrawn="1"/>
            </p:nvCxnSpPr>
            <p:spPr>
              <a:xfrm>
                <a:off x="8459788"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Gerade Verbindung 71"/>
              <p:cNvCxnSpPr/>
              <p:nvPr userDrawn="1"/>
            </p:nvCxnSpPr>
            <p:spPr>
              <a:xfrm>
                <a:off x="860218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Gerade Verbindung 69"/>
              <p:cNvCxnSpPr/>
              <p:nvPr userDrawn="1"/>
            </p:nvCxnSpPr>
            <p:spPr>
              <a:xfrm>
                <a:off x="1123314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Gruppieren 150"/>
            <p:cNvGrpSpPr/>
            <p:nvPr userDrawn="1"/>
          </p:nvGrpSpPr>
          <p:grpSpPr>
            <a:xfrm>
              <a:off x="288925" y="-308570"/>
              <a:ext cx="10944224" cy="180000"/>
              <a:chOff x="288925" y="-308570"/>
              <a:chExt cx="10944224" cy="180000"/>
            </a:xfrm>
          </p:grpSpPr>
          <p:cxnSp>
            <p:nvCxnSpPr>
              <p:cNvPr id="152" name="Gerade Verbindung 14"/>
              <p:cNvCxnSpPr/>
              <p:nvPr userDrawn="1"/>
            </p:nvCxnSpPr>
            <p:spPr>
              <a:xfrm>
                <a:off x="28892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Gerade Verbindung 23"/>
              <p:cNvCxnSpPr/>
              <p:nvPr userDrawn="1"/>
            </p:nvCxnSpPr>
            <p:spPr>
              <a:xfrm>
                <a:off x="291147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Gerade Verbindung 24"/>
              <p:cNvCxnSpPr/>
              <p:nvPr userDrawn="1"/>
            </p:nvCxnSpPr>
            <p:spPr>
              <a:xfrm>
                <a:off x="306101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Gerade Verbindung 21"/>
              <p:cNvCxnSpPr/>
              <p:nvPr userDrawn="1"/>
            </p:nvCxnSpPr>
            <p:spPr>
              <a:xfrm>
                <a:off x="568966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Gerade Verbindung 22"/>
              <p:cNvCxnSpPr/>
              <p:nvPr userDrawn="1"/>
            </p:nvCxnSpPr>
            <p:spPr>
              <a:xfrm>
                <a:off x="582968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19"/>
              <p:cNvCxnSpPr/>
              <p:nvPr userDrawn="1"/>
            </p:nvCxnSpPr>
            <p:spPr>
              <a:xfrm>
                <a:off x="8459788"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20"/>
              <p:cNvCxnSpPr/>
              <p:nvPr userDrawn="1"/>
            </p:nvCxnSpPr>
            <p:spPr>
              <a:xfrm>
                <a:off x="860218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Gerade Verbindung 18"/>
              <p:cNvCxnSpPr/>
              <p:nvPr userDrawn="1"/>
            </p:nvCxnSpPr>
            <p:spPr>
              <a:xfrm>
                <a:off x="1123314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 name="Rectangle 1"/>
          <p:cNvSpPr/>
          <p:nvPr userDrawn="1"/>
        </p:nvSpPr>
        <p:spPr>
          <a:xfrm>
            <a:off x="0" y="0"/>
            <a:ext cx="12192000" cy="1551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5"/>
          </a:p>
        </p:txBody>
      </p:sp>
      <p:pic>
        <p:nvPicPr>
          <p:cNvPr id="7" name="Picture 6"/>
          <p:cNvPicPr>
            <a:picLocks noChangeAspect="1"/>
          </p:cNvPicPr>
          <p:nvPr userDrawn="1"/>
        </p:nvPicPr>
        <p:blipFill>
          <a:blip r:embed="rId6"/>
          <a:stretch>
            <a:fillRect/>
          </a:stretch>
        </p:blipFill>
        <p:spPr>
          <a:xfrm>
            <a:off x="-1" y="782104"/>
            <a:ext cx="12192000" cy="1551928"/>
          </a:xfrm>
          <a:prstGeom prst="rect">
            <a:avLst/>
          </a:prstGeom>
        </p:spPr>
      </p:pic>
      <p:pic>
        <p:nvPicPr>
          <p:cNvPr id="3" name="Grafik 21"/>
          <p:cNvPicPr>
            <a:picLocks noChangeAspect="1"/>
          </p:cNvPicPr>
          <p:nvPr userDrawn="1"/>
        </p:nvPicPr>
        <p:blipFill>
          <a:blip r:embed="rId7"/>
          <a:stretch>
            <a:fillRect/>
          </a:stretch>
        </p:blipFill>
        <p:spPr>
          <a:xfrm>
            <a:off x="304745" y="432740"/>
            <a:ext cx="5402508" cy="103954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Slide Blue">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nvPr>
        </p:nvGraphicFramePr>
        <p:xfrm>
          <a:off x="1680" y="1682"/>
          <a:ext cx="1679" cy="1678"/>
        </p:xfrm>
        <a:graphic>
          <a:graphicData uri="http://schemas.openxmlformats.org/presentationml/2006/ole">
            <mc:AlternateContent xmlns:mc="http://schemas.openxmlformats.org/markup-compatibility/2006">
              <mc:Choice xmlns:v="urn:schemas-microsoft-com:vml" Requires="v">
                <p:oleObj name="think-cell Folie" r:id="rId4" imgW="12700" imgH="12700" progId="TCLayout.ActiveDocument.1">
                  <p:embed/>
                </p:oleObj>
              </mc:Choice>
              <mc:Fallback>
                <p:oleObj name="think-cell Folie" r:id="rId4" imgW="12700" imgH="12700" progId="TCLayout.ActiveDocument.1">
                  <p:embed/>
                  <p:pic>
                    <p:nvPicPr>
                      <p:cNvPr id="5" name="Objekt 4" hidden="1"/>
                      <p:cNvPicPr/>
                      <p:nvPr/>
                    </p:nvPicPr>
                    <p:blipFill>
                      <a:blip r:embed="rId5"/>
                      <a:stretch>
                        <a:fillRect/>
                      </a:stretch>
                    </p:blipFill>
                    <p:spPr>
                      <a:xfrm>
                        <a:off x="1680" y="1682"/>
                        <a:ext cx="1679" cy="1678"/>
                      </a:xfrm>
                      <a:prstGeom prst="rect">
                        <a:avLst/>
                      </a:prstGeom>
                    </p:spPr>
                  </p:pic>
                </p:oleObj>
              </mc:Fallback>
            </mc:AlternateContent>
          </a:graphicData>
        </a:graphic>
      </p:graphicFrame>
      <p:sp>
        <p:nvSpPr>
          <p:cNvPr id="9" name="Textfeld 8"/>
          <p:cNvSpPr txBox="1"/>
          <p:nvPr userDrawn="1"/>
        </p:nvSpPr>
        <p:spPr>
          <a:xfrm>
            <a:off x="5290458" y="6423342"/>
            <a:ext cx="1709057" cy="277013"/>
          </a:xfrm>
          <a:prstGeom prst="rect">
            <a:avLst/>
          </a:prstGeom>
          <a:noFill/>
        </p:spPr>
        <p:txBody>
          <a:bodyPr wrap="square" lIns="0" tIns="0" rIns="0" bIns="0" rtlCol="0">
            <a:noAutofit/>
          </a:bodyPr>
          <a:lstStyle/>
          <a:p>
            <a:endParaRPr lang="de-DE" sz="1905"/>
          </a:p>
        </p:txBody>
      </p:sp>
      <p:sp>
        <p:nvSpPr>
          <p:cNvPr id="4" name="Textplatzhalter 3"/>
          <p:cNvSpPr>
            <a:spLocks noGrp="1"/>
          </p:cNvSpPr>
          <p:nvPr>
            <p:ph type="body" sz="quarter" idx="12" hasCustomPrompt="1"/>
          </p:nvPr>
        </p:nvSpPr>
        <p:spPr>
          <a:xfrm>
            <a:off x="1401303" y="1243683"/>
            <a:ext cx="9456935" cy="4343718"/>
          </a:xfrm>
          <a:prstGeom prst="rect">
            <a:avLst/>
          </a:prstGeom>
        </p:spPr>
        <p:txBody>
          <a:bodyPr anchor="ctr">
            <a:noAutofit/>
          </a:bodyPr>
          <a:lstStyle>
            <a:lvl1pPr>
              <a:lnSpc>
                <a:spcPct val="104000"/>
              </a:lnSpc>
              <a:spcBef>
                <a:spcPts val="0"/>
              </a:spcBef>
              <a:defRPr sz="4655" b="0" i="0" baseline="0">
                <a:solidFill>
                  <a:schemeClr val="bg1"/>
                </a:solidFill>
                <a:latin typeface="Montserrat Light" pitchFamily="2" charset="77"/>
                <a:ea typeface="Montserrat Light" pitchFamily="2" charset="77"/>
              </a:defRPr>
            </a:lvl1pPr>
          </a:lstStyle>
          <a:p>
            <a:pPr lvl="0"/>
            <a:r>
              <a:rPr lang="de-DE" err="1"/>
              <a:t>Section</a:t>
            </a:r>
            <a:r>
              <a:rPr lang="de-DE"/>
              <a:t> Title</a:t>
            </a:r>
          </a:p>
        </p:txBody>
      </p:sp>
      <p:grpSp>
        <p:nvGrpSpPr>
          <p:cNvPr id="147" name="Gruppieren 146"/>
          <p:cNvGrpSpPr/>
          <p:nvPr userDrawn="1"/>
        </p:nvGrpSpPr>
        <p:grpSpPr>
          <a:xfrm>
            <a:off x="-368850" y="-326337"/>
            <a:ext cx="12916643" cy="7537262"/>
            <a:chOff x="-348582" y="-308570"/>
            <a:chExt cx="12206900" cy="7126900"/>
          </a:xfrm>
        </p:grpSpPr>
        <p:grpSp>
          <p:nvGrpSpPr>
            <p:cNvPr id="148" name="Gruppieren 147"/>
            <p:cNvGrpSpPr/>
            <p:nvPr userDrawn="1"/>
          </p:nvGrpSpPr>
          <p:grpSpPr>
            <a:xfrm>
              <a:off x="-348582" y="362069"/>
              <a:ext cx="180000" cy="5931473"/>
              <a:chOff x="-348582" y="362069"/>
              <a:chExt cx="180000" cy="5931473"/>
            </a:xfrm>
          </p:grpSpPr>
          <p:cxnSp>
            <p:nvCxnSpPr>
              <p:cNvPr id="175" name="Gerade Verbindung 6"/>
              <p:cNvCxnSpPr/>
              <p:nvPr userDrawn="1"/>
            </p:nvCxnSpPr>
            <p:spPr>
              <a:xfrm>
                <a:off x="-348582"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Gerade Verbindung 7"/>
              <p:cNvCxnSpPr/>
              <p:nvPr userDrawn="1"/>
            </p:nvCxnSpPr>
            <p:spPr>
              <a:xfrm>
                <a:off x="-348582"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Gerade Verbindung 8"/>
              <p:cNvCxnSpPr/>
              <p:nvPr userDrawn="1"/>
            </p:nvCxnSpPr>
            <p:spPr>
              <a:xfrm>
                <a:off x="-348582"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Gerade Verbindung 9"/>
              <p:cNvCxnSpPr/>
              <p:nvPr userDrawn="1"/>
            </p:nvCxnSpPr>
            <p:spPr>
              <a:xfrm>
                <a:off x="-348582"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Gerade Verbindung 10"/>
              <p:cNvCxnSpPr/>
              <p:nvPr userDrawn="1"/>
            </p:nvCxnSpPr>
            <p:spPr>
              <a:xfrm>
                <a:off x="-348582"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Gerade Verbindung 11"/>
              <p:cNvCxnSpPr/>
              <p:nvPr userDrawn="1"/>
            </p:nvCxnSpPr>
            <p:spPr>
              <a:xfrm>
                <a:off x="-348582"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Gerade Verbindung 12"/>
              <p:cNvCxnSpPr/>
              <p:nvPr userDrawn="1"/>
            </p:nvCxnSpPr>
            <p:spPr>
              <a:xfrm>
                <a:off x="-348582"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9" name="Gruppieren 148"/>
            <p:cNvGrpSpPr/>
            <p:nvPr userDrawn="1"/>
          </p:nvGrpSpPr>
          <p:grpSpPr>
            <a:xfrm>
              <a:off x="11678318" y="362069"/>
              <a:ext cx="180000" cy="5931473"/>
              <a:chOff x="11678318" y="362069"/>
              <a:chExt cx="180000" cy="5931473"/>
            </a:xfrm>
          </p:grpSpPr>
          <p:cxnSp>
            <p:nvCxnSpPr>
              <p:cNvPr id="168" name="Gerade Verbindung 56"/>
              <p:cNvCxnSpPr/>
              <p:nvPr userDrawn="1"/>
            </p:nvCxnSpPr>
            <p:spPr>
              <a:xfrm>
                <a:off x="11678318"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Gerade Verbindung 57"/>
              <p:cNvCxnSpPr/>
              <p:nvPr userDrawn="1"/>
            </p:nvCxnSpPr>
            <p:spPr>
              <a:xfrm>
                <a:off x="11678318"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Gerade Verbindung 58"/>
              <p:cNvCxnSpPr/>
              <p:nvPr userDrawn="1"/>
            </p:nvCxnSpPr>
            <p:spPr>
              <a:xfrm>
                <a:off x="11678318"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Gerade Verbindung 59"/>
              <p:cNvCxnSpPr/>
              <p:nvPr userDrawn="1"/>
            </p:nvCxnSpPr>
            <p:spPr>
              <a:xfrm>
                <a:off x="11678318"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Gerade Verbindung 60"/>
              <p:cNvCxnSpPr/>
              <p:nvPr userDrawn="1"/>
            </p:nvCxnSpPr>
            <p:spPr>
              <a:xfrm>
                <a:off x="11678318"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Gerade Verbindung 61"/>
              <p:cNvCxnSpPr/>
              <p:nvPr userDrawn="1"/>
            </p:nvCxnSpPr>
            <p:spPr>
              <a:xfrm>
                <a:off x="11678318"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Gerade Verbindung 62"/>
              <p:cNvCxnSpPr/>
              <p:nvPr userDrawn="1"/>
            </p:nvCxnSpPr>
            <p:spPr>
              <a:xfrm>
                <a:off x="11678318"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0" name="Gruppieren 149"/>
            <p:cNvGrpSpPr/>
            <p:nvPr userDrawn="1"/>
          </p:nvGrpSpPr>
          <p:grpSpPr>
            <a:xfrm>
              <a:off x="288925" y="6638330"/>
              <a:ext cx="10944224" cy="180000"/>
              <a:chOff x="288925" y="6638330"/>
              <a:chExt cx="10944224" cy="180000"/>
            </a:xfrm>
          </p:grpSpPr>
          <p:cxnSp>
            <p:nvCxnSpPr>
              <p:cNvPr id="160" name="Gerade Verbindung 65"/>
              <p:cNvCxnSpPr/>
              <p:nvPr userDrawn="1"/>
            </p:nvCxnSpPr>
            <p:spPr>
              <a:xfrm>
                <a:off x="28892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74"/>
              <p:cNvCxnSpPr/>
              <p:nvPr userDrawn="1"/>
            </p:nvCxnSpPr>
            <p:spPr>
              <a:xfrm>
                <a:off x="291147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75"/>
              <p:cNvCxnSpPr/>
              <p:nvPr userDrawn="1"/>
            </p:nvCxnSpPr>
            <p:spPr>
              <a:xfrm>
                <a:off x="306101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Gerade Verbindung 72"/>
              <p:cNvCxnSpPr/>
              <p:nvPr userDrawn="1"/>
            </p:nvCxnSpPr>
            <p:spPr>
              <a:xfrm>
                <a:off x="568966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Gerade Verbindung 73"/>
              <p:cNvCxnSpPr/>
              <p:nvPr userDrawn="1"/>
            </p:nvCxnSpPr>
            <p:spPr>
              <a:xfrm>
                <a:off x="582968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Gerade Verbindung 70"/>
              <p:cNvCxnSpPr/>
              <p:nvPr userDrawn="1"/>
            </p:nvCxnSpPr>
            <p:spPr>
              <a:xfrm>
                <a:off x="8459788"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Gerade Verbindung 71"/>
              <p:cNvCxnSpPr/>
              <p:nvPr userDrawn="1"/>
            </p:nvCxnSpPr>
            <p:spPr>
              <a:xfrm>
                <a:off x="860218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Gerade Verbindung 69"/>
              <p:cNvCxnSpPr/>
              <p:nvPr userDrawn="1"/>
            </p:nvCxnSpPr>
            <p:spPr>
              <a:xfrm>
                <a:off x="1123314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Gruppieren 150"/>
            <p:cNvGrpSpPr/>
            <p:nvPr userDrawn="1"/>
          </p:nvGrpSpPr>
          <p:grpSpPr>
            <a:xfrm>
              <a:off x="288925" y="-308570"/>
              <a:ext cx="10944224" cy="180000"/>
              <a:chOff x="288925" y="-308570"/>
              <a:chExt cx="10944224" cy="180000"/>
            </a:xfrm>
          </p:grpSpPr>
          <p:cxnSp>
            <p:nvCxnSpPr>
              <p:cNvPr id="152" name="Gerade Verbindung 14"/>
              <p:cNvCxnSpPr/>
              <p:nvPr userDrawn="1"/>
            </p:nvCxnSpPr>
            <p:spPr>
              <a:xfrm>
                <a:off x="28892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Gerade Verbindung 23"/>
              <p:cNvCxnSpPr/>
              <p:nvPr userDrawn="1"/>
            </p:nvCxnSpPr>
            <p:spPr>
              <a:xfrm>
                <a:off x="291147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Gerade Verbindung 24"/>
              <p:cNvCxnSpPr/>
              <p:nvPr userDrawn="1"/>
            </p:nvCxnSpPr>
            <p:spPr>
              <a:xfrm>
                <a:off x="306101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Gerade Verbindung 21"/>
              <p:cNvCxnSpPr/>
              <p:nvPr userDrawn="1"/>
            </p:nvCxnSpPr>
            <p:spPr>
              <a:xfrm>
                <a:off x="568966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Gerade Verbindung 22"/>
              <p:cNvCxnSpPr/>
              <p:nvPr userDrawn="1"/>
            </p:nvCxnSpPr>
            <p:spPr>
              <a:xfrm>
                <a:off x="582968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19"/>
              <p:cNvCxnSpPr/>
              <p:nvPr userDrawn="1"/>
            </p:nvCxnSpPr>
            <p:spPr>
              <a:xfrm>
                <a:off x="8459788"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20"/>
              <p:cNvCxnSpPr/>
              <p:nvPr userDrawn="1"/>
            </p:nvCxnSpPr>
            <p:spPr>
              <a:xfrm>
                <a:off x="860218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Gerade Verbindung 18"/>
              <p:cNvCxnSpPr/>
              <p:nvPr userDrawn="1"/>
            </p:nvCxnSpPr>
            <p:spPr>
              <a:xfrm>
                <a:off x="1123314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6AC9C-B0EC-4E8B-9E2D-F71F05C0026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bhisek.das04@infosys.com"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hyperlink" Target="mailto:shyamtanu.banerjee@team.telstra.com" TargetMode="External"/><Relationship Id="rId5" Type="http://schemas.openxmlformats.org/officeDocument/2006/relationships/hyperlink" Target="mailto:pawan.7.kumar@bt.com" TargetMode="External"/><Relationship Id="rId4" Type="http://schemas.openxmlformats.org/officeDocument/2006/relationships/hyperlink" Target="mailto:bishnu_panda@infosy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0" y="2382974"/>
            <a:ext cx="10329545" cy="2173605"/>
          </a:xfrm>
        </p:spPr>
        <p:txBody>
          <a:bodyPr anchor="ctr"/>
          <a:lstStyle/>
          <a:p>
            <a:pPr marL="0" algn="l" defTabSz="457200">
              <a:buClrTx/>
              <a:buSzTx/>
              <a:buNone/>
            </a:pPr>
            <a:r>
              <a:rPr lang="en-US" sz="4400" b="1">
                <a:latin typeface="Aptos" panose="020B0004020202020204" pitchFamily="34" charset="0"/>
                <a:ea typeface="微软雅黑" panose="020B0503020204020204" pitchFamily="34" charset="-122"/>
                <a:cs typeface="Open Sans" pitchFamily="34" charset="0"/>
              </a:rPr>
              <a:t>Network Authenticated Assembly</a:t>
            </a:r>
          </a:p>
        </p:txBody>
      </p:sp>
      <p:sp>
        <p:nvSpPr>
          <p:cNvPr id="3" name="Textplatzhalter 2"/>
          <p:cNvSpPr>
            <a:spLocks noGrp="1"/>
          </p:cNvSpPr>
          <p:nvPr>
            <p:ph type="body" sz="quarter" idx="13"/>
          </p:nvPr>
        </p:nvSpPr>
        <p:spPr>
          <a:xfrm>
            <a:off x="0" y="3813629"/>
            <a:ext cx="9398174" cy="2730363"/>
          </a:xfrm>
        </p:spPr>
        <p:txBody>
          <a:bodyPr/>
          <a:lstStyle/>
          <a:p>
            <a:pPr marL="0" indent="0">
              <a:buNone/>
            </a:pPr>
            <a:r>
              <a:rPr lang="en-US" altLang="de-DE" b="1" dirty="0">
                <a:solidFill>
                  <a:schemeClr val="accent1">
                    <a:lumMod val="20000"/>
                    <a:lumOff val="80000"/>
                  </a:schemeClr>
                </a:solidFill>
                <a:latin typeface="Aptos" panose="020B0004020202020204" pitchFamily="34" charset="0"/>
                <a:ea typeface="微软雅黑" panose="020B0503020204020204" pitchFamily="34" charset="-122"/>
              </a:rPr>
              <a:t>Infosys Ltd</a:t>
            </a:r>
            <a:r>
              <a:rPr lang="en-US" altLang="de-DE" dirty="0">
                <a:solidFill>
                  <a:schemeClr val="accent1">
                    <a:lumMod val="20000"/>
                    <a:lumOff val="80000"/>
                  </a:schemeClr>
                </a:solidFill>
                <a:latin typeface="Aptos" panose="020B0004020202020204" pitchFamily="34" charset="0"/>
                <a:ea typeface="微软雅黑" panose="020B0503020204020204" pitchFamily="34" charset="-122"/>
              </a:rPr>
              <a:t>., </a:t>
            </a:r>
            <a:r>
              <a:rPr lang="en-US" altLang="de-DE" b="1" dirty="0">
                <a:solidFill>
                  <a:schemeClr val="accent1">
                    <a:lumMod val="20000"/>
                    <a:lumOff val="80000"/>
                  </a:schemeClr>
                </a:solidFill>
                <a:latin typeface="Aptos" panose="020B0004020202020204" pitchFamily="34" charset="0"/>
                <a:ea typeface="微软雅黑" panose="020B0503020204020204" pitchFamily="34" charset="-122"/>
              </a:rPr>
              <a:t>British Telecom, Telstra</a:t>
            </a:r>
            <a:endParaRPr lang="zh-CN" altLang="en-US" b="1" dirty="0">
              <a:solidFill>
                <a:schemeClr val="accent1">
                  <a:lumMod val="20000"/>
                  <a:lumOff val="80000"/>
                </a:schemeClr>
              </a:solidFill>
              <a:latin typeface="Aptos" panose="020B0004020202020204" pitchFamily="34" charset="0"/>
              <a:ea typeface="微软雅黑" panose="020B0503020204020204" pitchFamily="34" charset="-122"/>
              <a:sym typeface="+mn-ea"/>
            </a:endParaRPr>
          </a:p>
          <a:p>
            <a:pPr marL="0" indent="0">
              <a:buNone/>
            </a:pPr>
            <a:endParaRPr lang="en-US" altLang="zh-CN" dirty="0">
              <a:solidFill>
                <a:schemeClr val="accent1">
                  <a:lumMod val="20000"/>
                  <a:lumOff val="80000"/>
                </a:schemeClr>
              </a:solidFill>
              <a:latin typeface="Aptos" panose="020B0004020202020204" pitchFamily="34" charset="0"/>
              <a:ea typeface="微软雅黑" panose="020B0503020204020204" pitchFamily="34" charset="-122"/>
              <a:sym typeface="+mn-ea"/>
            </a:endParaRPr>
          </a:p>
          <a:p>
            <a:pPr marL="0" indent="0">
              <a:buNone/>
            </a:pPr>
            <a:r>
              <a:rPr lang="en-US" altLang="zh-CN" b="1" dirty="0">
                <a:solidFill>
                  <a:schemeClr val="accent1">
                    <a:lumMod val="20000"/>
                    <a:lumOff val="80000"/>
                  </a:schemeClr>
                </a:solidFill>
                <a:latin typeface="Aptos" panose="020B0004020202020204" pitchFamily="34" charset="0"/>
                <a:ea typeface="微软雅黑" panose="020B0503020204020204" pitchFamily="34" charset="-122"/>
              </a:rPr>
              <a:t>Contacts</a:t>
            </a:r>
            <a:r>
              <a:rPr lang="en-US" altLang="zh-CN" dirty="0">
                <a:solidFill>
                  <a:schemeClr val="accent1">
                    <a:lumMod val="20000"/>
                    <a:lumOff val="80000"/>
                  </a:schemeClr>
                </a:solidFill>
                <a:latin typeface="Aptos" panose="020B0004020202020204" pitchFamily="34" charset="0"/>
                <a:ea typeface="微软雅黑" panose="020B0503020204020204" pitchFamily="34" charset="-122"/>
              </a:rPr>
              <a:t>: </a:t>
            </a:r>
          </a:p>
          <a:p>
            <a:pPr marL="0" indent="0">
              <a:buNone/>
            </a:pPr>
            <a:r>
              <a:rPr lang="en-US" altLang="zh-CN" dirty="0">
                <a:solidFill>
                  <a:srgbClr val="002060"/>
                </a:solidFill>
                <a:latin typeface="Aptos" panose="020B0004020202020204" pitchFamily="34" charset="0"/>
                <a:ea typeface="微软雅黑" panose="020B0503020204020204" pitchFamily="34" charset="-122"/>
                <a:hlinkClick r:id="rId3">
                  <a:extLst>
                    <a:ext uri="{A12FA001-AC4F-418D-AE19-62706E023703}">
                      <ahyp:hlinkClr xmlns:ahyp="http://schemas.microsoft.com/office/drawing/2018/hyperlinkcolor" val="tx"/>
                    </a:ext>
                  </a:extLst>
                </a:hlinkClick>
              </a:rPr>
              <a:t>abhisek.das04@infosys.com</a:t>
            </a:r>
            <a:endParaRPr lang="en-US" altLang="zh-CN" dirty="0">
              <a:solidFill>
                <a:srgbClr val="002060"/>
              </a:solidFill>
              <a:latin typeface="Aptos" panose="020B0004020202020204" pitchFamily="34" charset="0"/>
              <a:ea typeface="微软雅黑" panose="020B0503020204020204" pitchFamily="34" charset="-122"/>
            </a:endParaRPr>
          </a:p>
          <a:p>
            <a:pPr marL="0" indent="0">
              <a:buNone/>
            </a:pPr>
            <a:r>
              <a:rPr lang="en-US" altLang="zh-CN" dirty="0">
                <a:solidFill>
                  <a:srgbClr val="002060"/>
                </a:solidFill>
                <a:latin typeface="Aptos" panose="020B0004020202020204" pitchFamily="34" charset="0"/>
                <a:ea typeface="微软雅黑" panose="020B0503020204020204" pitchFamily="34" charset="-122"/>
                <a:hlinkClick r:id="rId4">
                  <a:extLst>
                    <a:ext uri="{A12FA001-AC4F-418D-AE19-62706E023703}">
                      <ahyp:hlinkClr xmlns:ahyp="http://schemas.microsoft.com/office/drawing/2018/hyperlinkcolor" val="tx"/>
                    </a:ext>
                  </a:extLst>
                </a:hlinkClick>
              </a:rPr>
              <a:t>bishnu_panda@infosys.com</a:t>
            </a:r>
            <a:endParaRPr lang="en-US" altLang="zh-CN" dirty="0">
              <a:solidFill>
                <a:srgbClr val="002060"/>
              </a:solidFill>
              <a:latin typeface="Aptos" panose="020B0004020202020204" pitchFamily="34" charset="0"/>
              <a:ea typeface="微软雅黑" panose="020B0503020204020204" pitchFamily="34" charset="-122"/>
            </a:endParaRPr>
          </a:p>
          <a:p>
            <a:pPr>
              <a:buNone/>
            </a:pPr>
            <a:r>
              <a:rPr lang="en-US" dirty="0">
                <a:solidFill>
                  <a:srgbClr val="002060"/>
                </a:solidFill>
                <a:effectLst/>
                <a:latin typeface="-apple-system"/>
                <a:hlinkClick r:id="rId5" tooltip="mailto:pawan.7.kumar@bt.com">
                  <a:extLst>
                    <a:ext uri="{A12FA001-AC4F-418D-AE19-62706E023703}">
                      <ahyp:hlinkClr xmlns:ahyp="http://schemas.microsoft.com/office/drawing/2018/hyperlinkcolor" val="tx"/>
                    </a:ext>
                  </a:extLst>
                </a:hlinkClick>
              </a:rPr>
              <a:t>pawan.7.kumar@bt.com</a:t>
            </a:r>
            <a:endParaRPr lang="en-US" dirty="0">
              <a:solidFill>
                <a:srgbClr val="002060"/>
              </a:solidFill>
              <a:latin typeface="-apple-system"/>
            </a:endParaRPr>
          </a:p>
          <a:p>
            <a:pPr>
              <a:buNone/>
            </a:pPr>
            <a:r>
              <a:rPr lang="en-US" dirty="0">
                <a:solidFill>
                  <a:srgbClr val="002060"/>
                </a:solidFill>
                <a:latin typeface="-apple-system"/>
                <a:hlinkClick r:id="rId6">
                  <a:extLst>
                    <a:ext uri="{A12FA001-AC4F-418D-AE19-62706E023703}">
                      <ahyp:hlinkClr xmlns:ahyp="http://schemas.microsoft.com/office/drawing/2018/hyperlinkcolor" val="tx"/>
                    </a:ext>
                  </a:extLst>
                </a:hlinkClick>
              </a:rPr>
              <a:t>shyamtanu.banerjee@team.telstra.com</a:t>
            </a:r>
            <a:r>
              <a:rPr lang="en-US" dirty="0">
                <a:solidFill>
                  <a:srgbClr val="002060"/>
                </a:solidFill>
                <a:latin typeface="-apple-system"/>
              </a:rPr>
              <a:t>; </a:t>
            </a:r>
          </a:p>
          <a:p>
            <a:pPr>
              <a:buNone/>
            </a:pPr>
            <a:r>
              <a:rPr lang="en-US" dirty="0">
                <a:effectLst/>
                <a:latin typeface="-apple-system"/>
              </a:rPr>
              <a:t> </a:t>
            </a:r>
            <a:endParaRPr lang="de-DE" dirty="0">
              <a:solidFill>
                <a:schemeClr val="accent1">
                  <a:lumMod val="20000"/>
                  <a:lumOff val="80000"/>
                </a:schemeClr>
              </a:solidFill>
              <a:latin typeface="Aptos" panose="020B0004020202020204" pitchFamily="34" charset="0"/>
            </a:endParaRPr>
          </a:p>
          <a:p>
            <a:endParaRPr lang="de-DE" dirty="0">
              <a:solidFill>
                <a:schemeClr val="accent1">
                  <a:lumMod val="20000"/>
                  <a:lumOff val="80000"/>
                </a:schemeClr>
              </a:solidFill>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3"/>
          <p:cNvSpPr>
            <a:spLocks noGrp="1"/>
          </p:cNvSpPr>
          <p:nvPr>
            <p:ph type="body" sz="quarter" idx="12"/>
          </p:nvPr>
        </p:nvSpPr>
        <p:spPr/>
        <p:txBody>
          <a:bodyPr/>
          <a:lstStyle/>
          <a:p>
            <a:pPr marL="342900" indent="-342900">
              <a:lnSpc>
                <a:spcPct val="150000"/>
              </a:lnSpc>
              <a:buAutoNum type="arabicPeriod"/>
            </a:pPr>
            <a:r>
              <a:rPr lang="en-US" altLang="zh-CN" sz="2000">
                <a:solidFill>
                  <a:schemeClr val="tx1"/>
                </a:solidFill>
                <a:latin typeface="Aptos" panose="020B0004020202020204" pitchFamily="34" charset="0"/>
                <a:ea typeface="微软雅黑" panose="020B0503020204020204" pitchFamily="34" charset="-122"/>
              </a:rPr>
              <a:t> Background</a:t>
            </a:r>
            <a:r>
              <a:rPr lang="en-US" altLang="zh-CN" sz="2000" b="1">
                <a:solidFill>
                  <a:schemeClr val="tx1"/>
                </a:solidFill>
                <a:latin typeface="Aptos" panose="020B0004020202020204" pitchFamily="34" charset="0"/>
                <a:ea typeface="微软雅黑" panose="020B0503020204020204" pitchFamily="34" charset="-122"/>
              </a:rPr>
              <a:t> </a:t>
            </a:r>
          </a:p>
          <a:p>
            <a:pPr marL="342900" indent="-342900">
              <a:lnSpc>
                <a:spcPct val="150000"/>
              </a:lnSpc>
              <a:buAutoNum type="arabicPeriod"/>
            </a:pPr>
            <a:r>
              <a:rPr lang="en-US" altLang="zh-CN" sz="2000">
                <a:solidFill>
                  <a:schemeClr val="tx1"/>
                </a:solidFill>
                <a:latin typeface="Aptos" panose="020B0004020202020204" pitchFamily="34" charset="0"/>
                <a:ea typeface="微软雅黑" panose="020B0503020204020204" pitchFamily="34" charset="-122"/>
                <a:sym typeface="+mn-ea"/>
              </a:rPr>
              <a:t>Sample implementation</a:t>
            </a:r>
          </a:p>
          <a:p>
            <a:pPr marL="342900" indent="-342900">
              <a:lnSpc>
                <a:spcPct val="150000"/>
              </a:lnSpc>
              <a:buAutoNum type="arabicPeriod"/>
            </a:pPr>
            <a:r>
              <a:rPr lang="en-US" altLang="zh-CN" sz="2000">
                <a:solidFill>
                  <a:schemeClr val="tx1"/>
                </a:solidFill>
                <a:latin typeface="Aptos" panose="020B0004020202020204" pitchFamily="34" charset="0"/>
                <a:ea typeface="微软雅黑" panose="020B0503020204020204" pitchFamily="34" charset="-122"/>
              </a:rPr>
              <a:t> High level description</a:t>
            </a:r>
          </a:p>
          <a:p>
            <a:pPr marL="342900" indent="-342900">
              <a:lnSpc>
                <a:spcPct val="150000"/>
              </a:lnSpc>
              <a:buAutoNum type="arabicPeriod"/>
            </a:pPr>
            <a:r>
              <a:rPr lang="en-US" altLang="zh-CN" sz="2000">
                <a:solidFill>
                  <a:schemeClr val="tx1"/>
                </a:solidFill>
                <a:latin typeface="Aptos" panose="020B0004020202020204" pitchFamily="34" charset="0"/>
                <a:ea typeface="微软雅黑" panose="020B0503020204020204" pitchFamily="34" charset="-122"/>
              </a:rPr>
              <a:t>NAA API Family</a:t>
            </a:r>
          </a:p>
          <a:p>
            <a:pPr marL="342900" indent="-342900">
              <a:lnSpc>
                <a:spcPct val="150000"/>
              </a:lnSpc>
              <a:buAutoNum type="arabicPeriod"/>
            </a:pPr>
            <a:r>
              <a:rPr lang="en-US" altLang="zh-CN" sz="2000">
                <a:solidFill>
                  <a:schemeClr val="tx1"/>
                </a:solidFill>
                <a:latin typeface="Aptos" panose="020B0004020202020204" pitchFamily="34" charset="0"/>
                <a:ea typeface="微软雅黑" panose="020B0503020204020204" pitchFamily="34" charset="-122"/>
              </a:rPr>
              <a:t> Sequence Diagram</a:t>
            </a:r>
          </a:p>
          <a:p>
            <a:pPr marL="342900" indent="-342900">
              <a:lnSpc>
                <a:spcPct val="150000"/>
              </a:lnSpc>
              <a:buAutoNum type="arabicPeriod"/>
            </a:pPr>
            <a:r>
              <a:rPr lang="en-US" altLang="zh-CN" sz="2000">
                <a:solidFill>
                  <a:schemeClr val="tx1"/>
                </a:solidFill>
                <a:latin typeface="Aptos" panose="020B0004020202020204" pitchFamily="34" charset="0"/>
                <a:ea typeface="微软雅黑" panose="020B0503020204020204" pitchFamily="34" charset="-122"/>
              </a:rPr>
              <a:t>User story</a:t>
            </a:r>
          </a:p>
          <a:p>
            <a:pPr marL="342900" indent="-342900">
              <a:lnSpc>
                <a:spcPct val="150000"/>
              </a:lnSpc>
              <a:buAutoNum type="arabicPeriod"/>
            </a:pPr>
            <a:r>
              <a:rPr lang="en-US" altLang="zh-CN" sz="2000">
                <a:solidFill>
                  <a:schemeClr val="tx1"/>
                </a:solidFill>
                <a:latin typeface="Aptos" panose="020B0004020202020204" pitchFamily="34" charset="0"/>
                <a:ea typeface="微软雅黑" panose="020B0503020204020204" pitchFamily="34" charset="-122"/>
                <a:sym typeface="+mn-ea"/>
              </a:rPr>
              <a:t>Deliverables Status</a:t>
            </a:r>
          </a:p>
          <a:p>
            <a:pPr marL="342900" indent="-342900">
              <a:lnSpc>
                <a:spcPct val="150000"/>
              </a:lnSpc>
              <a:buAutoNum type="arabicPeriod"/>
            </a:pPr>
            <a:r>
              <a:rPr lang="en-US" altLang="zh-CN" sz="2000">
                <a:solidFill>
                  <a:schemeClr val="tx1"/>
                </a:solidFill>
                <a:latin typeface="Aptos" panose="020B0004020202020204" pitchFamily="34" charset="0"/>
                <a:ea typeface="微软雅黑" panose="020B0503020204020204" pitchFamily="34" charset="-122"/>
                <a:sym typeface="+mn-ea"/>
              </a:rPr>
              <a:t>Double click on open pointers </a:t>
            </a:r>
            <a:endParaRPr lang="zh-CN" altLang="en-US" sz="2000">
              <a:solidFill>
                <a:schemeClr val="tx1"/>
              </a:solidFill>
              <a:latin typeface="Aptos" panose="020B0004020202020204" pitchFamily="34" charset="0"/>
              <a:ea typeface="微软雅黑" panose="020B0503020204020204" pitchFamily="34" charset="-122"/>
              <a:sym typeface="+mn-ea"/>
            </a:endParaRPr>
          </a:p>
        </p:txBody>
      </p:sp>
      <p:sp>
        <p:nvSpPr>
          <p:cNvPr id="4" name="文本框 3"/>
          <p:cNvSpPr txBox="1"/>
          <p:nvPr/>
        </p:nvSpPr>
        <p:spPr>
          <a:xfrm>
            <a:off x="1281134" y="604407"/>
            <a:ext cx="3540096" cy="741680"/>
          </a:xfrm>
          <a:prstGeom prst="rect">
            <a:avLst/>
          </a:prstGeom>
          <a:noFill/>
        </p:spPr>
        <p:txBody>
          <a:bodyPr wrap="square" rtlCol="0">
            <a:spAutoFit/>
          </a:bodyPr>
          <a:lstStyle/>
          <a:p>
            <a:r>
              <a:rPr lang="en-US" altLang="zh-CN" sz="4230">
                <a:solidFill>
                  <a:schemeClr val="bg1"/>
                </a:solidFill>
                <a:latin typeface="Aptos" panose="020B0004020202020204" pitchFamily="34" charset="0"/>
                <a:ea typeface="Segoe UI Black" panose="020B0A02040204020203" pitchFamily="34" charset="0"/>
              </a:rPr>
              <a:t>Contents</a:t>
            </a:r>
            <a:endParaRPr lang="zh-CN" altLang="en-US" sz="4230">
              <a:solidFill>
                <a:schemeClr val="bg1"/>
              </a:solidFill>
              <a:latin typeface="Aptos"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A66D-5DC0-475E-7A3C-D317FC57CC5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C9FD443-7B98-F58C-C343-3A1D7FF7AC87}"/>
              </a:ext>
            </a:extLst>
          </p:cNvPr>
          <p:cNvSpPr>
            <a:spLocks noGrp="1"/>
          </p:cNvSpPr>
          <p:nvPr>
            <p:ph type="title"/>
          </p:nvPr>
        </p:nvSpPr>
        <p:spPr>
          <a:xfrm>
            <a:off x="469900" y="436880"/>
            <a:ext cx="6273800" cy="829945"/>
          </a:xfrm>
        </p:spPr>
        <p:txBody>
          <a:bodyPr>
            <a:normAutofit fontScale="90000"/>
          </a:bodyPr>
          <a:lstStyle/>
          <a:p>
            <a:r>
              <a:rPr lang="zh-CN" altLang="en-US">
                <a:latin typeface="Aptos" panose="020B0004020202020204" pitchFamily="34" charset="0"/>
                <a:ea typeface="微软雅黑" panose="020B0503020204020204" pitchFamily="34" charset="-122"/>
              </a:rPr>
              <a:t>Background</a:t>
            </a:r>
            <a:r>
              <a:rPr lang="en-US" altLang="zh-CN">
                <a:latin typeface="Aptos" panose="020B0004020202020204" pitchFamily="34" charset="0"/>
                <a:ea typeface="微软雅黑" panose="020B0503020204020204" pitchFamily="34" charset="-122"/>
              </a:rPr>
              <a:t>-</a:t>
            </a:r>
            <a:br>
              <a:rPr lang="en-US" altLang="zh-CN">
                <a:latin typeface="Aptos" panose="020B0004020202020204" pitchFamily="34" charset="0"/>
                <a:ea typeface="微软雅黑" panose="020B0503020204020204" pitchFamily="34" charset="-122"/>
              </a:rPr>
            </a:br>
            <a:r>
              <a:rPr lang="en-US" altLang="zh-CN" sz="2665">
                <a:latin typeface="Aptos" panose="020B0004020202020204" pitchFamily="34" charset="0"/>
                <a:ea typeface="微软雅黑" panose="020B0503020204020204" pitchFamily="34" charset="-122"/>
              </a:rPr>
              <a:t>Network‑Authenticated Assembly</a:t>
            </a:r>
            <a:br>
              <a:rPr lang="en-US" altLang="zh-CN" sz="2665">
                <a:latin typeface="Aptos" panose="020B0004020202020204" pitchFamily="34" charset="0"/>
                <a:ea typeface="微软雅黑" panose="020B0503020204020204" pitchFamily="34" charset="-122"/>
              </a:rPr>
            </a:br>
            <a:endParaRPr lang="zh-CN" altLang="en-US" sz="2665">
              <a:latin typeface="Aptos" panose="020B0004020202020204" pitchFamily="34" charset="0"/>
              <a:ea typeface="微软雅黑" panose="020B0503020204020204" pitchFamily="34" charset="-122"/>
            </a:endParaRPr>
          </a:p>
        </p:txBody>
      </p:sp>
      <p:sp>
        <p:nvSpPr>
          <p:cNvPr id="6" name="右箭头 5">
            <a:extLst>
              <a:ext uri="{FF2B5EF4-FFF2-40B4-BE49-F238E27FC236}">
                <a16:creationId xmlns:a16="http://schemas.microsoft.com/office/drawing/2014/main" id="{C9DFAAD8-E530-FD40-AAAC-02BC113D4CED}"/>
              </a:ext>
            </a:extLst>
          </p:cNvPr>
          <p:cNvSpPr/>
          <p:nvPr/>
        </p:nvSpPr>
        <p:spPr>
          <a:xfrm rot="5400000">
            <a:off x="5885849" y="3056023"/>
            <a:ext cx="2136806" cy="279132"/>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ptos" panose="020B0004020202020204" pitchFamily="34" charset="0"/>
            </a:endParaRPr>
          </a:p>
        </p:txBody>
      </p:sp>
      <p:sp>
        <p:nvSpPr>
          <p:cNvPr id="8" name="文本框 7">
            <a:extLst>
              <a:ext uri="{FF2B5EF4-FFF2-40B4-BE49-F238E27FC236}">
                <a16:creationId xmlns:a16="http://schemas.microsoft.com/office/drawing/2014/main" id="{D0D32FE2-A77D-ADB4-21C4-82448E7F5CDE}"/>
              </a:ext>
            </a:extLst>
          </p:cNvPr>
          <p:cNvSpPr txBox="1"/>
          <p:nvPr/>
        </p:nvSpPr>
        <p:spPr>
          <a:xfrm>
            <a:off x="7215581" y="1982667"/>
            <a:ext cx="4820475" cy="2502706"/>
          </a:xfrm>
          <a:prstGeom prst="rect">
            <a:avLst/>
          </a:prstGeom>
          <a:noFill/>
        </p:spPr>
        <p:txBody>
          <a:bodyPr wrap="square" rtlCol="0" anchor="t">
            <a:noAutofit/>
          </a:bodyPr>
          <a:lstStyle/>
          <a:p>
            <a:pPr marL="285750" indent="-285750">
              <a:buFont typeface="Courier New" panose="02070309020205020404" pitchFamily="49" charset="0"/>
              <a:buChar char="o"/>
            </a:pPr>
            <a:r>
              <a:rPr lang="en-US" altLang="zh-CN" sz="1400">
                <a:latin typeface="Aptos" panose="020B0004020202020204" pitchFamily="34" charset="0"/>
              </a:rPr>
              <a:t>Verify a group of SIM/</a:t>
            </a:r>
            <a:r>
              <a:rPr lang="en-US" altLang="zh-CN" sz="1400" err="1">
                <a:latin typeface="Aptos" panose="020B0004020202020204" pitchFamily="34" charset="0"/>
              </a:rPr>
              <a:t>eSIM</a:t>
            </a:r>
            <a:r>
              <a:rPr lang="en-US" altLang="zh-CN" sz="1400">
                <a:latin typeface="Aptos" panose="020B0004020202020204" pitchFamily="34" charset="0"/>
              </a:rPr>
              <a:t> devices are physically co-located — in a single API call; Zone is supplied by the caller as a standard Area object; no device coordinates are exposed in the response</a:t>
            </a:r>
          </a:p>
          <a:p>
            <a:pPr marL="285750" indent="-285750">
              <a:buFont typeface="Courier New" panose="02070309020205020404" pitchFamily="49" charset="0"/>
              <a:buChar char="o"/>
            </a:pPr>
            <a:r>
              <a:rPr lang="en-US" altLang="zh-CN" sz="1400">
                <a:latin typeface="Aptos" panose="020B0004020202020204" pitchFamily="34" charset="0"/>
              </a:rPr>
              <a:t>k-of-n group verdict — </a:t>
            </a:r>
            <a:r>
              <a:rPr lang="en-US" altLang="zh-CN" sz="1400" err="1">
                <a:latin typeface="Aptos" panose="020B0004020202020204" pitchFamily="34" charset="0"/>
              </a:rPr>
              <a:t>co_present</a:t>
            </a:r>
            <a:r>
              <a:rPr lang="en-US" altLang="zh-CN" sz="1400">
                <a:latin typeface="Aptos" panose="020B0004020202020204" pitchFamily="34" charset="0"/>
              </a:rPr>
              <a:t> / partial / </a:t>
            </a:r>
            <a:r>
              <a:rPr lang="en-US" altLang="zh-CN" sz="1400" err="1">
                <a:latin typeface="Aptos" panose="020B0004020202020204" pitchFamily="34" charset="0"/>
              </a:rPr>
              <a:t>not_co_present</a:t>
            </a:r>
            <a:r>
              <a:rPr lang="en-US" altLang="zh-CN" sz="1400">
                <a:latin typeface="Aptos" panose="020B0004020202020204" pitchFamily="34" charset="0"/>
              </a:rPr>
              <a:t> — configurable minimum threshold per cluster</a:t>
            </a:r>
          </a:p>
          <a:p>
            <a:pPr marL="285750" indent="-285750">
              <a:buFont typeface="Courier New" panose="02070309020205020404" pitchFamily="49" charset="0"/>
              <a:buChar char="o"/>
            </a:pPr>
            <a:r>
              <a:rPr lang="en-US" altLang="zh-CN" sz="1400">
                <a:latin typeface="Aptos" panose="020B0004020202020204" pitchFamily="34" charset="0"/>
              </a:rPr>
              <a:t>Signed attestation token — act on trusted presence without revealing any individual device position</a:t>
            </a:r>
          </a:p>
          <a:p>
            <a:pPr marL="285750" indent="-285750">
              <a:buFont typeface="Courier New" panose="02070309020205020404" pitchFamily="49" charset="0"/>
              <a:buChar char="o"/>
            </a:pPr>
            <a:r>
              <a:rPr lang="en-US" altLang="zh-CN" sz="1400">
                <a:latin typeface="Aptos" panose="020B0004020202020204" pitchFamily="34" charset="0"/>
              </a:rPr>
              <a:t>Two modes: on-demand POST /verify and continuous POST /assembly-subscriptions </a:t>
            </a:r>
          </a:p>
          <a:p>
            <a:pPr marL="285750" indent="-285750">
              <a:buFont typeface="Courier New" panose="02070309020205020404" pitchFamily="49" charset="0"/>
              <a:buChar char="o"/>
            </a:pPr>
            <a:r>
              <a:rPr lang="en-US" altLang="zh-CN" sz="1400">
                <a:latin typeface="Aptos" panose="020B0004020202020204" pitchFamily="34" charset="0"/>
              </a:rPr>
              <a:t>Zero new operator capability required — composes existing network location intelligence server-side</a:t>
            </a:r>
          </a:p>
        </p:txBody>
      </p:sp>
      <p:sp>
        <p:nvSpPr>
          <p:cNvPr id="14" name="椭圆 13">
            <a:extLst>
              <a:ext uri="{FF2B5EF4-FFF2-40B4-BE49-F238E27FC236}">
                <a16:creationId xmlns:a16="http://schemas.microsoft.com/office/drawing/2014/main" id="{ABA6F573-B480-4C40-D598-3CA8379AA340}"/>
              </a:ext>
            </a:extLst>
          </p:cNvPr>
          <p:cNvSpPr/>
          <p:nvPr/>
        </p:nvSpPr>
        <p:spPr>
          <a:xfrm>
            <a:off x="7347098" y="1584526"/>
            <a:ext cx="4688958" cy="369411"/>
          </a:xfrm>
          <a:prstGeom prst="roundRect">
            <a:avLst/>
          </a:prstGeom>
          <a:solidFill>
            <a:schemeClr val="tx2">
              <a:lumMod val="75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bg1"/>
                </a:solidFill>
                <a:latin typeface="Aptos" panose="020B0004020202020204" pitchFamily="34" charset="0"/>
              </a:rPr>
              <a:t>API benefit</a:t>
            </a:r>
          </a:p>
        </p:txBody>
      </p:sp>
      <p:sp>
        <p:nvSpPr>
          <p:cNvPr id="4" name="文本框 2">
            <a:extLst>
              <a:ext uri="{FF2B5EF4-FFF2-40B4-BE49-F238E27FC236}">
                <a16:creationId xmlns:a16="http://schemas.microsoft.com/office/drawing/2014/main" id="{AF959226-77B8-D954-42C8-90BD4890C6A7}"/>
              </a:ext>
            </a:extLst>
          </p:cNvPr>
          <p:cNvSpPr txBox="1"/>
          <p:nvPr/>
        </p:nvSpPr>
        <p:spPr>
          <a:xfrm>
            <a:off x="350341" y="4954772"/>
            <a:ext cx="11536859" cy="1350335"/>
          </a:xfrm>
          <a:prstGeom prst="rect">
            <a:avLst/>
          </a:prstGeom>
          <a:noFill/>
        </p:spPr>
        <p:txBody>
          <a:bodyPr wrap="square" rtlCol="0" anchor="t">
            <a:noAutofit/>
          </a:bodyPr>
          <a:lstStyle/>
          <a:p>
            <a:pPr indent="0" fontAlgn="auto">
              <a:lnSpc>
                <a:spcPct val="150000"/>
              </a:lnSpc>
            </a:pPr>
            <a:r>
              <a:rPr lang="en-US" sz="1400" b="1" dirty="0">
                <a:latin typeface="Aptos" panose="020B0004020202020204" pitchFamily="34" charset="0"/>
                <a:ea typeface="微软雅黑" panose="020B0503020204020204" pitchFamily="34" charset="-122"/>
                <a:cs typeface="+mn-lt"/>
                <a:sym typeface="+mn-ea"/>
              </a:rPr>
              <a:t>New business scenarios driven：</a:t>
            </a:r>
          </a:p>
          <a:p>
            <a:pPr indent="0" fontAlgn="auto">
              <a:lnSpc>
                <a:spcPct val="150000"/>
              </a:lnSpc>
            </a:pPr>
            <a:r>
              <a:rPr lang="en-US" sz="1400" b="0" i="0" dirty="0">
                <a:effectLst/>
                <a:latin typeface="Aptos" panose="020B0004020202020204" pitchFamily="34" charset="0"/>
              </a:rPr>
              <a:t>NAA enables trust automation for physical multi-party workflows in Banking (cash-in-transit), Logistics, Field Services, Healthcare, and Controlled-Access Infrastructure — anywhere people, devices, and assets must be confirmed together before a sensitive action is authorized</a:t>
            </a:r>
            <a:endParaRPr lang="en-US" sz="1400" dirty="0">
              <a:latin typeface="Aptos" panose="020B0004020202020204" pitchFamily="34" charset="0"/>
              <a:ea typeface="微软雅黑" panose="020B0503020204020204" pitchFamily="34" charset="-122"/>
              <a:cs typeface="+mn-lt"/>
              <a:sym typeface="+mn-ea"/>
            </a:endParaRPr>
          </a:p>
        </p:txBody>
      </p:sp>
      <p:pic>
        <p:nvPicPr>
          <p:cNvPr id="11" name="Picture 10">
            <a:extLst>
              <a:ext uri="{FF2B5EF4-FFF2-40B4-BE49-F238E27FC236}">
                <a16:creationId xmlns:a16="http://schemas.microsoft.com/office/drawing/2014/main" id="{7F23FFC2-22CD-3AD7-ACC7-4BC0E5E7431B}"/>
              </a:ext>
            </a:extLst>
          </p:cNvPr>
          <p:cNvPicPr>
            <a:picLocks noChangeAspect="1"/>
          </p:cNvPicPr>
          <p:nvPr/>
        </p:nvPicPr>
        <p:blipFill>
          <a:blip r:embed="rId3"/>
          <a:stretch>
            <a:fillRect/>
          </a:stretch>
        </p:blipFill>
        <p:spPr>
          <a:xfrm>
            <a:off x="350341" y="1711842"/>
            <a:ext cx="6342582" cy="2966483"/>
          </a:xfrm>
          <a:prstGeom prst="rect">
            <a:avLst/>
          </a:prstGeom>
        </p:spPr>
      </p:pic>
    </p:spTree>
    <p:extLst>
      <p:ext uri="{BB962C8B-B14F-4D97-AF65-F5344CB8AC3E}">
        <p14:creationId xmlns:p14="http://schemas.microsoft.com/office/powerpoint/2010/main" val="1165438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B6672-5B88-E507-706B-89BA924BDC77}"/>
              </a:ext>
            </a:extLst>
          </p:cNvPr>
          <p:cNvSpPr>
            <a:spLocks noGrp="1"/>
          </p:cNvSpPr>
          <p:nvPr>
            <p:ph type="title"/>
          </p:nvPr>
        </p:nvSpPr>
        <p:spPr>
          <a:xfrm>
            <a:off x="406415" y="277431"/>
            <a:ext cx="11580552" cy="829647"/>
          </a:xfrm>
        </p:spPr>
        <p:txBody>
          <a:bodyPr>
            <a:noAutofit/>
          </a:bodyPr>
          <a:lstStyle/>
          <a:p>
            <a:r>
              <a:rPr lang="en-US" altLang="zh-CN" sz="3600">
                <a:latin typeface="Aptos" panose="020B0004020202020204" pitchFamily="34" charset="0"/>
                <a:ea typeface="微软雅黑" panose="020B0503020204020204" pitchFamily="34" charset="-122"/>
              </a:rPr>
              <a:t>Sample implementation:</a:t>
            </a:r>
            <a:br>
              <a:rPr lang="en-US" altLang="zh-CN" sz="3600">
                <a:latin typeface="Aptos" panose="020B0004020202020204" pitchFamily="34" charset="0"/>
                <a:ea typeface="微软雅黑" panose="020B0503020204020204" pitchFamily="34" charset="-122"/>
              </a:rPr>
            </a:br>
            <a:r>
              <a:rPr lang="en-US" altLang="zh-CN" sz="3600">
                <a:latin typeface="Aptos" panose="020B0004020202020204" pitchFamily="34" charset="0"/>
                <a:ea typeface="微软雅黑" panose="020B0503020204020204" pitchFamily="34" charset="-122"/>
              </a:rPr>
              <a:t>Network Authenticated Assembly</a:t>
            </a:r>
            <a:endParaRPr lang="en-US" sz="3600"/>
          </a:p>
        </p:txBody>
      </p:sp>
      <p:pic>
        <p:nvPicPr>
          <p:cNvPr id="6" name="Picture 5">
            <a:extLst>
              <a:ext uri="{FF2B5EF4-FFF2-40B4-BE49-F238E27FC236}">
                <a16:creationId xmlns:a16="http://schemas.microsoft.com/office/drawing/2014/main" id="{320D6091-D863-4209-A966-82C550E2B0C4}"/>
              </a:ext>
            </a:extLst>
          </p:cNvPr>
          <p:cNvPicPr>
            <a:picLocks noChangeAspect="1"/>
          </p:cNvPicPr>
          <p:nvPr/>
        </p:nvPicPr>
        <p:blipFill>
          <a:blip r:embed="rId2"/>
          <a:stretch>
            <a:fillRect/>
          </a:stretch>
        </p:blipFill>
        <p:spPr>
          <a:xfrm>
            <a:off x="1531620" y="1783080"/>
            <a:ext cx="8054686" cy="4277316"/>
          </a:xfrm>
          <a:prstGeom prst="rect">
            <a:avLst/>
          </a:prstGeom>
        </p:spPr>
      </p:pic>
    </p:spTree>
    <p:extLst>
      <p:ext uri="{BB962C8B-B14F-4D97-AF65-F5344CB8AC3E}">
        <p14:creationId xmlns:p14="http://schemas.microsoft.com/office/powerpoint/2010/main" val="1169715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a:latin typeface="Aptos" panose="020B0004020202020204" pitchFamily="34" charset="0"/>
                <a:ea typeface="微软雅黑" panose="020B0503020204020204" pitchFamily="34" charset="-122"/>
              </a:rPr>
              <a:t>NAA API: High level description</a:t>
            </a:r>
            <a:endParaRPr lang="zh-CN" altLang="en-US" sz="3200">
              <a:latin typeface="Aptos" panose="020B0004020202020204" pitchFamily="34" charset="0"/>
            </a:endParaRPr>
          </a:p>
        </p:txBody>
      </p:sp>
      <p:sp>
        <p:nvSpPr>
          <p:cNvPr id="20" name="TextBox 19">
            <a:extLst>
              <a:ext uri="{FF2B5EF4-FFF2-40B4-BE49-F238E27FC236}">
                <a16:creationId xmlns:a16="http://schemas.microsoft.com/office/drawing/2014/main" id="{8A888B4D-A5A9-3715-FD45-40522B0D451E}"/>
              </a:ext>
            </a:extLst>
          </p:cNvPr>
          <p:cNvSpPr txBox="1"/>
          <p:nvPr/>
        </p:nvSpPr>
        <p:spPr>
          <a:xfrm>
            <a:off x="252522" y="2228026"/>
            <a:ext cx="5576778" cy="3754874"/>
          </a:xfrm>
          <a:prstGeom prst="rect">
            <a:avLst/>
          </a:prstGeom>
          <a:noFill/>
        </p:spPr>
        <p:txBody>
          <a:bodyPr wrap="square">
            <a:spAutoFit/>
          </a:bodyPr>
          <a:lstStyle/>
          <a:p>
            <a:r>
              <a:rPr lang="en-US" sz="1400" dirty="0">
                <a:latin typeface="Aptos" panose="020B0004020202020204" pitchFamily="34" charset="0"/>
              </a:rPr>
              <a:t>NAA verifies that a defined group of SIM-based devices are physically co-located within a zone and time window — returning a single group verdict (</a:t>
            </a:r>
            <a:r>
              <a:rPr lang="en-US" sz="1400" dirty="0" err="1">
                <a:latin typeface="Aptos" panose="020B0004020202020204" pitchFamily="34" charset="0"/>
              </a:rPr>
              <a:t>co_present</a:t>
            </a:r>
            <a:r>
              <a:rPr lang="en-US" sz="1400" dirty="0">
                <a:latin typeface="Aptos" panose="020B0004020202020204" pitchFamily="34" charset="0"/>
              </a:rPr>
              <a:t> / partial / </a:t>
            </a:r>
            <a:r>
              <a:rPr lang="en-US" sz="1400" dirty="0" err="1">
                <a:latin typeface="Aptos" panose="020B0004020202020204" pitchFamily="34" charset="0"/>
              </a:rPr>
              <a:t>not_co_present</a:t>
            </a:r>
            <a:r>
              <a:rPr lang="en-US" sz="1400" dirty="0">
                <a:latin typeface="Aptos" panose="020B0004020202020204" pitchFamily="34" charset="0"/>
              </a:rPr>
              <a:t>) with a privacy-preserving attestation token. The caller never sees any device location.</a:t>
            </a:r>
          </a:p>
          <a:p>
            <a:endParaRPr lang="en-US" sz="1400" b="1" dirty="0">
              <a:latin typeface="Aptos" panose="020B0004020202020204" pitchFamily="34" charset="0"/>
            </a:endParaRPr>
          </a:p>
          <a:p>
            <a:r>
              <a:rPr lang="en-US" sz="1400" b="1" dirty="0">
                <a:latin typeface="Aptos" panose="020B0004020202020204" pitchFamily="34" charset="0"/>
              </a:rPr>
              <a:t>Key points:</a:t>
            </a:r>
            <a:endParaRPr lang="en-US" sz="1400" dirty="0">
              <a:latin typeface="Aptos" panose="020B0004020202020204" pitchFamily="34" charset="0"/>
            </a:endParaRPr>
          </a:p>
          <a:p>
            <a:pPr marL="285750" indent="-285750">
              <a:buFont typeface="Courier New" panose="02070309020205020404" pitchFamily="49" charset="0"/>
              <a:buChar char="o"/>
            </a:pPr>
            <a:r>
              <a:rPr lang="en-US" sz="1400" dirty="0">
                <a:latin typeface="Aptos" panose="020B0004020202020204" pitchFamily="34" charset="0"/>
              </a:rPr>
              <a:t>Single API call for N devices — no per-device location results</a:t>
            </a:r>
          </a:p>
          <a:p>
            <a:pPr marL="285750" indent="-285750">
              <a:buFont typeface="Courier New" panose="02070309020205020404" pitchFamily="49" charset="0"/>
              <a:buChar char="o"/>
            </a:pPr>
            <a:r>
              <a:rPr lang="en-US" sz="1400" dirty="0">
                <a:latin typeface="Aptos" panose="020B0004020202020204" pitchFamily="34" charset="0"/>
              </a:rPr>
              <a:t>k-of-n threshold logic — partial presence is a first-class outcome</a:t>
            </a:r>
          </a:p>
          <a:p>
            <a:pPr marL="285750" indent="-285750">
              <a:buFont typeface="Courier New" panose="02070309020205020404" pitchFamily="49" charset="0"/>
              <a:buChar char="o"/>
            </a:pPr>
            <a:r>
              <a:rPr lang="en-US" sz="1400" dirty="0">
                <a:latin typeface="Aptos" panose="020B0004020202020204" pitchFamily="34" charset="0"/>
              </a:rPr>
              <a:t>On-demand (POST /verify) + subscription-based continuous monitoring</a:t>
            </a:r>
          </a:p>
          <a:p>
            <a:pPr marL="285750" indent="-285750">
              <a:buFont typeface="Courier New" panose="02070309020205020404" pitchFamily="49" charset="0"/>
              <a:buChar char="o"/>
            </a:pPr>
            <a:r>
              <a:rPr lang="en-US" sz="1400" dirty="0">
                <a:latin typeface="Aptos" panose="020B0004020202020204" pitchFamily="34" charset="0"/>
              </a:rPr>
              <a:t>Restricted to operator-addressable devices (SIM/</a:t>
            </a:r>
            <a:r>
              <a:rPr lang="en-US" sz="1400" dirty="0" err="1">
                <a:latin typeface="Aptos" panose="020B0004020202020204" pitchFamily="34" charset="0"/>
              </a:rPr>
              <a:t>eSIM</a:t>
            </a:r>
            <a:r>
              <a:rPr lang="en-US" sz="1400" dirty="0">
                <a:latin typeface="Aptos" panose="020B0004020202020204" pitchFamily="34" charset="0"/>
              </a:rPr>
              <a:t> only)</a:t>
            </a:r>
          </a:p>
          <a:p>
            <a:pPr marL="285750" indent="-285750">
              <a:buFont typeface="Courier New" panose="02070309020205020404" pitchFamily="49" charset="0"/>
              <a:buChar char="o"/>
            </a:pPr>
            <a:r>
              <a:rPr lang="en-US" sz="1400" dirty="0">
                <a:latin typeface="Aptos" panose="020B0004020202020204" pitchFamily="34" charset="0"/>
              </a:rPr>
              <a:t>Targets Banking, Logistics, Field Services, and Healthcare workflows</a:t>
            </a:r>
          </a:p>
          <a:p>
            <a:endParaRPr lang="en-US" sz="1400" b="1" dirty="0">
              <a:latin typeface="Aptos" panose="020B0004020202020204" pitchFamily="34" charset="0"/>
            </a:endParaRPr>
          </a:p>
          <a:p>
            <a:r>
              <a:rPr lang="en-US" sz="1400" b="1" dirty="0">
                <a:latin typeface="Aptos" panose="020B0004020202020204" pitchFamily="34" charset="0"/>
              </a:rPr>
              <a:t>Not a </a:t>
            </a:r>
            <a:r>
              <a:rPr lang="en-US" sz="1400" b="1" dirty="0" err="1">
                <a:latin typeface="Aptos" panose="020B0004020202020204" pitchFamily="34" charset="0"/>
              </a:rPr>
              <a:t>DeviceLocation</a:t>
            </a:r>
            <a:r>
              <a:rPr lang="en-US" sz="1400" b="1" dirty="0">
                <a:latin typeface="Aptos" panose="020B0004020202020204" pitchFamily="34" charset="0"/>
              </a:rPr>
              <a:t> enhancement</a:t>
            </a:r>
            <a:r>
              <a:rPr lang="en-US" sz="1400" dirty="0">
                <a:latin typeface="Aptos" panose="020B0004020202020204" pitchFamily="34" charset="0"/>
              </a:rPr>
              <a:t> — it answers </a:t>
            </a:r>
            <a:r>
              <a:rPr lang="en-US" sz="1400" i="1" dirty="0">
                <a:latin typeface="Aptos" panose="020B0004020202020204" pitchFamily="34" charset="0"/>
              </a:rPr>
              <a:t>"are these devices together?"</a:t>
            </a:r>
            <a:r>
              <a:rPr lang="en-US" sz="1400" dirty="0">
                <a:latin typeface="Aptos" panose="020B0004020202020204" pitchFamily="34" charset="0"/>
              </a:rPr>
              <a:t>, not </a:t>
            </a:r>
            <a:r>
              <a:rPr lang="en-US" sz="1400" i="1" dirty="0">
                <a:latin typeface="Aptos" panose="020B0004020202020204" pitchFamily="34" charset="0"/>
              </a:rPr>
              <a:t>"where is this device?"</a:t>
            </a:r>
            <a:r>
              <a:rPr lang="en-US" sz="1400" dirty="0">
                <a:latin typeface="Aptos" panose="020B0004020202020204" pitchFamily="34" charset="0"/>
              </a:rPr>
              <a:t> — a distinction that preserves privacy and makes the group verdict architecturally unique.</a:t>
            </a:r>
          </a:p>
        </p:txBody>
      </p:sp>
      <p:sp>
        <p:nvSpPr>
          <p:cNvPr id="3" name="TextBox 2">
            <a:extLst>
              <a:ext uri="{FF2B5EF4-FFF2-40B4-BE49-F238E27FC236}">
                <a16:creationId xmlns:a16="http://schemas.microsoft.com/office/drawing/2014/main" id="{200B0736-FF88-D7B7-8C25-653946340C63}"/>
              </a:ext>
            </a:extLst>
          </p:cNvPr>
          <p:cNvSpPr txBox="1"/>
          <p:nvPr/>
        </p:nvSpPr>
        <p:spPr>
          <a:xfrm>
            <a:off x="6248402" y="2248723"/>
            <a:ext cx="5778640" cy="2031325"/>
          </a:xfrm>
          <a:prstGeom prst="rect">
            <a:avLst/>
          </a:prstGeom>
          <a:noFill/>
        </p:spPr>
        <p:txBody>
          <a:bodyPr wrap="square">
            <a:spAutoFit/>
          </a:bodyPr>
          <a:lstStyle/>
          <a:p>
            <a:pPr marL="0" marR="0">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t>
            </a:r>
            <a:r>
              <a:rPr lang="en-US" sz="1400" dirty="0" err="1">
                <a:effectLst/>
                <a:latin typeface="Aptos" panose="020B0004020202020204" pitchFamily="34" charset="0"/>
                <a:ea typeface="Aptos" panose="020B0004020202020204" pitchFamily="34" charset="0"/>
                <a:cs typeface="Times New Roman" panose="02020603050405020304" pitchFamily="18" charset="0"/>
              </a:rPr>
              <a:t>co_present</a:t>
            </a:r>
            <a:r>
              <a:rPr lang="en-US" sz="1400" dirty="0">
                <a:effectLst/>
                <a:latin typeface="Aptos" panose="020B0004020202020204" pitchFamily="34" charset="0"/>
                <a:ea typeface="Aptos" panose="020B0004020202020204" pitchFamily="34" charset="0"/>
                <a:cs typeface="Times New Roman" panose="02020603050405020304" pitchFamily="18" charset="0"/>
              </a:rPr>
              <a:t>` = All present (m = N)</a:t>
            </a:r>
            <a:endParaRPr lang="en-US" sz="14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`partial` = Threshold met, not all (k ≤ m &lt; N) </a:t>
            </a:r>
            <a:endParaRPr lang="en-US" sz="14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t>
            </a:r>
            <a:r>
              <a:rPr lang="en-US" sz="1400" dirty="0" err="1">
                <a:effectLst/>
                <a:latin typeface="Aptos" panose="020B0004020202020204" pitchFamily="34" charset="0"/>
                <a:ea typeface="Aptos" panose="020B0004020202020204" pitchFamily="34" charset="0"/>
                <a:cs typeface="Times New Roman" panose="02020603050405020304" pitchFamily="18" charset="0"/>
              </a:rPr>
              <a:t>not_co_present</a:t>
            </a:r>
            <a:r>
              <a:rPr lang="en-US" sz="1400" dirty="0">
                <a:effectLst/>
                <a:latin typeface="Aptos" panose="020B0004020202020204" pitchFamily="34" charset="0"/>
                <a:ea typeface="Aptos" panose="020B0004020202020204" pitchFamily="34" charset="0"/>
                <a:cs typeface="Times New Roman" panose="02020603050405020304" pitchFamily="18" charset="0"/>
              </a:rPr>
              <a:t>` = Below threshold (m &lt; k)</a:t>
            </a:r>
            <a:endParaRPr lang="en-US" sz="14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 </a:t>
            </a:r>
            <a:endParaRPr lang="en-US" sz="14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If (N=4, k=3, m=3): verdict is `partial`</a:t>
            </a:r>
            <a:endParaRPr lang="en-US" sz="14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 </a:t>
            </a:r>
            <a:endParaRPr lang="en-US" sz="14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Response fields: </a:t>
            </a:r>
            <a:r>
              <a:rPr lang="en-US" sz="1400" dirty="0">
                <a:latin typeface="Aptos" panose="020B0004020202020204" pitchFamily="34" charset="0"/>
                <a:ea typeface="Aptos" panose="020B0004020202020204" pitchFamily="34" charset="0"/>
                <a:cs typeface="Times New Roman" panose="02020603050405020304" pitchFamily="18" charset="0"/>
              </a:rPr>
              <a:t>T</a:t>
            </a:r>
            <a:r>
              <a:rPr lang="en-US" sz="1400" dirty="0">
                <a:effectLst/>
                <a:latin typeface="Aptos" panose="020B0004020202020204" pitchFamily="34" charset="0"/>
                <a:ea typeface="Aptos" panose="020B0004020202020204" pitchFamily="34" charset="0"/>
                <a:cs typeface="Times New Roman" panose="02020603050405020304" pitchFamily="18" charset="0"/>
              </a:rPr>
              <a:t>he response will include `</a:t>
            </a:r>
            <a:r>
              <a:rPr lang="en-US" sz="1400" dirty="0" err="1">
                <a:effectLst/>
                <a:latin typeface="Aptos" panose="020B0004020202020204" pitchFamily="34" charset="0"/>
                <a:ea typeface="Aptos" panose="020B0004020202020204" pitchFamily="34" charset="0"/>
                <a:cs typeface="Times New Roman" panose="02020603050405020304" pitchFamily="18" charset="0"/>
              </a:rPr>
              <a:t>totalCount</a:t>
            </a:r>
            <a:r>
              <a:rPr lang="en-US" sz="1400" dirty="0">
                <a:effectLst/>
                <a:latin typeface="Aptos" panose="020B0004020202020204" pitchFamily="34" charset="0"/>
                <a:ea typeface="Aptos" panose="020B0004020202020204" pitchFamily="34" charset="0"/>
                <a:cs typeface="Times New Roman" panose="02020603050405020304" pitchFamily="18" charset="0"/>
              </a:rPr>
              <a:t>` (N), `</a:t>
            </a:r>
            <a:r>
              <a:rPr lang="en-US" sz="1400" dirty="0" err="1">
                <a:effectLst/>
                <a:latin typeface="Aptos" panose="020B0004020202020204" pitchFamily="34" charset="0"/>
                <a:ea typeface="Aptos" panose="020B0004020202020204" pitchFamily="34" charset="0"/>
                <a:cs typeface="Times New Roman" panose="02020603050405020304" pitchFamily="18" charset="0"/>
              </a:rPr>
              <a:t>requiredCount</a:t>
            </a:r>
            <a:r>
              <a:rPr lang="en-US" sz="1400" dirty="0">
                <a:effectLst/>
                <a:latin typeface="Aptos" panose="020B0004020202020204" pitchFamily="34" charset="0"/>
                <a:ea typeface="Aptos" panose="020B0004020202020204" pitchFamily="34" charset="0"/>
                <a:cs typeface="Times New Roman" panose="02020603050405020304" pitchFamily="18" charset="0"/>
              </a:rPr>
              <a:t>` (k), and `</a:t>
            </a:r>
            <a:r>
              <a:rPr lang="en-US" sz="1400" dirty="0" err="1">
                <a:effectLst/>
                <a:latin typeface="Aptos" panose="020B0004020202020204" pitchFamily="34" charset="0"/>
                <a:ea typeface="Aptos" panose="020B0004020202020204" pitchFamily="34" charset="0"/>
                <a:cs typeface="Times New Roman" panose="02020603050405020304" pitchFamily="18" charset="0"/>
              </a:rPr>
              <a:t>presentCount</a:t>
            </a:r>
            <a:r>
              <a:rPr lang="en-US" sz="1400" dirty="0">
                <a:effectLst/>
                <a:latin typeface="Aptos" panose="020B0004020202020204" pitchFamily="34" charset="0"/>
                <a:ea typeface="Aptos" panose="020B0004020202020204" pitchFamily="34" charset="0"/>
                <a:cs typeface="Times New Roman" panose="02020603050405020304" pitchFamily="18" charset="0"/>
              </a:rPr>
              <a:t>` (m) so relying parties can interpret the verdict consistently across operators</a:t>
            </a:r>
            <a:endParaRPr lang="en-US" sz="1400" dirty="0">
              <a:effectLst/>
              <a:latin typeface="Aptos" panose="020B0004020202020204" pitchFamily="34" charset="0"/>
              <a:ea typeface="Aptos" panose="020B0004020202020204" pitchFamily="34" charset="0"/>
              <a:cs typeface="Aptos" panose="020B0004020202020204" pitchFamily="34" charset="0"/>
            </a:endParaRPr>
          </a:p>
        </p:txBody>
      </p:sp>
      <p:cxnSp>
        <p:nvCxnSpPr>
          <p:cNvPr id="5" name="Straight Connector 4">
            <a:extLst>
              <a:ext uri="{FF2B5EF4-FFF2-40B4-BE49-F238E27FC236}">
                <a16:creationId xmlns:a16="http://schemas.microsoft.com/office/drawing/2014/main" id="{E15A7905-31A5-F4CD-8F1E-2590C44FBEAF}"/>
              </a:ext>
            </a:extLst>
          </p:cNvPr>
          <p:cNvCxnSpPr/>
          <p:nvPr/>
        </p:nvCxnSpPr>
        <p:spPr>
          <a:xfrm>
            <a:off x="5943600" y="1965960"/>
            <a:ext cx="0" cy="444627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 name="标题 1">
            <a:extLst>
              <a:ext uri="{FF2B5EF4-FFF2-40B4-BE49-F238E27FC236}">
                <a16:creationId xmlns:a16="http://schemas.microsoft.com/office/drawing/2014/main" id="{3AE0D48B-DC1D-F3E0-70A1-0152A10DB88D}"/>
              </a:ext>
            </a:extLst>
          </p:cNvPr>
          <p:cNvSpPr txBox="1">
            <a:spLocks/>
          </p:cNvSpPr>
          <p:nvPr/>
        </p:nvSpPr>
        <p:spPr>
          <a:xfrm>
            <a:off x="6442712" y="1398379"/>
            <a:ext cx="2143449" cy="82964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0" i="0" kern="1200">
                <a:solidFill>
                  <a:schemeClr val="bg1"/>
                </a:solidFill>
                <a:latin typeface="Montserrat Light" pitchFamily="2" charset="77"/>
                <a:ea typeface="+mj-ea"/>
                <a:cs typeface="+mj-cs"/>
              </a:defRPr>
            </a:lvl1pPr>
          </a:lstStyle>
          <a:p>
            <a:r>
              <a:rPr lang="en-US" altLang="zh-CN" sz="2400" b="1" dirty="0">
                <a:solidFill>
                  <a:schemeClr val="tx1"/>
                </a:solidFill>
                <a:latin typeface="Aptos" panose="020B0004020202020204" pitchFamily="34" charset="0"/>
                <a:ea typeface="微软雅黑" panose="020B0503020204020204" pitchFamily="34" charset="-122"/>
              </a:rPr>
              <a:t>Truth Table</a:t>
            </a:r>
            <a:endParaRPr lang="zh-CN" altLang="en-US" sz="2400" b="1" dirty="0">
              <a:solidFill>
                <a:schemeClr val="tx1"/>
              </a:solidFill>
              <a:latin typeface="Aptos" panose="020B00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400">
                <a:latin typeface="Aptos" panose="020B0004020202020204" pitchFamily="34" charset="0"/>
                <a:ea typeface="微软雅黑" panose="020B0503020204020204" pitchFamily="34" charset="-122"/>
              </a:rPr>
              <a:t>NAA </a:t>
            </a:r>
            <a:r>
              <a:rPr lang="en-US" altLang="zh-CN">
                <a:latin typeface="Aptos" panose="020B0004020202020204" pitchFamily="34" charset="0"/>
                <a:ea typeface="微软雅黑" panose="020B0503020204020204" pitchFamily="34" charset="-122"/>
                <a:sym typeface="+mn-ea"/>
              </a:rPr>
              <a:t>API </a:t>
            </a:r>
            <a:r>
              <a:rPr>
                <a:latin typeface="Aptos" panose="020B0004020202020204" pitchFamily="34" charset="0"/>
                <a:ea typeface="微软雅黑" panose="020B0503020204020204" pitchFamily="34" charset="-122"/>
                <a:sym typeface="+mn-ea"/>
              </a:rPr>
              <a:t>family</a:t>
            </a:r>
          </a:p>
        </p:txBody>
      </p:sp>
      <p:graphicFrame>
        <p:nvGraphicFramePr>
          <p:cNvPr id="5" name="Table 4">
            <a:extLst>
              <a:ext uri="{FF2B5EF4-FFF2-40B4-BE49-F238E27FC236}">
                <a16:creationId xmlns:a16="http://schemas.microsoft.com/office/drawing/2014/main" id="{4AE650D0-C865-7616-EDBD-C08DC87701DC}"/>
              </a:ext>
            </a:extLst>
          </p:cNvPr>
          <p:cNvGraphicFramePr>
            <a:graphicFrameLocks noGrp="1"/>
          </p:cNvGraphicFramePr>
          <p:nvPr>
            <p:extLst>
              <p:ext uri="{D42A27DB-BD31-4B8C-83A1-F6EECF244321}">
                <p14:modId xmlns:p14="http://schemas.microsoft.com/office/powerpoint/2010/main" val="2711701327"/>
              </p:ext>
            </p:extLst>
          </p:nvPr>
        </p:nvGraphicFramePr>
        <p:xfrm>
          <a:off x="470211" y="2114285"/>
          <a:ext cx="6704093" cy="3766424"/>
        </p:xfrm>
        <a:graphic>
          <a:graphicData uri="http://schemas.openxmlformats.org/drawingml/2006/table">
            <a:tbl>
              <a:tblPr firstRow="1" bandRow="1">
                <a:tableStyleId>{BC89EF96-8CEA-46FF-86C4-4CE0E7609802}</a:tableStyleId>
              </a:tblPr>
              <a:tblGrid>
                <a:gridCol w="1471454">
                  <a:extLst>
                    <a:ext uri="{9D8B030D-6E8A-4147-A177-3AD203B41FA5}">
                      <a16:colId xmlns:a16="http://schemas.microsoft.com/office/drawing/2014/main" val="1490222955"/>
                    </a:ext>
                  </a:extLst>
                </a:gridCol>
                <a:gridCol w="3826934">
                  <a:extLst>
                    <a:ext uri="{9D8B030D-6E8A-4147-A177-3AD203B41FA5}">
                      <a16:colId xmlns:a16="http://schemas.microsoft.com/office/drawing/2014/main" val="1098486318"/>
                    </a:ext>
                  </a:extLst>
                </a:gridCol>
                <a:gridCol w="1405705">
                  <a:extLst>
                    <a:ext uri="{9D8B030D-6E8A-4147-A177-3AD203B41FA5}">
                      <a16:colId xmlns:a16="http://schemas.microsoft.com/office/drawing/2014/main" val="277490161"/>
                    </a:ext>
                  </a:extLst>
                </a:gridCol>
              </a:tblGrid>
              <a:tr h="141975">
                <a:tc>
                  <a:txBody>
                    <a:bodyPr/>
                    <a:lstStyle/>
                    <a:p>
                      <a:pPr>
                        <a:buNone/>
                      </a:pPr>
                      <a:r>
                        <a:rPr lang="en-US" sz="1100" b="1">
                          <a:solidFill>
                            <a:schemeClr val="tx1"/>
                          </a:solidFill>
                          <a:effectLst/>
                          <a:latin typeface="Aptos" panose="020B0004020202020204" pitchFamily="34" charset="0"/>
                        </a:rPr>
                        <a:t>API Name</a:t>
                      </a:r>
                      <a:endParaRPr lang="en-US" sz="1100">
                        <a:solidFill>
                          <a:schemeClr val="tx1"/>
                        </a:solidFill>
                        <a:effectLst/>
                        <a:latin typeface="Aptos" panose="020B0004020202020204" pitchFamily="34" charset="0"/>
                      </a:endParaRPr>
                    </a:p>
                  </a:txBody>
                  <a:tcPr marL="5740" marR="5740" marT="3826" marB="3826" anchor="ctr"/>
                </a:tc>
                <a:tc>
                  <a:txBody>
                    <a:bodyPr/>
                    <a:lstStyle/>
                    <a:p>
                      <a:pPr>
                        <a:buNone/>
                      </a:pPr>
                      <a:r>
                        <a:rPr lang="en-US" sz="1100" b="1">
                          <a:solidFill>
                            <a:schemeClr val="tx1"/>
                          </a:solidFill>
                          <a:effectLst/>
                          <a:latin typeface="Aptos" panose="020B0004020202020204" pitchFamily="34" charset="0"/>
                        </a:rPr>
                        <a:t>API Function</a:t>
                      </a:r>
                      <a:endParaRPr lang="en-US" sz="1100">
                        <a:solidFill>
                          <a:schemeClr val="tx1"/>
                        </a:solidFill>
                        <a:effectLst/>
                        <a:latin typeface="Aptos" panose="020B0004020202020204" pitchFamily="34" charset="0"/>
                      </a:endParaRPr>
                    </a:p>
                  </a:txBody>
                  <a:tcPr marL="5740" marR="5740" marT="3826" marB="3826" anchor="ctr"/>
                </a:tc>
                <a:tc>
                  <a:txBody>
                    <a:bodyPr/>
                    <a:lstStyle/>
                    <a:p>
                      <a:pPr>
                        <a:buNone/>
                      </a:pPr>
                      <a:r>
                        <a:rPr lang="en-US" sz="1100" b="1">
                          <a:solidFill>
                            <a:schemeClr val="tx1"/>
                          </a:solidFill>
                          <a:effectLst/>
                          <a:latin typeface="Aptos" panose="020B0004020202020204" pitchFamily="34" charset="0"/>
                        </a:rPr>
                        <a:t>Method</a:t>
                      </a:r>
                      <a:endParaRPr lang="en-US" sz="1100">
                        <a:solidFill>
                          <a:schemeClr val="tx1"/>
                        </a:solidFill>
                        <a:effectLst/>
                        <a:latin typeface="Aptos" panose="020B0004020202020204" pitchFamily="34" charset="0"/>
                      </a:endParaRPr>
                    </a:p>
                  </a:txBody>
                  <a:tcPr marL="5740" marR="5740" marT="3826" marB="3826" anchor="ctr"/>
                </a:tc>
                <a:extLst>
                  <a:ext uri="{0D108BD9-81ED-4DB2-BD59-A6C34878D82A}">
                    <a16:rowId xmlns:a16="http://schemas.microsoft.com/office/drawing/2014/main" val="1129155487"/>
                  </a:ext>
                </a:extLst>
              </a:tr>
              <a:tr h="575193">
                <a:tc>
                  <a:txBody>
                    <a:bodyPr/>
                    <a:lstStyle/>
                    <a:p>
                      <a:pPr>
                        <a:buNone/>
                      </a:pPr>
                      <a:r>
                        <a:rPr lang="en-US" sz="1100" b="1">
                          <a:solidFill>
                            <a:schemeClr val="tx1"/>
                          </a:solidFill>
                          <a:effectLst/>
                          <a:latin typeface="Aptos" panose="020B0004020202020204" pitchFamily="34" charset="0"/>
                        </a:rPr>
                        <a:t>NAA Assessment</a:t>
                      </a:r>
                      <a:endParaRPr lang="en-US" sz="1100">
                        <a:solidFill>
                          <a:schemeClr val="tx1"/>
                        </a:solidFill>
                        <a:effectLst/>
                        <a:latin typeface="Aptos" panose="020B0004020202020204" pitchFamily="34" charset="0"/>
                      </a:endParaRPr>
                    </a:p>
                  </a:txBody>
                  <a:tcPr marL="5740" marR="5740" marT="3826" marB="3826" anchor="ctr"/>
                </a:tc>
                <a:tc>
                  <a:txBody>
                    <a:bodyPr/>
                    <a:lstStyle/>
                    <a:p>
                      <a:pPr>
                        <a:buNone/>
                      </a:pPr>
                      <a:r>
                        <a:rPr lang="en-US" sz="1100">
                          <a:solidFill>
                            <a:schemeClr val="tx1"/>
                          </a:solidFill>
                          <a:effectLst/>
                          <a:latin typeface="Aptos" panose="020B0004020202020204" pitchFamily="34" charset="0"/>
                        </a:rPr>
                        <a:t>For a given device cluster and zone parameters, check network ability to resolve co-presence for all specified SIM-based devices</a:t>
                      </a:r>
                    </a:p>
                  </a:txBody>
                  <a:tcPr marL="5740" marR="5740" marT="3826" marB="3826" anchor="ctr"/>
                </a:tc>
                <a:tc>
                  <a:txBody>
                    <a:bodyPr/>
                    <a:lstStyle/>
                    <a:p>
                      <a:pPr>
                        <a:buNone/>
                      </a:pPr>
                      <a:r>
                        <a:rPr lang="en-US" sz="1100">
                          <a:solidFill>
                            <a:schemeClr val="tx1"/>
                          </a:solidFill>
                          <a:effectLst/>
                          <a:latin typeface="Aptos" panose="020B0004020202020204" pitchFamily="34" charset="0"/>
                        </a:rPr>
                        <a:t>POST</a:t>
                      </a:r>
                    </a:p>
                  </a:txBody>
                  <a:tcPr marL="5740" marR="5740" marT="3826" marB="3826" anchor="ctr"/>
                </a:tc>
                <a:extLst>
                  <a:ext uri="{0D108BD9-81ED-4DB2-BD59-A6C34878D82A}">
                    <a16:rowId xmlns:a16="http://schemas.microsoft.com/office/drawing/2014/main" val="1227327296"/>
                  </a:ext>
                </a:extLst>
              </a:tr>
              <a:tr h="1077247">
                <a:tc>
                  <a:txBody>
                    <a:bodyPr/>
                    <a:lstStyle/>
                    <a:p>
                      <a:pPr>
                        <a:buNone/>
                      </a:pPr>
                      <a:r>
                        <a:rPr lang="en-US" sz="1100" b="1">
                          <a:solidFill>
                            <a:schemeClr val="tx1"/>
                          </a:solidFill>
                          <a:effectLst/>
                          <a:latin typeface="Aptos" panose="020B0004020202020204" pitchFamily="34" charset="0"/>
                        </a:rPr>
                        <a:t>NAA Verify</a:t>
                      </a:r>
                      <a:endParaRPr lang="en-US" sz="1100">
                        <a:solidFill>
                          <a:schemeClr val="tx1"/>
                        </a:solidFill>
                        <a:effectLst/>
                        <a:latin typeface="Aptos" panose="020B0004020202020204" pitchFamily="34" charset="0"/>
                      </a:endParaRPr>
                    </a:p>
                  </a:txBody>
                  <a:tcPr marL="5740" marR="5740" marT="3826" marB="3826" anchor="ctr"/>
                </a:tc>
                <a:tc>
                  <a:txBody>
                    <a:bodyPr/>
                    <a:lstStyle/>
                    <a:p>
                      <a:pPr>
                        <a:buNone/>
                      </a:pPr>
                      <a:r>
                        <a:rPr lang="en-US" sz="1100">
                          <a:solidFill>
                            <a:schemeClr val="tx1"/>
                          </a:solidFill>
                          <a:effectLst/>
                          <a:latin typeface="Aptos" panose="020B0004020202020204" pitchFamily="34" charset="0"/>
                        </a:rPr>
                        <a:t>Submit a device cluster for co-presence verification. Returns group verdict (co_present / partial / not_co_present) and a signed privacy-preserving attestation token. Supports: a. cluster size (k-of-n threshold) b. zone definition and time window tolerance</a:t>
                      </a:r>
                    </a:p>
                  </a:txBody>
                  <a:tcPr marL="5740" marR="5740" marT="3826" marB="3826" anchor="ctr"/>
                </a:tc>
                <a:tc>
                  <a:txBody>
                    <a:bodyPr/>
                    <a:lstStyle/>
                    <a:p>
                      <a:pPr>
                        <a:buNone/>
                      </a:pPr>
                      <a:r>
                        <a:rPr lang="en-US" sz="1100">
                          <a:solidFill>
                            <a:schemeClr val="tx1"/>
                          </a:solidFill>
                          <a:effectLst/>
                          <a:latin typeface="Aptos" panose="020B0004020202020204" pitchFamily="34" charset="0"/>
                        </a:rPr>
                        <a:t>POST</a:t>
                      </a:r>
                    </a:p>
                  </a:txBody>
                  <a:tcPr marL="5740" marR="5740" marT="3826" marB="3826" anchor="ctr"/>
                </a:tc>
                <a:extLst>
                  <a:ext uri="{0D108BD9-81ED-4DB2-BD59-A6C34878D82A}">
                    <a16:rowId xmlns:a16="http://schemas.microsoft.com/office/drawing/2014/main" val="2812780843"/>
                  </a:ext>
                </a:extLst>
              </a:tr>
              <a:tr h="909896">
                <a:tc>
                  <a:txBody>
                    <a:bodyPr/>
                    <a:lstStyle/>
                    <a:p>
                      <a:pPr>
                        <a:buNone/>
                      </a:pPr>
                      <a:r>
                        <a:rPr lang="en-US" sz="1100" b="1">
                          <a:solidFill>
                            <a:schemeClr val="tx1"/>
                          </a:solidFill>
                          <a:effectLst/>
                          <a:latin typeface="Aptos" panose="020B0004020202020204" pitchFamily="34" charset="0"/>
                        </a:rPr>
                        <a:t>NAA Subscription Creation</a:t>
                      </a:r>
                      <a:endParaRPr lang="en-US" sz="1100">
                        <a:solidFill>
                          <a:schemeClr val="tx1"/>
                        </a:solidFill>
                        <a:effectLst/>
                        <a:latin typeface="Aptos" panose="020B0004020202020204" pitchFamily="34" charset="0"/>
                      </a:endParaRPr>
                    </a:p>
                  </a:txBody>
                  <a:tcPr marL="5740" marR="5740" marT="3826" marB="3826" anchor="ctr"/>
                </a:tc>
                <a:tc>
                  <a:txBody>
                    <a:bodyPr/>
                    <a:lstStyle/>
                    <a:p>
                      <a:pPr>
                        <a:buNone/>
                      </a:pPr>
                      <a:r>
                        <a:rPr lang="en-US" sz="1100">
                          <a:solidFill>
                            <a:schemeClr val="tx1"/>
                          </a:solidFill>
                          <a:effectLst/>
                          <a:latin typeface="Aptos" panose="020B0004020202020204" pitchFamily="34" charset="0"/>
                        </a:rPr>
                        <a:t>Create a continuous co-presence monitoring subscription for a device cluster. Triggers webhook events on verdict change (status-changed CloudEvent). Supports: a. subscriptionExpireTime b. subscriptionMaxEvents</a:t>
                      </a:r>
                    </a:p>
                  </a:txBody>
                  <a:tcPr marL="5740" marR="5740" marT="3826" marB="3826" anchor="ctr"/>
                </a:tc>
                <a:tc>
                  <a:txBody>
                    <a:bodyPr/>
                    <a:lstStyle/>
                    <a:p>
                      <a:pPr>
                        <a:buNone/>
                      </a:pPr>
                      <a:r>
                        <a:rPr lang="en-US" sz="1100">
                          <a:solidFill>
                            <a:schemeClr val="tx1"/>
                          </a:solidFill>
                          <a:effectLst/>
                          <a:latin typeface="Aptos" panose="020B0004020202020204" pitchFamily="34" charset="0"/>
                        </a:rPr>
                        <a:t>POST</a:t>
                      </a:r>
                    </a:p>
                  </a:txBody>
                  <a:tcPr marL="5740" marR="5740" marT="3826" marB="3826" anchor="ctr"/>
                </a:tc>
                <a:extLst>
                  <a:ext uri="{0D108BD9-81ED-4DB2-BD59-A6C34878D82A}">
                    <a16:rowId xmlns:a16="http://schemas.microsoft.com/office/drawing/2014/main" val="3812046055"/>
                  </a:ext>
                </a:extLst>
              </a:tr>
              <a:tr h="277752">
                <a:tc>
                  <a:txBody>
                    <a:bodyPr/>
                    <a:lstStyle/>
                    <a:p>
                      <a:pPr>
                        <a:buNone/>
                      </a:pPr>
                      <a:r>
                        <a:rPr lang="en-US" sz="1100" b="1">
                          <a:solidFill>
                            <a:schemeClr val="tx1"/>
                          </a:solidFill>
                          <a:effectLst/>
                          <a:latin typeface="Aptos" panose="020B0004020202020204" pitchFamily="34" charset="0"/>
                        </a:rPr>
                        <a:t>NAA Subscription Query</a:t>
                      </a:r>
                      <a:endParaRPr lang="en-US" sz="1100">
                        <a:solidFill>
                          <a:schemeClr val="tx1"/>
                        </a:solidFill>
                        <a:effectLst/>
                        <a:latin typeface="Aptos" panose="020B0004020202020204" pitchFamily="34" charset="0"/>
                      </a:endParaRPr>
                    </a:p>
                  </a:txBody>
                  <a:tcPr marL="5740" marR="5740" marT="3826" marB="3826" anchor="ctr"/>
                </a:tc>
                <a:tc>
                  <a:txBody>
                    <a:bodyPr/>
                    <a:lstStyle/>
                    <a:p>
                      <a:pPr>
                        <a:buNone/>
                      </a:pPr>
                      <a:r>
                        <a:rPr lang="en-US" sz="1100">
                          <a:solidFill>
                            <a:schemeClr val="tx1"/>
                          </a:solidFill>
                          <a:effectLst/>
                          <a:latin typeface="Aptos" panose="020B0004020202020204" pitchFamily="34" charset="0"/>
                        </a:rPr>
                        <a:t>Query an existing co-presence subscription and its current status</a:t>
                      </a:r>
                    </a:p>
                  </a:txBody>
                  <a:tcPr marL="5740" marR="5740" marT="3826" marB="3826" anchor="ctr"/>
                </a:tc>
                <a:tc>
                  <a:txBody>
                    <a:bodyPr/>
                    <a:lstStyle/>
                    <a:p>
                      <a:pPr>
                        <a:buNone/>
                      </a:pPr>
                      <a:r>
                        <a:rPr lang="en-US" sz="1100">
                          <a:solidFill>
                            <a:schemeClr val="tx1"/>
                          </a:solidFill>
                          <a:effectLst/>
                          <a:latin typeface="Aptos" panose="020B0004020202020204" pitchFamily="34" charset="0"/>
                        </a:rPr>
                        <a:t>GET</a:t>
                      </a:r>
                    </a:p>
                  </a:txBody>
                  <a:tcPr marL="5740" marR="5740" marT="3826" marB="3826" anchor="ctr"/>
                </a:tc>
                <a:extLst>
                  <a:ext uri="{0D108BD9-81ED-4DB2-BD59-A6C34878D82A}">
                    <a16:rowId xmlns:a16="http://schemas.microsoft.com/office/drawing/2014/main" val="2383846437"/>
                  </a:ext>
                </a:extLst>
              </a:tr>
              <a:tr h="340901">
                <a:tc>
                  <a:txBody>
                    <a:bodyPr/>
                    <a:lstStyle/>
                    <a:p>
                      <a:pPr>
                        <a:buNone/>
                      </a:pPr>
                      <a:r>
                        <a:rPr lang="en-US" sz="1100" b="1">
                          <a:solidFill>
                            <a:schemeClr val="tx1"/>
                          </a:solidFill>
                          <a:effectLst/>
                          <a:latin typeface="Aptos" panose="020B0004020202020204" pitchFamily="34" charset="0"/>
                        </a:rPr>
                        <a:t>NAA Subscription Modification</a:t>
                      </a:r>
                      <a:endParaRPr lang="en-US" sz="1100">
                        <a:solidFill>
                          <a:schemeClr val="tx1"/>
                        </a:solidFill>
                        <a:effectLst/>
                        <a:latin typeface="Aptos" panose="020B0004020202020204" pitchFamily="34" charset="0"/>
                      </a:endParaRPr>
                    </a:p>
                  </a:txBody>
                  <a:tcPr marL="5740" marR="5740" marT="3826" marB="3826" anchor="ctr"/>
                </a:tc>
                <a:tc>
                  <a:txBody>
                    <a:bodyPr/>
                    <a:lstStyle/>
                    <a:p>
                      <a:pPr>
                        <a:buNone/>
                      </a:pPr>
                      <a:r>
                        <a:rPr lang="en-US" sz="1100">
                          <a:solidFill>
                            <a:schemeClr val="tx1"/>
                          </a:solidFill>
                          <a:effectLst/>
                          <a:latin typeface="Aptos" panose="020B0004020202020204" pitchFamily="34" charset="0"/>
                        </a:rPr>
                        <a:t>Modify an active subscription — update time window, k-of-n threshold, or expiry</a:t>
                      </a:r>
                    </a:p>
                  </a:txBody>
                  <a:tcPr marL="5740" marR="5740" marT="3826" marB="3826" anchor="ctr"/>
                </a:tc>
                <a:tc>
                  <a:txBody>
                    <a:bodyPr/>
                    <a:lstStyle/>
                    <a:p>
                      <a:pPr>
                        <a:buNone/>
                      </a:pPr>
                      <a:r>
                        <a:rPr lang="en-US" sz="1100">
                          <a:solidFill>
                            <a:schemeClr val="tx1"/>
                          </a:solidFill>
                          <a:effectLst/>
                          <a:latin typeface="Aptos" panose="020B0004020202020204" pitchFamily="34" charset="0"/>
                        </a:rPr>
                        <a:t>PATCH</a:t>
                      </a:r>
                    </a:p>
                  </a:txBody>
                  <a:tcPr marL="5740" marR="5740" marT="3826" marB="3826" anchor="ctr"/>
                </a:tc>
                <a:extLst>
                  <a:ext uri="{0D108BD9-81ED-4DB2-BD59-A6C34878D82A}">
                    <a16:rowId xmlns:a16="http://schemas.microsoft.com/office/drawing/2014/main" val="2217489705"/>
                  </a:ext>
                </a:extLst>
              </a:tr>
              <a:tr h="277752">
                <a:tc>
                  <a:txBody>
                    <a:bodyPr/>
                    <a:lstStyle/>
                    <a:p>
                      <a:pPr>
                        <a:buNone/>
                      </a:pPr>
                      <a:r>
                        <a:rPr lang="en-US" sz="1100" b="1">
                          <a:solidFill>
                            <a:schemeClr val="tx1"/>
                          </a:solidFill>
                          <a:effectLst/>
                          <a:latin typeface="Aptos" panose="020B0004020202020204" pitchFamily="34" charset="0"/>
                        </a:rPr>
                        <a:t>NAA Subscription Deletion</a:t>
                      </a:r>
                      <a:endParaRPr lang="en-US" sz="1100">
                        <a:solidFill>
                          <a:schemeClr val="tx1"/>
                        </a:solidFill>
                        <a:effectLst/>
                        <a:latin typeface="Aptos" panose="020B0004020202020204" pitchFamily="34" charset="0"/>
                      </a:endParaRPr>
                    </a:p>
                  </a:txBody>
                  <a:tcPr marL="5740" marR="5740" marT="3826" marB="3826" anchor="ctr"/>
                </a:tc>
                <a:tc>
                  <a:txBody>
                    <a:bodyPr/>
                    <a:lstStyle/>
                    <a:p>
                      <a:pPr>
                        <a:buNone/>
                      </a:pPr>
                      <a:r>
                        <a:rPr lang="en-US" sz="1100">
                          <a:solidFill>
                            <a:schemeClr val="tx1"/>
                          </a:solidFill>
                          <a:effectLst/>
                          <a:latin typeface="Aptos" panose="020B0004020202020204" pitchFamily="34" charset="0"/>
                        </a:rPr>
                        <a:t>Delete an active co-presence subscription and stop monitoring</a:t>
                      </a:r>
                    </a:p>
                  </a:txBody>
                  <a:tcPr marL="5740" marR="5740" marT="3826" marB="3826" anchor="ctr"/>
                </a:tc>
                <a:tc>
                  <a:txBody>
                    <a:bodyPr/>
                    <a:lstStyle/>
                    <a:p>
                      <a:pPr>
                        <a:buNone/>
                      </a:pPr>
                      <a:r>
                        <a:rPr lang="en-US" sz="1100" dirty="0">
                          <a:solidFill>
                            <a:schemeClr val="tx1"/>
                          </a:solidFill>
                          <a:effectLst/>
                          <a:latin typeface="Aptos" panose="020B0004020202020204" pitchFamily="34" charset="0"/>
                        </a:rPr>
                        <a:t>DELETE</a:t>
                      </a:r>
                    </a:p>
                  </a:txBody>
                  <a:tcPr marL="5740" marR="5740" marT="3826" marB="3826" anchor="ctr"/>
                </a:tc>
                <a:extLst>
                  <a:ext uri="{0D108BD9-81ED-4DB2-BD59-A6C34878D82A}">
                    <a16:rowId xmlns:a16="http://schemas.microsoft.com/office/drawing/2014/main" val="374971599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a:latin typeface="Aptos" panose="020B0004020202020204" pitchFamily="34" charset="0"/>
                <a:ea typeface="微软雅黑" panose="020B0503020204020204" pitchFamily="34" charset="-122"/>
                <a:sym typeface="+mn-ea"/>
              </a:rPr>
              <a:t>Sequence Diagram </a:t>
            </a:r>
            <a:endParaRPr lang="zh-CN" altLang="en-US" sz="3200">
              <a:latin typeface="Aptos" panose="020B0004020202020204" pitchFamily="34" charset="0"/>
              <a:ea typeface="微软雅黑" panose="020B0503020204020204" pitchFamily="34" charset="-122"/>
              <a:sym typeface="+mn-ea"/>
            </a:endParaRPr>
          </a:p>
        </p:txBody>
      </p:sp>
      <p:pic>
        <p:nvPicPr>
          <p:cNvPr id="4098" name="Picture 2">
            <a:extLst>
              <a:ext uri="{FF2B5EF4-FFF2-40B4-BE49-F238E27FC236}">
                <a16:creationId xmlns:a16="http://schemas.microsoft.com/office/drawing/2014/main" id="{03BE6176-4A43-09B7-4C60-1E32B1BAF8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648" y="1266568"/>
            <a:ext cx="7825562" cy="54106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atin typeface="Aptos" panose="020B0004020202020204" pitchFamily="34" charset="0"/>
                <a:ea typeface="微软雅黑" panose="020B0503020204020204" pitchFamily="34" charset="-122"/>
                <a:sym typeface="+mn-ea"/>
              </a:rPr>
              <a:t>User story</a:t>
            </a:r>
            <a:endParaRPr lang="zh-CN" altLang="en-US">
              <a:latin typeface="Aptos" panose="020B0004020202020204" pitchFamily="34" charset="0"/>
              <a:ea typeface="微软雅黑" panose="020B0503020204020204" pitchFamily="34" charset="-122"/>
            </a:endParaRPr>
          </a:p>
        </p:txBody>
      </p:sp>
      <p:graphicFrame>
        <p:nvGraphicFramePr>
          <p:cNvPr id="3" name="Table 2">
            <a:extLst>
              <a:ext uri="{FF2B5EF4-FFF2-40B4-BE49-F238E27FC236}">
                <a16:creationId xmlns:a16="http://schemas.microsoft.com/office/drawing/2014/main" id="{46AA7770-A245-F18F-23E0-22A8789E6C2F}"/>
              </a:ext>
            </a:extLst>
          </p:cNvPr>
          <p:cNvGraphicFramePr>
            <a:graphicFrameLocks noGrp="1"/>
          </p:cNvGraphicFramePr>
          <p:nvPr>
            <p:extLst>
              <p:ext uri="{D42A27DB-BD31-4B8C-83A1-F6EECF244321}">
                <p14:modId xmlns:p14="http://schemas.microsoft.com/office/powerpoint/2010/main" val="1729532660"/>
              </p:ext>
            </p:extLst>
          </p:nvPr>
        </p:nvGraphicFramePr>
        <p:xfrm>
          <a:off x="470211" y="1825625"/>
          <a:ext cx="10906626" cy="4603046"/>
        </p:xfrm>
        <a:graphic>
          <a:graphicData uri="http://schemas.openxmlformats.org/drawingml/2006/table">
            <a:tbl>
              <a:tblPr firstRow="1" bandRow="1">
                <a:tableStyleId>{BC89EF96-8CEA-46FF-86C4-4CE0E7609802}</a:tableStyleId>
              </a:tblPr>
              <a:tblGrid>
                <a:gridCol w="1858319">
                  <a:extLst>
                    <a:ext uri="{9D8B030D-6E8A-4147-A177-3AD203B41FA5}">
                      <a16:colId xmlns:a16="http://schemas.microsoft.com/office/drawing/2014/main" val="861723123"/>
                    </a:ext>
                  </a:extLst>
                </a:gridCol>
                <a:gridCol w="9048307">
                  <a:extLst>
                    <a:ext uri="{9D8B030D-6E8A-4147-A177-3AD203B41FA5}">
                      <a16:colId xmlns:a16="http://schemas.microsoft.com/office/drawing/2014/main" val="2763391718"/>
                    </a:ext>
                  </a:extLst>
                </a:gridCol>
              </a:tblGrid>
              <a:tr h="290855">
                <a:tc>
                  <a:txBody>
                    <a:bodyPr/>
                    <a:lstStyle/>
                    <a:p>
                      <a:pPr>
                        <a:buNone/>
                      </a:pPr>
                      <a:r>
                        <a:rPr lang="en-US" sz="1050" b="1">
                          <a:solidFill>
                            <a:schemeClr val="tx1"/>
                          </a:solidFill>
                          <a:effectLst/>
                          <a:latin typeface="Aptos" panose="020B0004020202020204" pitchFamily="34" charset="0"/>
                        </a:rPr>
                        <a:t>Item</a:t>
                      </a:r>
                      <a:endParaRPr lang="en-US" sz="1050">
                        <a:solidFill>
                          <a:schemeClr val="tx1"/>
                        </a:solidFill>
                        <a:effectLst/>
                        <a:latin typeface="Aptos" panose="020B0004020202020204" pitchFamily="34" charset="0"/>
                      </a:endParaRPr>
                    </a:p>
                  </a:txBody>
                  <a:tcPr marL="4587" marR="4587" marT="3058" marB="3058" anchor="ctr"/>
                </a:tc>
                <a:tc>
                  <a:txBody>
                    <a:bodyPr/>
                    <a:lstStyle/>
                    <a:p>
                      <a:pPr>
                        <a:buNone/>
                      </a:pPr>
                      <a:r>
                        <a:rPr lang="en-US" sz="1050" b="1">
                          <a:solidFill>
                            <a:schemeClr val="tx1"/>
                          </a:solidFill>
                          <a:effectLst/>
                          <a:latin typeface="Aptos" panose="020B0004020202020204" pitchFamily="34" charset="0"/>
                        </a:rPr>
                        <a:t>Details</a:t>
                      </a:r>
                      <a:endParaRPr lang="en-US" sz="1050">
                        <a:solidFill>
                          <a:schemeClr val="tx1"/>
                        </a:solidFill>
                        <a:effectLst/>
                        <a:latin typeface="Aptos" panose="020B0004020202020204" pitchFamily="34" charset="0"/>
                      </a:endParaRPr>
                    </a:p>
                  </a:txBody>
                  <a:tcPr marL="4587" marR="4587" marT="3058" marB="3058" anchor="ctr"/>
                </a:tc>
                <a:extLst>
                  <a:ext uri="{0D108BD9-81ED-4DB2-BD59-A6C34878D82A}">
                    <a16:rowId xmlns:a16="http://schemas.microsoft.com/office/drawing/2014/main" val="3863283207"/>
                  </a:ext>
                </a:extLst>
              </a:tr>
              <a:tr h="997003">
                <a:tc>
                  <a:txBody>
                    <a:bodyPr/>
                    <a:lstStyle/>
                    <a:p>
                      <a:pPr>
                        <a:buNone/>
                      </a:pPr>
                      <a:r>
                        <a:rPr lang="en-US" sz="1050" b="1">
                          <a:solidFill>
                            <a:schemeClr val="tx1"/>
                          </a:solidFill>
                          <a:effectLst/>
                          <a:latin typeface="Aptos" panose="020B0004020202020204" pitchFamily="34" charset="0"/>
                        </a:rPr>
                        <a:t>Summary</a:t>
                      </a:r>
                      <a:endParaRPr lang="en-US" sz="1050">
                        <a:solidFill>
                          <a:schemeClr val="tx1"/>
                        </a:solidFill>
                        <a:effectLst/>
                        <a:latin typeface="Aptos" panose="020B0004020202020204" pitchFamily="34" charset="0"/>
                      </a:endParaRPr>
                    </a:p>
                  </a:txBody>
                  <a:tcPr marL="4587" marR="4587" marT="3058" marB="3058" anchor="ctr"/>
                </a:tc>
                <a:tc>
                  <a:txBody>
                    <a:bodyPr/>
                    <a:lstStyle/>
                    <a:p>
                      <a:pPr>
                        <a:buNone/>
                      </a:pPr>
                      <a:r>
                        <a:rPr lang="en-US" sz="1050" dirty="0">
                          <a:solidFill>
                            <a:schemeClr val="tx1"/>
                          </a:solidFill>
                          <a:effectLst/>
                          <a:latin typeface="Aptos" panose="020B0004020202020204" pitchFamily="34" charset="0"/>
                        </a:rPr>
                        <a:t>As an application developer or enterprise customer, I want to verify (using my application server/backend service) that a defined group of SIM-based devices are physically co-located within a specific zone and time window — so that I can automate trust decisions for security-sensitive physical workflows without exposing any device location to my application.</a:t>
                      </a:r>
                    </a:p>
                  </a:txBody>
                  <a:tcPr marL="4587" marR="4587" marT="3058" marB="3058" anchor="ctr"/>
                </a:tc>
                <a:extLst>
                  <a:ext uri="{0D108BD9-81ED-4DB2-BD59-A6C34878D82A}">
                    <a16:rowId xmlns:a16="http://schemas.microsoft.com/office/drawing/2014/main" val="1319551850"/>
                  </a:ext>
                </a:extLst>
              </a:tr>
              <a:tr h="1360328">
                <a:tc>
                  <a:txBody>
                    <a:bodyPr/>
                    <a:lstStyle/>
                    <a:p>
                      <a:pPr>
                        <a:buNone/>
                      </a:pPr>
                      <a:r>
                        <a:rPr lang="en-US" sz="1050" b="1">
                          <a:solidFill>
                            <a:schemeClr val="tx1"/>
                          </a:solidFill>
                          <a:effectLst/>
                          <a:latin typeface="Aptos" panose="020B0004020202020204" pitchFamily="34" charset="0"/>
                        </a:rPr>
                        <a:t>Roles, Actors and Scope</a:t>
                      </a:r>
                      <a:endParaRPr lang="en-US" sz="1050">
                        <a:solidFill>
                          <a:schemeClr val="tx1"/>
                        </a:solidFill>
                        <a:effectLst/>
                        <a:latin typeface="Aptos" panose="020B0004020202020204" pitchFamily="34" charset="0"/>
                      </a:endParaRPr>
                    </a:p>
                  </a:txBody>
                  <a:tcPr marL="4587" marR="4587" marT="3058" marB="3058" anchor="ctr"/>
                </a:tc>
                <a:tc>
                  <a:txBody>
                    <a:bodyPr/>
                    <a:lstStyle/>
                    <a:p>
                      <a:pPr>
                        <a:buNone/>
                      </a:pPr>
                      <a:r>
                        <a:rPr lang="en-US" sz="1050" b="1">
                          <a:solidFill>
                            <a:schemeClr val="tx1"/>
                          </a:solidFill>
                          <a:effectLst/>
                          <a:latin typeface="Aptos" panose="020B0004020202020204" pitchFamily="34" charset="0"/>
                        </a:rPr>
                        <a:t>Roles:</a:t>
                      </a:r>
                      <a:r>
                        <a:rPr lang="en-US" sz="1050">
                          <a:solidFill>
                            <a:schemeClr val="tx1"/>
                          </a:solidFill>
                          <a:effectLst/>
                          <a:latin typeface="Aptos" panose="020B0004020202020204" pitchFamily="34" charset="0"/>
                        </a:rPr>
                        <a:t> Enterprise Customer</a:t>
                      </a:r>
                    </a:p>
                    <a:p>
                      <a:pPr>
                        <a:buNone/>
                      </a:pPr>
                      <a:r>
                        <a:rPr lang="en-US" sz="1050" b="1">
                          <a:solidFill>
                            <a:schemeClr val="tx1"/>
                          </a:solidFill>
                          <a:effectLst/>
                          <a:latin typeface="Aptos" panose="020B0004020202020204" pitchFamily="34" charset="0"/>
                        </a:rPr>
                        <a:t>Actors:</a:t>
                      </a:r>
                      <a:r>
                        <a:rPr lang="en-US" sz="1050">
                          <a:solidFill>
                            <a:schemeClr val="tx1"/>
                          </a:solidFill>
                          <a:effectLst/>
                          <a:latin typeface="Aptos" panose="020B0004020202020204" pitchFamily="34" charset="0"/>
                        </a:rPr>
                        <a:t> Application developers, enterprise security teams, industry customers (banking, logistics, field services, healthcare)</a:t>
                      </a:r>
                    </a:p>
                    <a:p>
                      <a:pPr>
                        <a:buNone/>
                      </a:pPr>
                      <a:r>
                        <a:rPr lang="en-US" sz="1050" b="1">
                          <a:solidFill>
                            <a:schemeClr val="tx1"/>
                          </a:solidFill>
                          <a:effectLst/>
                          <a:latin typeface="Aptos" panose="020B0004020202020204" pitchFamily="34" charset="0"/>
                        </a:rPr>
                        <a:t>Scope:</a:t>
                      </a:r>
                      <a:r>
                        <a:rPr lang="en-US" sz="1050">
                          <a:solidFill>
                            <a:schemeClr val="tx1"/>
                          </a:solidFill>
                          <a:effectLst/>
                          <a:latin typeface="Aptos" panose="020B0004020202020204" pitchFamily="34" charset="0"/>
                        </a:rPr>
                        <a:t> </a:t>
                      </a:r>
                    </a:p>
                    <a:p>
                      <a:pPr marL="628650" lvl="1" indent="-171450">
                        <a:buFont typeface="Courier New" panose="02070309020205020404" pitchFamily="49" charset="0"/>
                        <a:buChar char="o"/>
                      </a:pPr>
                      <a:r>
                        <a:rPr lang="en-US" sz="1050">
                          <a:solidFill>
                            <a:schemeClr val="tx1"/>
                          </a:solidFill>
                          <a:effectLst/>
                          <a:latin typeface="Aptos" panose="020B0004020202020204" pitchFamily="34" charset="0"/>
                        </a:rPr>
                        <a:t>On-demand co-presence verification (POST /verify) — Submit device cluster, get group verdict + attestation token</a:t>
                      </a:r>
                    </a:p>
                    <a:p>
                      <a:pPr marL="628650" lvl="1" indent="-171450">
                        <a:buFont typeface="Courier New" panose="02070309020205020404" pitchFamily="49" charset="0"/>
                        <a:buChar char="o"/>
                      </a:pPr>
                      <a:r>
                        <a:rPr lang="en-US" sz="1050">
                          <a:solidFill>
                            <a:schemeClr val="tx1"/>
                          </a:solidFill>
                          <a:effectLst/>
                          <a:latin typeface="Aptos" panose="020B0004020202020204" pitchFamily="34" charset="0"/>
                        </a:rPr>
                        <a:t>Subscription-based continuous monitoring (POST /assembly-subscriptions) — Create / Query / Modify / Delete a monitored cluster subscription with webhook-based verdict change notifications</a:t>
                      </a:r>
                    </a:p>
                  </a:txBody>
                  <a:tcPr marL="4587" marR="4587" marT="3058" marB="3058" anchor="ctr"/>
                </a:tc>
                <a:extLst>
                  <a:ext uri="{0D108BD9-81ED-4DB2-BD59-A6C34878D82A}">
                    <a16:rowId xmlns:a16="http://schemas.microsoft.com/office/drawing/2014/main" val="1212372763"/>
                  </a:ext>
                </a:extLst>
              </a:tr>
              <a:tr h="1954860">
                <a:tc>
                  <a:txBody>
                    <a:bodyPr/>
                    <a:lstStyle/>
                    <a:p>
                      <a:pPr>
                        <a:buNone/>
                      </a:pPr>
                      <a:r>
                        <a:rPr lang="en-US" sz="1050" b="1">
                          <a:solidFill>
                            <a:schemeClr val="tx1"/>
                          </a:solidFill>
                          <a:effectLst/>
                          <a:latin typeface="Aptos" panose="020B0004020202020204" pitchFamily="34" charset="0"/>
                        </a:rPr>
                        <a:t>Activities / Steps</a:t>
                      </a:r>
                      <a:endParaRPr lang="en-US" sz="1050">
                        <a:solidFill>
                          <a:schemeClr val="tx1"/>
                        </a:solidFill>
                        <a:effectLst/>
                        <a:latin typeface="Aptos" panose="020B0004020202020204" pitchFamily="34" charset="0"/>
                      </a:endParaRPr>
                    </a:p>
                  </a:txBody>
                  <a:tcPr marL="4587" marR="4587" marT="3058" marB="3058" anchor="ctr"/>
                </a:tc>
                <a:tc>
                  <a:txBody>
                    <a:bodyPr/>
                    <a:lstStyle/>
                    <a:p>
                      <a:pPr>
                        <a:buNone/>
                      </a:pPr>
                      <a:r>
                        <a:rPr lang="en-US" sz="1050" b="1" dirty="0">
                          <a:solidFill>
                            <a:schemeClr val="tx1"/>
                          </a:solidFill>
                          <a:effectLst/>
                          <a:latin typeface="Aptos" panose="020B0004020202020204" pitchFamily="34" charset="0"/>
                        </a:rPr>
                        <a:t>Starts when:</a:t>
                      </a:r>
                      <a:r>
                        <a:rPr lang="en-US" sz="1050" dirty="0">
                          <a:solidFill>
                            <a:schemeClr val="tx1"/>
                          </a:solidFill>
                          <a:effectLst/>
                          <a:latin typeface="Aptos" panose="020B0004020202020204" pitchFamily="34" charset="0"/>
                        </a:rPr>
                        <a:t> The customer application server makes a POST /verify request (including device cluster identifiers, zone definition, time window tolerance, and k-of-n threshold) to the NAA API, triggering operator-side co-presence resolution across all specified SIM/</a:t>
                      </a:r>
                      <a:r>
                        <a:rPr lang="en-US" sz="1050" dirty="0" err="1">
                          <a:solidFill>
                            <a:schemeClr val="tx1"/>
                          </a:solidFill>
                          <a:effectLst/>
                          <a:latin typeface="Aptos" panose="020B0004020202020204" pitchFamily="34" charset="0"/>
                        </a:rPr>
                        <a:t>eSIM</a:t>
                      </a:r>
                      <a:r>
                        <a:rPr lang="en-US" sz="1050" dirty="0">
                          <a:solidFill>
                            <a:schemeClr val="tx1"/>
                          </a:solidFill>
                          <a:effectLst/>
                          <a:latin typeface="Aptos" panose="020B0004020202020204" pitchFamily="34" charset="0"/>
                        </a:rPr>
                        <a:t> devices.</a:t>
                      </a:r>
                    </a:p>
                    <a:p>
                      <a:pPr>
                        <a:buNone/>
                      </a:pPr>
                      <a:r>
                        <a:rPr lang="en-US" sz="1050" b="1" dirty="0">
                          <a:solidFill>
                            <a:schemeClr val="tx1"/>
                          </a:solidFill>
                          <a:effectLst/>
                          <a:latin typeface="Aptos" panose="020B0004020202020204" pitchFamily="34" charset="0"/>
                        </a:rPr>
                        <a:t>Returns:</a:t>
                      </a:r>
                      <a:r>
                        <a:rPr lang="en-US" sz="1050" dirty="0">
                          <a:solidFill>
                            <a:schemeClr val="tx1"/>
                          </a:solidFill>
                          <a:effectLst/>
                          <a:latin typeface="Aptos" panose="020B0004020202020204" pitchFamily="34" charset="0"/>
                        </a:rPr>
                        <a:t> A group verdict (</a:t>
                      </a:r>
                      <a:r>
                        <a:rPr lang="en-US" sz="1050" dirty="0" err="1">
                          <a:solidFill>
                            <a:schemeClr val="tx1"/>
                          </a:solidFill>
                          <a:effectLst/>
                          <a:latin typeface="Aptos" panose="020B0004020202020204" pitchFamily="34" charset="0"/>
                        </a:rPr>
                        <a:t>co_present</a:t>
                      </a:r>
                      <a:r>
                        <a:rPr lang="en-US" sz="1050" dirty="0">
                          <a:solidFill>
                            <a:schemeClr val="tx1"/>
                          </a:solidFill>
                          <a:effectLst/>
                          <a:latin typeface="Aptos" panose="020B0004020202020204" pitchFamily="34" charset="0"/>
                        </a:rPr>
                        <a:t> / partial / </a:t>
                      </a:r>
                      <a:r>
                        <a:rPr lang="en-US" sz="1050" dirty="0" err="1">
                          <a:solidFill>
                            <a:schemeClr val="tx1"/>
                          </a:solidFill>
                          <a:effectLst/>
                          <a:latin typeface="Aptos" panose="020B0004020202020204" pitchFamily="34" charset="0"/>
                        </a:rPr>
                        <a:t>not_co_present</a:t>
                      </a:r>
                      <a:r>
                        <a:rPr lang="en-US" sz="1050" dirty="0">
                          <a:solidFill>
                            <a:schemeClr val="tx1"/>
                          </a:solidFill>
                          <a:effectLst/>
                          <a:latin typeface="Aptos" panose="020B0004020202020204" pitchFamily="34" charset="0"/>
                        </a:rPr>
                        <a:t>) and a signed privacy-preserving attestation token. No individual device location is returned to the </a:t>
                      </a:r>
                      <a:r>
                        <a:rPr lang="en-US" sz="1050" dirty="0" err="1">
                          <a:solidFill>
                            <a:schemeClr val="tx1"/>
                          </a:solidFill>
                          <a:effectLst/>
                          <a:latin typeface="Aptos" panose="020B0004020202020204" pitchFamily="34" charset="0"/>
                        </a:rPr>
                        <a:t>caller</a:t>
                      </a:r>
                      <a:r>
                        <a:rPr lang="en-US" sz="1050" b="1" dirty="0" err="1">
                          <a:solidFill>
                            <a:schemeClr val="tx1"/>
                          </a:solidFill>
                          <a:effectLst/>
                          <a:latin typeface="Aptos" panose="020B0004020202020204" pitchFamily="34" charset="0"/>
                        </a:rPr>
                        <a:t>For</a:t>
                      </a:r>
                      <a:r>
                        <a:rPr lang="en-US" sz="1050" b="1" dirty="0">
                          <a:solidFill>
                            <a:schemeClr val="tx1"/>
                          </a:solidFill>
                          <a:effectLst/>
                          <a:latin typeface="Aptos" panose="020B0004020202020204" pitchFamily="34" charset="0"/>
                        </a:rPr>
                        <a:t> subscriptions — Ends when:</a:t>
                      </a:r>
                      <a:r>
                        <a:rPr lang="en-US" sz="1050" dirty="0">
                          <a:solidFill>
                            <a:schemeClr val="tx1"/>
                          </a:solidFill>
                          <a:effectLst/>
                          <a:latin typeface="Aptos" panose="020B0004020202020204" pitchFamily="34" charset="0"/>
                        </a:rPr>
                        <a:t> The customer application server makes a DELETE /assembly-subscriptions/{id} request, or the subscription expires automatically when </a:t>
                      </a:r>
                      <a:r>
                        <a:rPr lang="en-US" sz="1050" dirty="0" err="1">
                          <a:solidFill>
                            <a:schemeClr val="tx1"/>
                          </a:solidFill>
                          <a:effectLst/>
                          <a:latin typeface="Aptos" panose="020B0004020202020204" pitchFamily="34" charset="0"/>
                        </a:rPr>
                        <a:t>subscriptionExpireTime</a:t>
                      </a:r>
                      <a:r>
                        <a:rPr lang="en-US" sz="1050" dirty="0">
                          <a:solidFill>
                            <a:schemeClr val="tx1"/>
                          </a:solidFill>
                          <a:effectLst/>
                          <a:latin typeface="Aptos" panose="020B0004020202020204" pitchFamily="34" charset="0"/>
                        </a:rPr>
                        <a:t> is reached or </a:t>
                      </a:r>
                      <a:r>
                        <a:rPr lang="en-US" sz="1050" dirty="0" err="1">
                          <a:solidFill>
                            <a:schemeClr val="tx1"/>
                          </a:solidFill>
                          <a:effectLst/>
                          <a:latin typeface="Aptos" panose="020B0004020202020204" pitchFamily="34" charset="0"/>
                        </a:rPr>
                        <a:t>subscriptionMaxEvents</a:t>
                      </a:r>
                      <a:r>
                        <a:rPr lang="en-US" sz="1050" dirty="0">
                          <a:solidFill>
                            <a:schemeClr val="tx1"/>
                          </a:solidFill>
                          <a:effectLst/>
                          <a:latin typeface="Aptos" panose="020B0004020202020204" pitchFamily="34" charset="0"/>
                        </a:rPr>
                        <a:t> is exhausted.</a:t>
                      </a:r>
                    </a:p>
                  </a:txBody>
                  <a:tcPr marL="4587" marR="4587" marT="3058" marB="3058" anchor="ctr"/>
                </a:tc>
                <a:extLst>
                  <a:ext uri="{0D108BD9-81ED-4DB2-BD59-A6C34878D82A}">
                    <a16:rowId xmlns:a16="http://schemas.microsoft.com/office/drawing/2014/main" val="179680888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2425" y="378460"/>
            <a:ext cx="7780655" cy="829945"/>
          </a:xfrm>
        </p:spPr>
        <p:txBody>
          <a:bodyPr>
            <a:normAutofit/>
          </a:bodyPr>
          <a:lstStyle/>
          <a:p>
            <a:r>
              <a:rPr lang="en-US" altLang="zh-CN" sz="3110">
                <a:latin typeface="Aptos" panose="020B0004020202020204" pitchFamily="34" charset="0"/>
                <a:ea typeface="微软雅黑" panose="020B0503020204020204" pitchFamily="34" charset="-122"/>
                <a:sym typeface="+mn-ea"/>
              </a:rPr>
              <a:t>API  Deliverables status </a:t>
            </a:r>
          </a:p>
        </p:txBody>
      </p:sp>
      <p:graphicFrame>
        <p:nvGraphicFramePr>
          <p:cNvPr id="5" name="table 5"/>
          <p:cNvGraphicFramePr>
            <a:graphicFrameLocks noGrp="1"/>
          </p:cNvGraphicFramePr>
          <p:nvPr>
            <p:custDataLst>
              <p:tags r:id="rId1"/>
            </p:custDataLst>
            <p:extLst>
              <p:ext uri="{D42A27DB-BD31-4B8C-83A1-F6EECF244321}">
                <p14:modId xmlns:p14="http://schemas.microsoft.com/office/powerpoint/2010/main" val="3320562350"/>
              </p:ext>
            </p:extLst>
          </p:nvPr>
        </p:nvGraphicFramePr>
        <p:xfrm>
          <a:off x="855980" y="2093595"/>
          <a:ext cx="5605780" cy="3512820"/>
        </p:xfrm>
        <a:graphic>
          <a:graphicData uri="http://schemas.openxmlformats.org/drawingml/2006/table">
            <a:tbl>
              <a:tblPr>
                <a:effectLst/>
                <a:tableStyleId>{5940675A-B579-460E-94D1-54222C63F5DA}</a:tableStyleId>
              </a:tblPr>
              <a:tblGrid>
                <a:gridCol w="1908810">
                  <a:extLst>
                    <a:ext uri="{9D8B030D-6E8A-4147-A177-3AD203B41FA5}">
                      <a16:colId xmlns:a16="http://schemas.microsoft.com/office/drawing/2014/main" val="20000"/>
                    </a:ext>
                  </a:extLst>
                </a:gridCol>
                <a:gridCol w="1007745">
                  <a:extLst>
                    <a:ext uri="{9D8B030D-6E8A-4147-A177-3AD203B41FA5}">
                      <a16:colId xmlns:a16="http://schemas.microsoft.com/office/drawing/2014/main" val="20001"/>
                    </a:ext>
                  </a:extLst>
                </a:gridCol>
                <a:gridCol w="2689225">
                  <a:extLst>
                    <a:ext uri="{9D8B030D-6E8A-4147-A177-3AD203B41FA5}">
                      <a16:colId xmlns:a16="http://schemas.microsoft.com/office/drawing/2014/main" val="20002"/>
                    </a:ext>
                  </a:extLst>
                </a:gridCol>
              </a:tblGrid>
              <a:tr h="849630">
                <a:tc gridSpan="3">
                  <a:txBody>
                    <a:bodyPr/>
                    <a:lstStyle/>
                    <a:p>
                      <a:pPr algn="l" rtl="0" eaLnBrk="0">
                        <a:lnSpc>
                          <a:spcPct val="102000"/>
                        </a:lnSpc>
                      </a:pPr>
                      <a:endParaRPr lang="en-US" altLang="en-US" sz="500" dirty="0"/>
                    </a:p>
                    <a:p>
                      <a:pPr marL="94615" algn="l" rtl="0" eaLnBrk="0">
                        <a:lnSpc>
                          <a:spcPct val="91000"/>
                        </a:lnSpc>
                        <a:spcBef>
                          <a:spcPts val="0"/>
                        </a:spcBef>
                      </a:pPr>
                      <a:r>
                        <a:rPr sz="1400" b="1" i="0" spc="-30" dirty="0">
                          <a:solidFill>
                            <a:srgbClr val="000000">
                              <a:alpha val="100000"/>
                            </a:srgbClr>
                          </a:solidFill>
                          <a:latin typeface="Arial" panose="020B0604020202020204"/>
                          <a:ea typeface="Arial" panose="020B0604020202020204"/>
                          <a:cs typeface="Arial" panose="020B0604020202020204"/>
                        </a:rPr>
                        <a:t>Deliverable</a:t>
                      </a:r>
                      <a:r>
                        <a:rPr sz="1400" i="0" spc="-30" dirty="0">
                          <a:solidFill>
                            <a:srgbClr val="000000">
                              <a:alpha val="100000"/>
                            </a:srgbClr>
                          </a:solidFill>
                          <a:latin typeface="Arial" panose="020B0604020202020204"/>
                          <a:ea typeface="Arial" panose="020B0604020202020204"/>
                          <a:cs typeface="Arial" panose="020B0604020202020204"/>
                        </a:rPr>
                        <a:t>                               </a:t>
                      </a:r>
                      <a:r>
                        <a:rPr sz="1400" b="1" i="0" spc="-30" dirty="0">
                          <a:solidFill>
                            <a:srgbClr val="000000">
                              <a:alpha val="100000"/>
                            </a:srgbClr>
                          </a:solidFill>
                          <a:latin typeface="Arial" panose="020B0604020202020204"/>
                          <a:ea typeface="Arial" panose="020B0604020202020204"/>
                          <a:cs typeface="Arial" panose="020B0604020202020204"/>
                        </a:rPr>
                        <a:t>Required/Optional</a:t>
                      </a:r>
                      <a:r>
                        <a:rPr sz="1400" i="0" spc="-30" dirty="0">
                          <a:solidFill>
                            <a:srgbClr val="000000">
                              <a:alpha val="100000"/>
                            </a:srgbClr>
                          </a:solidFill>
                          <a:latin typeface="Arial" panose="020B0604020202020204"/>
                          <a:ea typeface="Arial" panose="020B0604020202020204"/>
                          <a:cs typeface="Arial" panose="020B0604020202020204"/>
                        </a:rPr>
                        <a:t> </a:t>
                      </a:r>
                      <a:r>
                        <a:rPr sz="1400" b="1" i="0" spc="-30" dirty="0">
                          <a:solidFill>
                            <a:srgbClr val="000000">
                              <a:alpha val="100000"/>
                            </a:srgbClr>
                          </a:solidFill>
                          <a:latin typeface="Arial" panose="020B0604020202020204"/>
                          <a:ea typeface="Arial" panose="020B0604020202020204"/>
                          <a:cs typeface="Arial" panose="020B0604020202020204"/>
                        </a:rPr>
                        <a:t>(R/O)</a:t>
                      </a:r>
                      <a:r>
                        <a:rPr sz="1400" i="0" spc="-30" dirty="0">
                          <a:solidFill>
                            <a:srgbClr val="000000">
                              <a:alpha val="100000"/>
                            </a:srgbClr>
                          </a:solidFill>
                          <a:latin typeface="Arial" panose="020B0604020202020204"/>
                          <a:ea typeface="Arial" panose="020B0604020202020204"/>
                          <a:cs typeface="Arial" panose="020B0604020202020204"/>
                        </a:rPr>
                        <a:t>           </a:t>
                      </a:r>
                      <a:r>
                        <a:rPr sz="1400" b="1" i="0" spc="-30" dirty="0">
                          <a:solidFill>
                            <a:srgbClr val="000000">
                              <a:alpha val="100000"/>
                            </a:srgbClr>
                          </a:solidFill>
                          <a:latin typeface="Arial" panose="020B0604020202020204"/>
                          <a:ea typeface="Arial" panose="020B0604020202020204"/>
                          <a:cs typeface="Arial" panose="020B0604020202020204"/>
                        </a:rPr>
                        <a:t>C</a:t>
                      </a:r>
                      <a:r>
                        <a:rPr sz="1400" b="1" i="0" spc="0" dirty="0">
                          <a:solidFill>
                            <a:srgbClr val="000000">
                              <a:alpha val="100000"/>
                            </a:srgbClr>
                          </a:solidFill>
                          <a:latin typeface="Arial" panose="020B0604020202020204"/>
                          <a:ea typeface="Arial" panose="020B0604020202020204"/>
                          <a:cs typeface="Arial" panose="020B0604020202020204"/>
                        </a:rPr>
                        <a:t>urrent</a:t>
                      </a:r>
                      <a:r>
                        <a:rPr sz="1400" i="0" spc="-30" dirty="0">
                          <a:solidFill>
                            <a:srgbClr val="000000">
                              <a:alpha val="100000"/>
                            </a:srgbClr>
                          </a:solidFill>
                          <a:latin typeface="Arial" panose="020B0604020202020204"/>
                          <a:ea typeface="Arial" panose="020B0604020202020204"/>
                          <a:cs typeface="Arial" panose="020B0604020202020204"/>
                        </a:rPr>
                        <a:t> </a:t>
                      </a:r>
                      <a:r>
                        <a:rPr sz="1400" b="1" i="0" spc="0" dirty="0">
                          <a:solidFill>
                            <a:srgbClr val="000000">
                              <a:alpha val="100000"/>
                            </a:srgbClr>
                          </a:solidFill>
                          <a:latin typeface="Arial" panose="020B0604020202020204"/>
                          <a:ea typeface="Arial" panose="020B0604020202020204"/>
                          <a:cs typeface="Arial" panose="020B0604020202020204"/>
                        </a:rPr>
                        <a:t>status</a:t>
                      </a:r>
                      <a:endParaRPr lang="en-US" altLang="en-US" sz="1400" i="0" dirty="0">
                        <a:solidFill>
                          <a:srgbClr val="000000"/>
                        </a:solidFill>
                      </a:endParaRPr>
                    </a:p>
                  </a:txBody>
                  <a:tcPr marL="0" marR="0" marT="0" marB="0">
                    <a:lnL>
                      <a:noFill/>
                    </a:lnL>
                    <a:lnR>
                      <a:noFill/>
                    </a:lnR>
                    <a:lnT w="3175" cap="flat" cmpd="sng" algn="ctr">
                      <a:solidFill>
                        <a:srgbClr val="A4DEEE"/>
                      </a:solidFill>
                      <a:prstDash val="solid"/>
                      <a:round/>
                      <a:headEnd type="none" w="med" len="med"/>
                      <a:tailEnd type="none" w="med" len="med"/>
                    </a:lnT>
                    <a:lnB w="3175" cap="flat" cmpd="sng" algn="ctr">
                      <a:solidFill>
                        <a:srgbClr val="A4DEEE"/>
                      </a:solidFill>
                      <a:prstDash val="solid"/>
                      <a:round/>
                      <a:headEnd type="none" w="med" len="med"/>
                      <a:tailEnd type="none" w="med" len="med"/>
                    </a:lnB>
                    <a:noFill/>
                  </a:tcPr>
                </a:tc>
                <a:tc hMerge="1">
                  <a:txBody>
                    <a:bodyPr/>
                    <a:lstStyle/>
                    <a:p>
                      <a:endParaRPr lang="en-US"/>
                    </a:p>
                  </a:txBody>
                  <a:tcPr marL="0" marR="0" marT="0" marB="0">
                    <a:lnL>
                      <a:noFill/>
                    </a:lnL>
                    <a:lnR>
                      <a:noFill/>
                    </a:lnR>
                    <a:lnT w="3175" cap="flat" cmpd="sng" algn="ctr">
                      <a:solidFill>
                        <a:srgbClr val="A4DEEE"/>
                      </a:solidFill>
                      <a:prstDash val="solid"/>
                      <a:round/>
                      <a:headEnd type="none" w="med" len="med"/>
                      <a:tailEnd type="none" w="med" len="med"/>
                    </a:lnT>
                    <a:lnB w="3175" cap="flat" cmpd="sng" algn="ctr">
                      <a:solidFill>
                        <a:srgbClr val="A4DEEE"/>
                      </a:solidFill>
                      <a:prstDash val="solid"/>
                      <a:round/>
                      <a:headEnd type="none" w="med" len="med"/>
                      <a:tailEnd type="none" w="med" len="med"/>
                    </a:lnB>
                  </a:tcPr>
                </a:tc>
                <a:tc hMerge="1">
                  <a:txBody>
                    <a:bodyPr/>
                    <a:lstStyle/>
                    <a:p>
                      <a:endParaRPr lang="en-US"/>
                    </a:p>
                  </a:txBody>
                  <a:tcPr marL="0" marR="0" marT="0" marB="0">
                    <a:lnL>
                      <a:noFill/>
                    </a:lnL>
                    <a:lnR>
                      <a:noFill/>
                    </a:lnR>
                    <a:lnT w="3175" cap="flat" cmpd="sng" algn="ctr">
                      <a:solidFill>
                        <a:srgbClr val="A4DEEE"/>
                      </a:solidFill>
                      <a:prstDash val="solid"/>
                      <a:round/>
                      <a:headEnd type="none" w="med" len="med"/>
                      <a:tailEnd type="none" w="med" len="med"/>
                    </a:lnT>
                    <a:lnB w="3175" cap="flat" cmpd="sng" algn="ctr">
                      <a:solidFill>
                        <a:srgbClr val="A4DEEE"/>
                      </a:solidFill>
                      <a:prstDash val="solid"/>
                      <a:round/>
                      <a:headEnd type="none" w="med" len="med"/>
                      <a:tailEnd type="none" w="med" len="med"/>
                    </a:lnB>
                  </a:tcPr>
                </a:tc>
                <a:extLst>
                  <a:ext uri="{0D108BD9-81ED-4DB2-BD59-A6C34878D82A}">
                    <a16:rowId xmlns:a16="http://schemas.microsoft.com/office/drawing/2014/main" val="10000"/>
                  </a:ext>
                </a:extLst>
              </a:tr>
              <a:tr h="483870">
                <a:tc>
                  <a:txBody>
                    <a:bodyPr/>
                    <a:lstStyle/>
                    <a:p>
                      <a:pPr algn="l" rtl="0" eaLnBrk="0">
                        <a:lnSpc>
                          <a:spcPct val="118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455" algn="l" rtl="0" eaLnBrk="0">
                        <a:lnSpc>
                          <a:spcPct val="99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API Spe</a:t>
                      </a:r>
                      <a:r>
                        <a:rPr lang="en-US" altLang="en-US" sz="1400" spc="0">
                          <a:solidFill>
                            <a:srgbClr val="000000"/>
                          </a:solidFill>
                          <a:latin typeface="微软雅黑" panose="020B0503020204020204" pitchFamily="34" charset="-122"/>
                          <a:ea typeface="微软雅黑" panose="020B0503020204020204" pitchFamily="34" charset="-122"/>
                        </a:rPr>
                        <a:t>cs</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w="3175" cap="flat" cmpd="sng" algn="ctr">
                      <a:solidFill>
                        <a:srgbClr val="A4DEEE"/>
                      </a:solidFill>
                      <a:prstDash val="solid"/>
                      <a:round/>
                      <a:headEnd type="none" w="med" len="med"/>
                      <a:tailEnd type="none" w="med" len="med"/>
                    </a:lnT>
                    <a:lnB>
                      <a:noFill/>
                    </a:lnB>
                    <a:solidFill>
                      <a:srgbClr val="EDF7FC"/>
                    </a:solidFill>
                  </a:tcPr>
                </a:tc>
                <a:tc>
                  <a:txBody>
                    <a:bodyPr/>
                    <a:lstStyle/>
                    <a:p>
                      <a:pPr algn="l" rtl="0" eaLnBrk="0">
                        <a:lnSpc>
                          <a:spcPct val="114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0"/>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w="3175" cap="flat" cmpd="sng" algn="ctr">
                      <a:solidFill>
                        <a:srgbClr val="A4DEEE"/>
                      </a:solidFill>
                      <a:prstDash val="solid"/>
                      <a:round/>
                      <a:headEnd type="none" w="med" len="med"/>
                      <a:tailEnd type="none" w="med" len="med"/>
                    </a:lnT>
                    <a:lnB>
                      <a:noFill/>
                    </a:lnB>
                    <a:solidFill>
                      <a:srgbClr val="EDF7FC"/>
                    </a:solidFill>
                  </a:tcPr>
                </a:tc>
                <a:tc>
                  <a:txBody>
                    <a:bodyPr/>
                    <a:lstStyle/>
                    <a:p>
                      <a:pPr algn="l" rtl="0" eaLnBrk="0">
                        <a:lnSpc>
                          <a:spcPct val="113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1160145" algn="l" rtl="0" eaLnBrk="0">
                        <a:lnSpc>
                          <a:spcPct val="80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sym typeface="+mn-ea"/>
                        </a:rPr>
                        <a:t>In Progress</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w="3175" cap="flat" cmpd="sng" algn="ctr">
                      <a:solidFill>
                        <a:srgbClr val="A4DEEE"/>
                      </a:solidFill>
                      <a:prstDash val="solid"/>
                      <a:round/>
                      <a:headEnd type="none" w="med" len="med"/>
                      <a:tailEnd type="none" w="med" len="med"/>
                    </a:lnT>
                    <a:lnB>
                      <a:noFill/>
                    </a:lnB>
                    <a:solidFill>
                      <a:srgbClr val="EDF7FC"/>
                    </a:solidFill>
                  </a:tcPr>
                </a:tc>
                <a:extLst>
                  <a:ext uri="{0D108BD9-81ED-4DB2-BD59-A6C34878D82A}">
                    <a16:rowId xmlns:a16="http://schemas.microsoft.com/office/drawing/2014/main" val="10001"/>
                  </a:ext>
                </a:extLst>
              </a:tr>
              <a:tr h="701675">
                <a:tc>
                  <a:txBody>
                    <a:bodyPr/>
                    <a:lstStyle/>
                    <a:p>
                      <a:pPr algn="l" rtl="0" eaLnBrk="0">
                        <a:lnSpc>
                          <a:spcPct val="114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455" algn="l" rtl="0" eaLnBrk="0">
                        <a:lnSpc>
                          <a:spcPts val="1805"/>
                        </a:lnSpc>
                      </a:pPr>
                      <a:r>
                        <a:rPr lang="en-US" altLang="en-US" sz="1400">
                          <a:solidFill>
                            <a:srgbClr val="000000"/>
                          </a:solidFill>
                          <a:latin typeface="微软雅黑" panose="020B0503020204020204" pitchFamily="34" charset="-122"/>
                          <a:ea typeface="微软雅黑" panose="020B0503020204020204" pitchFamily="34" charset="-122"/>
                        </a:rPr>
                        <a:t>API documentation</a:t>
                      </a:r>
                    </a:p>
                  </a:txBody>
                  <a:tcPr marL="0" marR="0" marT="0" marB="0">
                    <a:lnL>
                      <a:noFill/>
                    </a:lnL>
                    <a:lnR>
                      <a:noFill/>
                    </a:lnR>
                    <a:lnT>
                      <a:noFill/>
                    </a:lnT>
                    <a:lnB>
                      <a:noFill/>
                    </a:lnB>
                    <a:noFill/>
                  </a:tcPr>
                </a:tc>
                <a:tc>
                  <a:txBody>
                    <a:bodyPr/>
                    <a:lstStyle/>
                    <a:p>
                      <a:pPr algn="l" rtl="0" eaLnBrk="0">
                        <a:lnSpc>
                          <a:spcPct val="110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0"/>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tc>
                  <a:txBody>
                    <a:bodyPr/>
                    <a:lstStyle/>
                    <a:p>
                      <a:pPr algn="l" rtl="0" eaLnBrk="0">
                        <a:lnSpc>
                          <a:spcPct val="115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1171575" algn="l" rtl="0" eaLnBrk="0">
                        <a:lnSpc>
                          <a:spcPct val="91000"/>
                        </a:lnSpc>
                      </a:pPr>
                      <a:r>
                        <a:rPr lang="en-US" altLang="en-US" sz="1400">
                          <a:solidFill>
                            <a:srgbClr val="000000"/>
                          </a:solidFill>
                          <a:latin typeface="微软雅黑" panose="020B0503020204020204" pitchFamily="34" charset="-122"/>
                          <a:ea typeface="微软雅黑" panose="020B0503020204020204" pitchFamily="34" charset="-122"/>
                        </a:rPr>
                        <a:t>TBD</a:t>
                      </a:r>
                    </a:p>
                  </a:txBody>
                  <a:tcPr marL="0" marR="0" marT="0" marB="0">
                    <a:lnL>
                      <a:noFill/>
                    </a:lnL>
                    <a:lnR>
                      <a:noFill/>
                    </a:lnR>
                    <a:lnT>
                      <a:noFill/>
                    </a:lnT>
                    <a:lnB>
                      <a:noFill/>
                    </a:lnB>
                    <a:noFill/>
                  </a:tcPr>
                </a:tc>
                <a:extLst>
                  <a:ext uri="{0D108BD9-81ED-4DB2-BD59-A6C34878D82A}">
                    <a16:rowId xmlns:a16="http://schemas.microsoft.com/office/drawing/2014/main" val="10002"/>
                  </a:ext>
                </a:extLst>
              </a:tr>
              <a:tr h="499110">
                <a:tc>
                  <a:txBody>
                    <a:bodyPr/>
                    <a:lstStyle/>
                    <a:p>
                      <a:pPr algn="l" rtl="0" eaLnBrk="0">
                        <a:lnSpc>
                          <a:spcPct val="100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95250" algn="l" rtl="0" eaLnBrk="0">
                        <a:lnSpc>
                          <a:spcPts val="1805"/>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User stories</a:t>
                      </a:r>
                    </a:p>
                  </a:txBody>
                  <a:tcPr marL="0" marR="0" marT="0" marB="0">
                    <a:lnL>
                      <a:noFill/>
                    </a:lnL>
                    <a:lnR>
                      <a:noFill/>
                    </a:lnR>
                    <a:lnT>
                      <a:noFill/>
                    </a:lnT>
                    <a:lnB>
                      <a:noFill/>
                    </a:lnB>
                    <a:solidFill>
                      <a:srgbClr val="EDF7FB"/>
                    </a:solidFill>
                  </a:tcPr>
                </a:tc>
                <a:tc>
                  <a:txBody>
                    <a:bodyPr/>
                    <a:lstStyle/>
                    <a:p>
                      <a:pPr algn="l" rtl="0" eaLnBrk="0">
                        <a:lnSpc>
                          <a:spcPct val="119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5"/>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solidFill>
                      <a:srgbClr val="EDF7FB"/>
                    </a:solidFill>
                  </a:tcPr>
                </a:tc>
                <a:tc>
                  <a:txBody>
                    <a:bodyPr/>
                    <a:lstStyle/>
                    <a:p>
                      <a:pPr algn="l" rtl="0" eaLnBrk="0">
                        <a:lnSpc>
                          <a:spcPct val="101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1171575" algn="l" rtl="0" eaLnBrk="0">
                        <a:lnSpc>
                          <a:spcPct val="91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Available</a:t>
                      </a:r>
                    </a:p>
                  </a:txBody>
                  <a:tcPr marL="0" marR="0" marT="0" marB="0">
                    <a:lnL>
                      <a:noFill/>
                    </a:lnL>
                    <a:lnR>
                      <a:noFill/>
                    </a:lnR>
                    <a:lnT>
                      <a:noFill/>
                    </a:lnT>
                    <a:lnB>
                      <a:noFill/>
                    </a:lnB>
                    <a:solidFill>
                      <a:srgbClr val="EDF7FB"/>
                    </a:solidFill>
                  </a:tcPr>
                </a:tc>
                <a:extLst>
                  <a:ext uri="{0D108BD9-81ED-4DB2-BD59-A6C34878D82A}">
                    <a16:rowId xmlns:a16="http://schemas.microsoft.com/office/drawing/2014/main" val="10003"/>
                  </a:ext>
                </a:extLst>
              </a:tr>
              <a:tr h="479425">
                <a:tc>
                  <a:txBody>
                    <a:bodyPr/>
                    <a:lstStyle/>
                    <a:p>
                      <a:pPr algn="l" rtl="0" eaLnBrk="0">
                        <a:lnSpc>
                          <a:spcPct val="111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455" algn="l" rtl="0" eaLnBrk="0">
                        <a:lnSpc>
                          <a:spcPts val="1785"/>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Test ca</a:t>
                      </a:r>
                      <a:r>
                        <a:rPr lang="en-US" altLang="en-US" sz="1400" spc="0">
                          <a:solidFill>
                            <a:srgbClr val="000000"/>
                          </a:solidFill>
                          <a:latin typeface="微软雅黑" panose="020B0503020204020204" pitchFamily="34" charset="-122"/>
                          <a:ea typeface="微软雅黑" panose="020B0503020204020204" pitchFamily="34" charset="-122"/>
                        </a:rPr>
                        <a:t>ses</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tc>
                  <a:txBody>
                    <a:bodyPr/>
                    <a:lstStyle/>
                    <a:p>
                      <a:pPr algn="l" rtl="0" eaLnBrk="0">
                        <a:lnSpc>
                          <a:spcPct val="108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0"/>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tc>
                  <a:txBody>
                    <a:bodyPr/>
                    <a:lstStyle/>
                    <a:p>
                      <a:pPr algn="l" rtl="0" eaLnBrk="0">
                        <a:lnSpc>
                          <a:spcPct val="112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1160145" algn="l" rtl="0" eaLnBrk="0">
                        <a:lnSpc>
                          <a:spcPct val="80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sym typeface="+mn-ea"/>
                        </a:rPr>
                        <a:t>TBD</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extLst>
                  <a:ext uri="{0D108BD9-81ED-4DB2-BD59-A6C34878D82A}">
                    <a16:rowId xmlns:a16="http://schemas.microsoft.com/office/drawing/2014/main" val="10004"/>
                  </a:ext>
                </a:extLst>
              </a:tr>
              <a:tr h="499110">
                <a:tc>
                  <a:txBody>
                    <a:bodyPr/>
                    <a:lstStyle/>
                    <a:p>
                      <a:pPr algn="l" rtl="0" eaLnBrk="0">
                        <a:lnSpc>
                          <a:spcPct val="101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96520" algn="l" rtl="0" eaLnBrk="0">
                        <a:lnSpc>
                          <a:spcPct val="92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Implementation</a:t>
                      </a:r>
                    </a:p>
                  </a:txBody>
                  <a:tcPr marL="0" marR="0" marT="0" marB="0">
                    <a:lnL>
                      <a:noFill/>
                    </a:lnL>
                    <a:lnR>
                      <a:noFill/>
                    </a:lnR>
                    <a:lnT>
                      <a:noFill/>
                    </a:lnT>
                    <a:lnB w="3175" cap="flat" cmpd="sng" algn="ctr">
                      <a:solidFill>
                        <a:srgbClr val="A4DEEE"/>
                      </a:solidFill>
                      <a:prstDash val="solid"/>
                      <a:round/>
                      <a:headEnd type="none" w="med" len="med"/>
                      <a:tailEnd type="none" w="med" len="med"/>
                    </a:lnB>
                    <a:solidFill>
                      <a:srgbClr val="EDF7FC"/>
                    </a:solidFill>
                  </a:tcPr>
                </a:tc>
                <a:tc>
                  <a:txBody>
                    <a:bodyPr/>
                    <a:lstStyle/>
                    <a:p>
                      <a:pPr algn="l" rtl="0" eaLnBrk="0">
                        <a:lnSpc>
                          <a:spcPct val="117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6455" algn="l" rtl="0" eaLnBrk="0">
                        <a:lnSpc>
                          <a:spcPct val="81000"/>
                        </a:lnSpc>
                        <a:spcBef>
                          <a:spcPts val="5"/>
                        </a:spcBef>
                      </a:pPr>
                      <a:r>
                        <a:rPr lang="en-US" altLang="en-US" sz="1400" spc="0">
                          <a:solidFill>
                            <a:srgbClr val="000000"/>
                          </a:solidFill>
                          <a:latin typeface="微软雅黑" panose="020B0503020204020204" pitchFamily="34" charset="-122"/>
                          <a:ea typeface="微软雅黑" panose="020B0503020204020204" pitchFamily="34" charset="-122"/>
                        </a:rPr>
                        <a:t>O</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w="3175" cap="flat" cmpd="sng" algn="ctr">
                      <a:solidFill>
                        <a:srgbClr val="A4DEEE"/>
                      </a:solidFill>
                      <a:prstDash val="solid"/>
                      <a:round/>
                      <a:headEnd type="none" w="med" len="med"/>
                      <a:tailEnd type="none" w="med" len="med"/>
                    </a:lnB>
                    <a:solidFill>
                      <a:srgbClr val="EDF7FC"/>
                    </a:solidFill>
                  </a:tcPr>
                </a:tc>
                <a:tc>
                  <a:txBody>
                    <a:bodyPr/>
                    <a:lstStyle/>
                    <a:p>
                      <a:pPr algn="l" rtl="0" eaLnBrk="0">
                        <a:lnSpc>
                          <a:spcPct val="100000"/>
                        </a:lnSpc>
                      </a:pPr>
                      <a:endParaRPr lang="en-US" altLang="en-US" sz="1400" dirty="0">
                        <a:solidFill>
                          <a:srgbClr val="000000"/>
                        </a:solidFill>
                        <a:latin typeface="微软雅黑" panose="020B0503020204020204" pitchFamily="34" charset="-122"/>
                        <a:ea typeface="微软雅黑" panose="020B0503020204020204" pitchFamily="34" charset="-122"/>
                      </a:endParaRPr>
                    </a:p>
                    <a:p>
                      <a:pPr marL="1160145" algn="l" rtl="0" eaLnBrk="0">
                        <a:lnSpc>
                          <a:spcPct val="80000"/>
                        </a:lnSpc>
                        <a:spcBef>
                          <a:spcPts val="5"/>
                        </a:spcBef>
                      </a:pPr>
                      <a:r>
                        <a:rPr lang="en-US" altLang="en-US" sz="1400" dirty="0">
                          <a:solidFill>
                            <a:srgbClr val="000000"/>
                          </a:solidFill>
                          <a:latin typeface="微软雅黑" panose="020B0503020204020204" pitchFamily="34" charset="-122"/>
                          <a:ea typeface="微软雅黑" panose="020B0503020204020204" pitchFamily="34" charset="-122"/>
                        </a:rPr>
                        <a:t>TBD</a:t>
                      </a:r>
                    </a:p>
                  </a:txBody>
                  <a:tcPr marL="0" marR="0" marT="0" marB="0">
                    <a:lnL>
                      <a:noFill/>
                    </a:lnL>
                    <a:lnR>
                      <a:noFill/>
                    </a:lnR>
                    <a:lnT>
                      <a:noFill/>
                    </a:lnT>
                    <a:lnB w="3175" cap="flat" cmpd="sng" algn="ctr">
                      <a:solidFill>
                        <a:srgbClr val="A4DEEE"/>
                      </a:solidFill>
                      <a:prstDash val="solid"/>
                      <a:round/>
                      <a:headEnd type="none" w="med" len="med"/>
                      <a:tailEnd type="none" w="med" len="med"/>
                    </a:lnB>
                    <a:solidFill>
                      <a:srgbClr val="EDF7F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1BAF2F9-DEE7-FA5E-F8B9-795617FEF09A}"/>
              </a:ext>
            </a:extLst>
          </p:cNvPr>
          <p:cNvSpPr>
            <a:spLocks noGrp="1"/>
          </p:cNvSpPr>
          <p:nvPr>
            <p:ph type="body" sz="quarter" idx="12"/>
          </p:nvPr>
        </p:nvSpPr>
        <p:spPr/>
        <p:txBody>
          <a:bodyPr/>
          <a:lstStyle/>
          <a:p>
            <a:r>
              <a:rPr lang="en-US"/>
              <a:t>Appendix</a:t>
            </a:r>
          </a:p>
        </p:txBody>
      </p:sp>
    </p:spTree>
    <p:extLst>
      <p:ext uri="{BB962C8B-B14F-4D97-AF65-F5344CB8AC3E}">
        <p14:creationId xmlns:p14="http://schemas.microsoft.com/office/powerpoint/2010/main" val="998568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90578-2460-9207-2273-8258130310BA}"/>
              </a:ext>
            </a:extLst>
          </p:cNvPr>
          <p:cNvSpPr>
            <a:spLocks noGrp="1"/>
          </p:cNvSpPr>
          <p:nvPr>
            <p:ph type="title"/>
          </p:nvPr>
        </p:nvSpPr>
        <p:spPr/>
        <p:txBody>
          <a:bodyPr vert="horz" lIns="91440" tIns="45720" rIns="91440" bIns="45720" rtlCol="0" anchor="ctr">
            <a:normAutofit/>
          </a:bodyPr>
          <a:lstStyle/>
          <a:p>
            <a:r>
              <a:rPr lang="en-US" sz="3110">
                <a:latin typeface="Aptos" panose="020B0004020202020204" pitchFamily="34" charset="0"/>
                <a:ea typeface="微软雅黑" panose="020B0503020204020204" pitchFamily="34" charset="-122"/>
              </a:rPr>
              <a:t>NAA Vs Device Locations</a:t>
            </a:r>
          </a:p>
        </p:txBody>
      </p:sp>
      <p:sp>
        <p:nvSpPr>
          <p:cNvPr id="7" name="TextBox 6">
            <a:extLst>
              <a:ext uri="{FF2B5EF4-FFF2-40B4-BE49-F238E27FC236}">
                <a16:creationId xmlns:a16="http://schemas.microsoft.com/office/drawing/2014/main" id="{966D5378-A460-5B2F-8EF1-18677218E257}"/>
              </a:ext>
            </a:extLst>
          </p:cNvPr>
          <p:cNvSpPr txBox="1"/>
          <p:nvPr/>
        </p:nvSpPr>
        <p:spPr>
          <a:xfrm>
            <a:off x="470211" y="1840560"/>
            <a:ext cx="6217668" cy="338554"/>
          </a:xfrm>
          <a:prstGeom prst="rect">
            <a:avLst/>
          </a:prstGeom>
          <a:noFill/>
        </p:spPr>
        <p:txBody>
          <a:bodyPr wrap="square">
            <a:spAutoFit/>
          </a:bodyPr>
          <a:lstStyle/>
          <a:p>
            <a:r>
              <a:rPr lang="en-US" sz="1600" b="1">
                <a:solidFill>
                  <a:srgbClr val="0070C0"/>
                </a:solidFill>
              </a:rPr>
              <a:t>NAA is a New Abstraction Layer, Not a Device Location Enhancement</a:t>
            </a:r>
          </a:p>
        </p:txBody>
      </p:sp>
      <p:sp>
        <p:nvSpPr>
          <p:cNvPr id="11" name="TextBox 10">
            <a:extLst>
              <a:ext uri="{FF2B5EF4-FFF2-40B4-BE49-F238E27FC236}">
                <a16:creationId xmlns:a16="http://schemas.microsoft.com/office/drawing/2014/main" id="{1EF17222-E20F-7055-1AFD-12DB8FEEAAB3}"/>
              </a:ext>
            </a:extLst>
          </p:cNvPr>
          <p:cNvSpPr txBox="1"/>
          <p:nvPr/>
        </p:nvSpPr>
        <p:spPr>
          <a:xfrm>
            <a:off x="470211" y="2462894"/>
            <a:ext cx="5165045" cy="2246769"/>
          </a:xfrm>
          <a:prstGeom prst="rect">
            <a:avLst/>
          </a:prstGeom>
          <a:noFill/>
        </p:spPr>
        <p:txBody>
          <a:bodyPr wrap="square">
            <a:spAutoFit/>
          </a:bodyPr>
          <a:lstStyle/>
          <a:p>
            <a:pPr marL="285750" indent="-285750" algn="l">
              <a:buFont typeface="Courier New" panose="02070309020205020404" pitchFamily="49" charset="0"/>
              <a:buChar char="o"/>
            </a:pPr>
            <a:r>
              <a:rPr lang="en-US" sz="1400" b="0" i="0">
                <a:effectLst/>
                <a:latin typeface="Aptos" panose="020B0004020202020204" pitchFamily="34" charset="0"/>
              </a:rPr>
              <a:t>Caller supplies </a:t>
            </a:r>
            <a:r>
              <a:rPr lang="en-US" sz="1400" b="1" i="0">
                <a:effectLst/>
                <a:latin typeface="Aptos" panose="020B0004020202020204" pitchFamily="34" charset="0"/>
              </a:rPr>
              <a:t>zero coordinates</a:t>
            </a:r>
            <a:r>
              <a:rPr lang="en-US" sz="1400" b="0" i="0">
                <a:effectLst/>
                <a:latin typeface="Aptos" panose="020B0004020202020204" pitchFamily="34" charset="0"/>
              </a:rPr>
              <a:t> — no </a:t>
            </a:r>
            <a:r>
              <a:rPr lang="en-US" sz="1400" b="0" i="0" err="1">
                <a:effectLst/>
                <a:latin typeface="Aptos" panose="020B0004020202020204" pitchFamily="34" charset="0"/>
              </a:rPr>
              <a:t>lat</a:t>
            </a:r>
            <a:r>
              <a:rPr lang="en-US" sz="1400" b="0" i="0">
                <a:effectLst/>
                <a:latin typeface="Aptos" panose="020B0004020202020204" pitchFamily="34" charset="0"/>
              </a:rPr>
              <a:t>/</a:t>
            </a:r>
            <a:r>
              <a:rPr lang="en-US" sz="1400" b="0" i="0" err="1">
                <a:effectLst/>
                <a:latin typeface="Aptos" panose="020B0004020202020204" pitchFamily="34" charset="0"/>
              </a:rPr>
              <a:t>lon</a:t>
            </a:r>
            <a:r>
              <a:rPr lang="en-US" sz="1400" b="0" i="0">
                <a:effectLst/>
                <a:latin typeface="Aptos" panose="020B0004020202020204" pitchFamily="34" charset="0"/>
              </a:rPr>
              <a:t> input, no zone exposed to the caller</a:t>
            </a:r>
          </a:p>
          <a:p>
            <a:pPr marL="285750" indent="-285750" algn="l">
              <a:buFont typeface="Courier New" panose="02070309020205020404" pitchFamily="49" charset="0"/>
              <a:buChar char="o"/>
            </a:pPr>
            <a:r>
              <a:rPr lang="en-US" sz="1400" b="0" i="0">
                <a:effectLst/>
                <a:latin typeface="Aptos" panose="020B0004020202020204" pitchFamily="34" charset="0"/>
              </a:rPr>
              <a:t>Output is a </a:t>
            </a:r>
            <a:r>
              <a:rPr lang="en-US" sz="1400" b="1" i="0">
                <a:effectLst/>
                <a:latin typeface="Aptos" panose="020B0004020202020204" pitchFamily="34" charset="0"/>
              </a:rPr>
              <a:t>relational group verdict</a:t>
            </a:r>
            <a:r>
              <a:rPr lang="en-US" sz="1400" b="0" i="0">
                <a:effectLst/>
                <a:latin typeface="Aptos" panose="020B0004020202020204" pitchFamily="34" charset="0"/>
              </a:rPr>
              <a:t> (</a:t>
            </a:r>
            <a:r>
              <a:rPr lang="en-US" sz="1400" b="0" i="0" err="1">
                <a:effectLst/>
                <a:latin typeface="Aptos" panose="020B0004020202020204" pitchFamily="34" charset="0"/>
              </a:rPr>
              <a:t>co_present</a:t>
            </a:r>
            <a:r>
              <a:rPr lang="en-US" sz="1400" b="0" i="0">
                <a:effectLst/>
                <a:latin typeface="Aptos" panose="020B0004020202020204" pitchFamily="34" charset="0"/>
              </a:rPr>
              <a:t> / partial / </a:t>
            </a:r>
            <a:r>
              <a:rPr lang="en-US" sz="1400" b="0" i="0" err="1">
                <a:effectLst/>
                <a:latin typeface="Aptos" panose="020B0004020202020204" pitchFamily="34" charset="0"/>
              </a:rPr>
              <a:t>not_co_present</a:t>
            </a:r>
            <a:r>
              <a:rPr lang="en-US" sz="1400" b="0" i="0">
                <a:effectLst/>
                <a:latin typeface="Aptos" panose="020B0004020202020204" pitchFamily="34" charset="0"/>
              </a:rPr>
              <a:t>), not a location value</a:t>
            </a:r>
          </a:p>
          <a:p>
            <a:pPr marL="285750" indent="-285750" algn="l">
              <a:buFont typeface="Courier New" panose="02070309020205020404" pitchFamily="49" charset="0"/>
              <a:buChar char="o"/>
            </a:pPr>
            <a:r>
              <a:rPr lang="en-US" sz="1400" b="0" i="0">
                <a:effectLst/>
                <a:latin typeface="Aptos" panose="020B0004020202020204" pitchFamily="34" charset="0"/>
              </a:rPr>
              <a:t>Privacy-preserving by design: individual positions are </a:t>
            </a:r>
            <a:r>
              <a:rPr lang="en-US" sz="1400" b="1" i="0">
                <a:effectLst/>
                <a:latin typeface="Aptos" panose="020B0004020202020204" pitchFamily="34" charset="0"/>
              </a:rPr>
              <a:t>never returned</a:t>
            </a:r>
            <a:r>
              <a:rPr lang="en-US" sz="1400" b="0" i="0">
                <a:effectLst/>
                <a:latin typeface="Aptos" panose="020B0004020202020204" pitchFamily="34" charset="0"/>
              </a:rPr>
              <a:t>, even partially</a:t>
            </a:r>
          </a:p>
          <a:p>
            <a:pPr marL="285750" indent="-285750" algn="l">
              <a:buFont typeface="Courier New" panose="02070309020205020404" pitchFamily="49" charset="0"/>
              <a:buChar char="o"/>
            </a:pPr>
            <a:r>
              <a:rPr lang="en-US" sz="1400" b="0" i="0">
                <a:effectLst/>
                <a:latin typeface="Aptos" panose="020B0004020202020204" pitchFamily="34" charset="0"/>
              </a:rPr>
              <a:t>Promoting it as a </a:t>
            </a:r>
            <a:r>
              <a:rPr lang="en-US" sz="1400" b="0" i="0" err="1">
                <a:effectLst/>
                <a:latin typeface="Aptos" panose="020B0004020202020204" pitchFamily="34" charset="0"/>
              </a:rPr>
              <a:t>DeviceLocation</a:t>
            </a:r>
            <a:r>
              <a:rPr lang="en-US" sz="1400" b="0" i="0">
                <a:effectLst/>
                <a:latin typeface="Aptos" panose="020B0004020202020204" pitchFamily="34" charset="0"/>
              </a:rPr>
              <a:t> enhancement would </a:t>
            </a:r>
            <a:r>
              <a:rPr lang="en-US" sz="1400" b="1" i="0">
                <a:effectLst/>
                <a:latin typeface="Aptos" panose="020B0004020202020204" pitchFamily="34" charset="0"/>
              </a:rPr>
              <a:t>force callers to aggregate individual location results</a:t>
            </a:r>
            <a:r>
              <a:rPr lang="en-US" sz="1400" b="0" i="0">
                <a:effectLst/>
                <a:latin typeface="Aptos" panose="020B0004020202020204" pitchFamily="34" charset="0"/>
              </a:rPr>
              <a:t> — increasing privacy surface and destroying the attestation model</a:t>
            </a:r>
          </a:p>
        </p:txBody>
      </p:sp>
      <p:graphicFrame>
        <p:nvGraphicFramePr>
          <p:cNvPr id="13" name="Table 12">
            <a:extLst>
              <a:ext uri="{FF2B5EF4-FFF2-40B4-BE49-F238E27FC236}">
                <a16:creationId xmlns:a16="http://schemas.microsoft.com/office/drawing/2014/main" id="{9DFC3899-3F39-A19B-6016-236558F70793}"/>
              </a:ext>
            </a:extLst>
          </p:cNvPr>
          <p:cNvGraphicFramePr>
            <a:graphicFrameLocks noGrp="1"/>
          </p:cNvGraphicFramePr>
          <p:nvPr>
            <p:extLst>
              <p:ext uri="{D42A27DB-BD31-4B8C-83A1-F6EECF244321}">
                <p14:modId xmlns:p14="http://schemas.microsoft.com/office/powerpoint/2010/main" val="1441616991"/>
              </p:ext>
            </p:extLst>
          </p:nvPr>
        </p:nvGraphicFramePr>
        <p:xfrm>
          <a:off x="6925739" y="2003851"/>
          <a:ext cx="4950828" cy="2620088"/>
        </p:xfrm>
        <a:graphic>
          <a:graphicData uri="http://schemas.openxmlformats.org/drawingml/2006/table">
            <a:tbl>
              <a:tblPr>
                <a:tableStyleId>{5DA37D80-6434-44D0-A028-1B22A696006F}</a:tableStyleId>
              </a:tblPr>
              <a:tblGrid>
                <a:gridCol w="1650276">
                  <a:extLst>
                    <a:ext uri="{9D8B030D-6E8A-4147-A177-3AD203B41FA5}">
                      <a16:colId xmlns:a16="http://schemas.microsoft.com/office/drawing/2014/main" val="3076243538"/>
                    </a:ext>
                  </a:extLst>
                </a:gridCol>
                <a:gridCol w="1650276">
                  <a:extLst>
                    <a:ext uri="{9D8B030D-6E8A-4147-A177-3AD203B41FA5}">
                      <a16:colId xmlns:a16="http://schemas.microsoft.com/office/drawing/2014/main" val="763374759"/>
                    </a:ext>
                  </a:extLst>
                </a:gridCol>
                <a:gridCol w="1650276">
                  <a:extLst>
                    <a:ext uri="{9D8B030D-6E8A-4147-A177-3AD203B41FA5}">
                      <a16:colId xmlns:a16="http://schemas.microsoft.com/office/drawing/2014/main" val="1662432745"/>
                    </a:ext>
                  </a:extLst>
                </a:gridCol>
              </a:tblGrid>
              <a:tr h="645117">
                <a:tc>
                  <a:txBody>
                    <a:bodyPr/>
                    <a:lstStyle/>
                    <a:p>
                      <a:pPr>
                        <a:buNone/>
                      </a:pPr>
                      <a:endParaRPr lang="en-US" sz="1600" b="1">
                        <a:effectLst/>
                        <a:latin typeface="Aptos" panose="020B0004020202020204" pitchFamily="34" charset="0"/>
                      </a:endParaRPr>
                    </a:p>
                  </a:txBody>
                  <a:tcPr marL="34066" marR="34066" marT="22711" marB="22711" anchor="ctr"/>
                </a:tc>
                <a:tc>
                  <a:txBody>
                    <a:bodyPr/>
                    <a:lstStyle/>
                    <a:p>
                      <a:pPr>
                        <a:buNone/>
                      </a:pPr>
                      <a:br>
                        <a:rPr lang="en-US" sz="1600" b="1">
                          <a:effectLst/>
                          <a:latin typeface="Aptos" panose="020B0004020202020204" pitchFamily="34" charset="0"/>
                        </a:rPr>
                      </a:br>
                      <a:r>
                        <a:rPr lang="en-US" sz="1600" b="1">
                          <a:effectLst/>
                          <a:latin typeface="Aptos" panose="020B0004020202020204" pitchFamily="34" charset="0"/>
                        </a:rPr>
                        <a:t>Device Location Verification</a:t>
                      </a:r>
                    </a:p>
                  </a:txBody>
                  <a:tcPr marL="34066" marR="34066" marT="22711" marB="22711" anchor="ctr"/>
                </a:tc>
                <a:tc>
                  <a:txBody>
                    <a:bodyPr/>
                    <a:lstStyle/>
                    <a:p>
                      <a:pPr>
                        <a:buNone/>
                      </a:pPr>
                      <a:r>
                        <a:rPr lang="en-US" sz="1600" b="1" dirty="0">
                          <a:effectLst/>
                          <a:latin typeface="Aptos" panose="020B0004020202020204" pitchFamily="34" charset="0"/>
                        </a:rPr>
                        <a:t>NAA</a:t>
                      </a:r>
                    </a:p>
                  </a:txBody>
                  <a:tcPr marL="34066" marR="34066" marT="22711" marB="22711" anchor="ctr"/>
                </a:tc>
                <a:extLst>
                  <a:ext uri="{0D108BD9-81ED-4DB2-BD59-A6C34878D82A}">
                    <a16:rowId xmlns:a16="http://schemas.microsoft.com/office/drawing/2014/main" val="4113240896"/>
                  </a:ext>
                </a:extLst>
              </a:tr>
              <a:tr h="520702">
                <a:tc>
                  <a:txBody>
                    <a:bodyPr/>
                    <a:lstStyle/>
                    <a:p>
                      <a:pPr>
                        <a:buNone/>
                      </a:pPr>
                      <a:r>
                        <a:rPr lang="en-US" sz="1600">
                          <a:effectLst/>
                          <a:latin typeface="Aptos" panose="020B0004020202020204" pitchFamily="34" charset="0"/>
                        </a:rPr>
                        <a:t>Input</a:t>
                      </a:r>
                    </a:p>
                  </a:txBody>
                  <a:tcPr marL="34066" marR="34066" marT="22711" marB="22711" anchor="ctr"/>
                </a:tc>
                <a:tc>
                  <a:txBody>
                    <a:bodyPr/>
                    <a:lstStyle/>
                    <a:p>
                      <a:pPr>
                        <a:buNone/>
                      </a:pPr>
                      <a:r>
                        <a:rPr lang="fr-FR" sz="1600">
                          <a:effectLst/>
                          <a:latin typeface="Aptos" panose="020B0004020202020204" pitchFamily="34" charset="0"/>
                        </a:rPr>
                        <a:t>1 device + caller lat/lon</a:t>
                      </a:r>
                    </a:p>
                  </a:txBody>
                  <a:tcPr marL="34066" marR="34066" marT="22711" marB="22711" anchor="ctr"/>
                </a:tc>
                <a:tc>
                  <a:txBody>
                    <a:bodyPr/>
                    <a:lstStyle/>
                    <a:p>
                      <a:pPr>
                        <a:buNone/>
                      </a:pPr>
                      <a:r>
                        <a:rPr lang="en-US" sz="1600">
                          <a:effectLst/>
                          <a:latin typeface="Aptos" panose="020B0004020202020204" pitchFamily="34" charset="0"/>
                        </a:rPr>
                        <a:t>N devices, no coordinates</a:t>
                      </a:r>
                    </a:p>
                  </a:txBody>
                  <a:tcPr marL="34066" marR="34066" marT="22711" marB="22711" anchor="ctr"/>
                </a:tc>
                <a:extLst>
                  <a:ext uri="{0D108BD9-81ED-4DB2-BD59-A6C34878D82A}">
                    <a16:rowId xmlns:a16="http://schemas.microsoft.com/office/drawing/2014/main" val="2832621390"/>
                  </a:ext>
                </a:extLst>
              </a:tr>
              <a:tr h="435833">
                <a:tc>
                  <a:txBody>
                    <a:bodyPr/>
                    <a:lstStyle/>
                    <a:p>
                      <a:pPr>
                        <a:buNone/>
                      </a:pPr>
                      <a:r>
                        <a:rPr lang="en-US" sz="1600">
                          <a:effectLst/>
                          <a:latin typeface="Aptos" panose="020B0004020202020204" pitchFamily="34" charset="0"/>
                        </a:rPr>
                        <a:t>Output</a:t>
                      </a:r>
                    </a:p>
                  </a:txBody>
                  <a:tcPr marL="34066" marR="34066" marT="22711" marB="22711" anchor="ctr"/>
                </a:tc>
                <a:tc>
                  <a:txBody>
                    <a:bodyPr/>
                    <a:lstStyle/>
                    <a:p>
                      <a:pPr>
                        <a:buNone/>
                      </a:pPr>
                      <a:r>
                        <a:rPr lang="en-US" sz="1600">
                          <a:effectLst/>
                          <a:latin typeface="Aptos" panose="020B0004020202020204" pitchFamily="34" charset="0"/>
                        </a:rPr>
                        <a:t>Location boolean</a:t>
                      </a:r>
                    </a:p>
                  </a:txBody>
                  <a:tcPr marL="34066" marR="34066" marT="22711" marB="22711" anchor="ctr"/>
                </a:tc>
                <a:tc>
                  <a:txBody>
                    <a:bodyPr/>
                    <a:lstStyle/>
                    <a:p>
                      <a:pPr>
                        <a:buNone/>
                      </a:pPr>
                      <a:r>
                        <a:rPr lang="en-US" sz="1600">
                          <a:effectLst/>
                          <a:latin typeface="Aptos" panose="020B0004020202020204" pitchFamily="34" charset="0"/>
                        </a:rPr>
                        <a:t>Group relational verdict</a:t>
                      </a:r>
                    </a:p>
                  </a:txBody>
                  <a:tcPr marL="34066" marR="34066" marT="22711" marB="22711" anchor="ctr"/>
                </a:tc>
                <a:extLst>
                  <a:ext uri="{0D108BD9-81ED-4DB2-BD59-A6C34878D82A}">
                    <a16:rowId xmlns:a16="http://schemas.microsoft.com/office/drawing/2014/main" val="3591415243"/>
                  </a:ext>
                </a:extLst>
              </a:tr>
              <a:tr h="645117">
                <a:tc>
                  <a:txBody>
                    <a:bodyPr/>
                    <a:lstStyle/>
                    <a:p>
                      <a:pPr>
                        <a:buNone/>
                      </a:pPr>
                      <a:r>
                        <a:rPr lang="en-US" sz="1600">
                          <a:effectLst/>
                          <a:latin typeface="Aptos" panose="020B0004020202020204" pitchFamily="34" charset="0"/>
                        </a:rPr>
                        <a:t>Privacy</a:t>
                      </a:r>
                    </a:p>
                  </a:txBody>
                  <a:tcPr marL="34066" marR="34066" marT="22711" marB="22711" anchor="ctr"/>
                </a:tc>
                <a:tc>
                  <a:txBody>
                    <a:bodyPr/>
                    <a:lstStyle/>
                    <a:p>
                      <a:pPr>
                        <a:buNone/>
                      </a:pPr>
                      <a:r>
                        <a:rPr lang="en-US" sz="1600">
                          <a:effectLst/>
                          <a:latin typeface="Aptos" panose="020B0004020202020204" pitchFamily="34" charset="0"/>
                        </a:rPr>
                        <a:t>Caller knows the zone</a:t>
                      </a:r>
                    </a:p>
                  </a:txBody>
                  <a:tcPr marL="34066" marR="34066" marT="22711" marB="22711" anchor="ctr"/>
                </a:tc>
                <a:tc>
                  <a:txBody>
                    <a:bodyPr/>
                    <a:lstStyle/>
                    <a:p>
                      <a:pPr>
                        <a:buNone/>
                      </a:pPr>
                      <a:r>
                        <a:rPr lang="en-US" sz="1600" dirty="0">
                          <a:effectLst/>
                          <a:latin typeface="Aptos" panose="020B0004020202020204" pitchFamily="34" charset="0"/>
                        </a:rPr>
                        <a:t>Caller learns nothing about position</a:t>
                      </a:r>
                    </a:p>
                  </a:txBody>
                  <a:tcPr marL="34066" marR="34066" marT="22711" marB="22711" anchor="ctr"/>
                </a:tc>
                <a:extLst>
                  <a:ext uri="{0D108BD9-81ED-4DB2-BD59-A6C34878D82A}">
                    <a16:rowId xmlns:a16="http://schemas.microsoft.com/office/drawing/2014/main" val="2254630470"/>
                  </a:ext>
                </a:extLst>
              </a:tr>
            </a:tbl>
          </a:graphicData>
        </a:graphic>
      </p:graphicFrame>
      <p:sp>
        <p:nvSpPr>
          <p:cNvPr id="15" name="TextBox 14">
            <a:extLst>
              <a:ext uri="{FF2B5EF4-FFF2-40B4-BE49-F238E27FC236}">
                <a16:creationId xmlns:a16="http://schemas.microsoft.com/office/drawing/2014/main" id="{7F357E45-4620-0A69-44D8-E63A4A46A5E7}"/>
              </a:ext>
            </a:extLst>
          </p:cNvPr>
          <p:cNvSpPr txBox="1"/>
          <p:nvPr/>
        </p:nvSpPr>
        <p:spPr>
          <a:xfrm>
            <a:off x="470211" y="5756089"/>
            <a:ext cx="9019953" cy="523220"/>
          </a:xfrm>
          <a:prstGeom prst="rect">
            <a:avLst/>
          </a:prstGeom>
          <a:noFill/>
        </p:spPr>
        <p:txBody>
          <a:bodyPr wrap="square">
            <a:spAutoFit/>
          </a:bodyPr>
          <a:lstStyle/>
          <a:p>
            <a:r>
              <a:rPr lang="en-US" sz="1400" b="0" i="1">
                <a:effectLst/>
                <a:latin typeface="Segoe WPC"/>
              </a:rPr>
              <a:t>The group verdict cannot be cleanly expressed as a </a:t>
            </a:r>
            <a:r>
              <a:rPr lang="en-US" sz="1400" b="0" i="1" err="1">
                <a:effectLst/>
                <a:latin typeface="Segoe WPC"/>
              </a:rPr>
              <a:t>DeviceLocation</a:t>
            </a:r>
            <a:r>
              <a:rPr lang="en-US" sz="1400" b="0" i="1">
                <a:effectLst/>
                <a:latin typeface="Segoe WPC"/>
              </a:rPr>
              <a:t> enhancement without breaking the core privacy guarantee — that is the architectural justification for a separate API family</a:t>
            </a:r>
            <a:endParaRPr lang="en-US" sz="1400"/>
          </a:p>
        </p:txBody>
      </p:sp>
    </p:spTree>
    <p:extLst>
      <p:ext uri="{BB962C8B-B14F-4D97-AF65-F5344CB8AC3E}">
        <p14:creationId xmlns:p14="http://schemas.microsoft.com/office/powerpoint/2010/main" val="179558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3D691-6EBF-0490-2FB8-62ACB23DF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76708-0378-4CC7-120D-286BF1989DD8}"/>
              </a:ext>
            </a:extLst>
          </p:cNvPr>
          <p:cNvSpPr>
            <a:spLocks noGrp="1"/>
          </p:cNvSpPr>
          <p:nvPr>
            <p:ph type="title"/>
          </p:nvPr>
        </p:nvSpPr>
        <p:spPr>
          <a:xfrm>
            <a:off x="470211" y="436920"/>
            <a:ext cx="7302189" cy="829647"/>
          </a:xfrm>
        </p:spPr>
        <p:txBody>
          <a:bodyPr vert="horz" lIns="91440" tIns="45720" rIns="91440" bIns="45720" rtlCol="0" anchor="ctr">
            <a:normAutofit fontScale="90000"/>
          </a:bodyPr>
          <a:lstStyle/>
          <a:p>
            <a:r>
              <a:rPr lang="en-US" sz="3110">
                <a:latin typeface="Aptos" panose="020B0004020202020204" pitchFamily="34" charset="0"/>
                <a:ea typeface="微软雅黑" panose="020B0503020204020204" pitchFamily="34" charset="-122"/>
              </a:rPr>
              <a:t>Device Eligibility: Operator-Addressable Only</a:t>
            </a:r>
          </a:p>
        </p:txBody>
      </p:sp>
      <p:sp>
        <p:nvSpPr>
          <p:cNvPr id="4" name="TextBox 3">
            <a:extLst>
              <a:ext uri="{FF2B5EF4-FFF2-40B4-BE49-F238E27FC236}">
                <a16:creationId xmlns:a16="http://schemas.microsoft.com/office/drawing/2014/main" id="{764DEB7B-DD1E-E2F3-8F86-B96E69DE1F84}"/>
              </a:ext>
            </a:extLst>
          </p:cNvPr>
          <p:cNvSpPr txBox="1"/>
          <p:nvPr/>
        </p:nvSpPr>
        <p:spPr>
          <a:xfrm>
            <a:off x="642384" y="2120949"/>
            <a:ext cx="9703095" cy="3847207"/>
          </a:xfrm>
          <a:prstGeom prst="rect">
            <a:avLst/>
          </a:prstGeom>
          <a:noFill/>
        </p:spPr>
        <p:txBody>
          <a:bodyPr wrap="square">
            <a:spAutoFit/>
          </a:bodyPr>
          <a:lstStyle/>
          <a:p>
            <a:pPr algn="l">
              <a:spcAft>
                <a:spcPts val="1200"/>
              </a:spcAft>
              <a:buNone/>
            </a:pPr>
            <a:r>
              <a:rPr lang="en-US" sz="1600" b="1">
                <a:solidFill>
                  <a:srgbClr val="0070C0"/>
                </a:solidFill>
                <a:effectLst/>
                <a:latin typeface="Segoe WPC"/>
              </a:rPr>
              <a:t>Cluster members restricted to SIM/</a:t>
            </a:r>
            <a:r>
              <a:rPr lang="en-US" sz="1600" b="1" err="1">
                <a:solidFill>
                  <a:srgbClr val="0070C0"/>
                </a:solidFill>
                <a:effectLst/>
                <a:latin typeface="Segoe WPC"/>
              </a:rPr>
              <a:t>eSIM</a:t>
            </a:r>
            <a:r>
              <a:rPr lang="en-US" sz="1600" b="1">
                <a:solidFill>
                  <a:srgbClr val="0070C0"/>
                </a:solidFill>
                <a:effectLst/>
                <a:latin typeface="Segoe WPC"/>
              </a:rPr>
              <a:t> identities — same schema as existing CAMARA APIs</a:t>
            </a:r>
          </a:p>
          <a:p>
            <a:pPr algn="l">
              <a:spcAft>
                <a:spcPts val="1200"/>
              </a:spcAft>
              <a:buNone/>
            </a:pPr>
            <a:r>
              <a:rPr lang="en-US" sz="1600" b="1" i="0">
                <a:effectLst/>
                <a:latin typeface="Segoe WPC"/>
              </a:rPr>
              <a:t>Key Points:</a:t>
            </a:r>
            <a:endParaRPr lang="en-US" sz="1600" b="0" i="0">
              <a:effectLst/>
              <a:latin typeface="Segoe WPC"/>
            </a:endParaRPr>
          </a:p>
          <a:p>
            <a:pPr marL="285750" indent="-285750" algn="l">
              <a:buFont typeface="Courier New" panose="02070309020205020404" pitchFamily="49" charset="0"/>
              <a:buChar char="o"/>
            </a:pPr>
            <a:r>
              <a:rPr lang="en-US" sz="1600" b="0" i="0">
                <a:effectLst/>
                <a:latin typeface="Segoe WPC"/>
              </a:rPr>
              <a:t>Tags, beacons, gateways, and carts are </a:t>
            </a:r>
            <a:r>
              <a:rPr lang="en-US" sz="1600" b="1" i="0">
                <a:effectLst/>
                <a:latin typeface="Segoe WPC"/>
              </a:rPr>
              <a:t>removed from the proposal</a:t>
            </a:r>
            <a:endParaRPr lang="en-US" sz="1600">
              <a:latin typeface="Segoe WPC"/>
            </a:endParaRPr>
          </a:p>
          <a:p>
            <a:pPr marL="285750" indent="-285750" algn="l">
              <a:buFont typeface="Courier New" panose="02070309020205020404" pitchFamily="49" charset="0"/>
              <a:buChar char="o"/>
            </a:pPr>
            <a:r>
              <a:rPr lang="en-US" sz="1600" b="0" i="0">
                <a:effectLst/>
                <a:latin typeface="Segoe WPC"/>
              </a:rPr>
              <a:t>All cluster members must use CAMARA-standard device identifiers:</a:t>
            </a:r>
          </a:p>
          <a:p>
            <a:pPr marL="742950" lvl="1" indent="-285750" algn="l">
              <a:buFont typeface="Arial" panose="020B0604020202020204" pitchFamily="34" charset="0"/>
              <a:buChar char="•"/>
            </a:pPr>
            <a:r>
              <a:rPr lang="en-US" sz="1600" b="0" i="0" err="1">
                <a:effectLst/>
                <a:latin typeface="Consolas" panose="020B0609020204030204" pitchFamily="49" charset="0"/>
              </a:rPr>
              <a:t>phoneNumber</a:t>
            </a:r>
            <a:r>
              <a:rPr lang="en-US" sz="1600" b="0" i="0">
                <a:effectLst/>
                <a:latin typeface="Segoe WPC"/>
              </a:rPr>
              <a:t> (E.164)</a:t>
            </a:r>
          </a:p>
          <a:p>
            <a:pPr marL="742950" lvl="1" indent="-285750" algn="l">
              <a:buFont typeface="Arial" panose="020B0604020202020204" pitchFamily="34" charset="0"/>
              <a:buChar char="•"/>
            </a:pPr>
            <a:r>
              <a:rPr lang="en-US" sz="1600" b="0" i="0" err="1">
                <a:effectLst/>
                <a:latin typeface="Consolas" panose="020B0609020204030204" pitchFamily="49" charset="0"/>
              </a:rPr>
              <a:t>networkAccessIdentifier</a:t>
            </a:r>
            <a:endParaRPr lang="en-US" sz="1600" b="0" i="0">
              <a:effectLst/>
              <a:latin typeface="Segoe WPC"/>
            </a:endParaRPr>
          </a:p>
          <a:p>
            <a:pPr marL="742950" lvl="1" indent="-285750" algn="l">
              <a:buFont typeface="Arial" panose="020B0604020202020204" pitchFamily="34" charset="0"/>
              <a:buChar char="•"/>
            </a:pPr>
            <a:r>
              <a:rPr lang="en-US" sz="1600" b="0" i="0">
                <a:effectLst/>
                <a:latin typeface="Consolas" panose="020B0609020204030204" pitchFamily="49" charset="0"/>
              </a:rPr>
              <a:t>ipv4Address</a:t>
            </a:r>
            <a:r>
              <a:rPr lang="en-US" sz="1600" b="0" i="0">
                <a:effectLst/>
                <a:latin typeface="Segoe WPC"/>
              </a:rPr>
              <a:t> / </a:t>
            </a:r>
            <a:r>
              <a:rPr lang="en-US" sz="1600" b="0" i="0">
                <a:effectLst/>
                <a:latin typeface="Consolas" panose="020B0609020204030204" pitchFamily="49" charset="0"/>
              </a:rPr>
              <a:t>ipv6Address</a:t>
            </a:r>
            <a:endParaRPr lang="en-US" sz="1600">
              <a:latin typeface="Segoe WPC"/>
            </a:endParaRPr>
          </a:p>
          <a:p>
            <a:pPr marL="285750" indent="-285750">
              <a:buFont typeface="Courier New" panose="02070309020205020404" pitchFamily="49" charset="0"/>
              <a:buChar char="o"/>
            </a:pPr>
            <a:r>
              <a:rPr lang="en-US" sz="1600" b="0" i="0">
                <a:effectLst/>
                <a:latin typeface="Segoe WPC"/>
              </a:rPr>
              <a:t>IoT trackers </a:t>
            </a:r>
            <a:r>
              <a:rPr lang="en-US" sz="1600" b="1" i="0">
                <a:effectLst/>
                <a:latin typeface="Segoe WPC"/>
              </a:rPr>
              <a:t>in scope only</a:t>
            </a:r>
            <a:r>
              <a:rPr lang="en-US" sz="1600" b="0" i="0">
                <a:effectLst/>
                <a:latin typeface="Segoe WPC"/>
              </a:rPr>
              <a:t> when SIM/</a:t>
            </a:r>
            <a:r>
              <a:rPr lang="en-US" sz="1600" b="0" i="0" err="1">
                <a:effectLst/>
                <a:latin typeface="Segoe WPC"/>
              </a:rPr>
              <a:t>eSIM</a:t>
            </a:r>
            <a:r>
              <a:rPr lang="en-US" sz="1600" b="0" i="0">
                <a:effectLst/>
                <a:latin typeface="Segoe WPC"/>
              </a:rPr>
              <a:t>-based (e.g. the armored vehicle tracker = cellular module with a phone number)</a:t>
            </a:r>
          </a:p>
          <a:p>
            <a:pPr marL="285750" indent="-285750">
              <a:buFont typeface="Courier New" panose="02070309020205020404" pitchFamily="49" charset="0"/>
              <a:buChar char="o"/>
            </a:pPr>
            <a:r>
              <a:rPr lang="en-US" sz="1600" b="0" i="0">
                <a:effectLst/>
                <a:latin typeface="Segoe WPC"/>
              </a:rPr>
              <a:t>Non-operator-visible trackers (Bluetooth, Zigbee, LoRa) → </a:t>
            </a:r>
            <a:r>
              <a:rPr lang="en-US" sz="1600" b="1" i="0">
                <a:effectLst/>
                <a:latin typeface="Segoe WPC"/>
              </a:rPr>
              <a:t>explicitly out of scope, documented in spec</a:t>
            </a:r>
            <a:endParaRPr lang="en-US" sz="1600">
              <a:latin typeface="Segoe WPC"/>
            </a:endParaRPr>
          </a:p>
          <a:p>
            <a:pPr marL="285750" indent="-285750">
              <a:buFont typeface="Courier New" panose="02070309020205020404" pitchFamily="49" charset="0"/>
              <a:buChar char="o"/>
            </a:pPr>
            <a:r>
              <a:rPr lang="en-US" sz="1600" b="0" i="0">
                <a:effectLst/>
                <a:latin typeface="Segoe WPC"/>
              </a:rPr>
              <a:t>Every cluster member is independently verifiable by the operator using </a:t>
            </a:r>
            <a:r>
              <a:rPr lang="en-US" sz="1600" b="1" i="0">
                <a:effectLst/>
                <a:latin typeface="Segoe WPC"/>
              </a:rPr>
              <a:t>existing network-layer</a:t>
            </a:r>
          </a:p>
          <a:p>
            <a:endParaRPr lang="en-US" sz="1600" b="1">
              <a:latin typeface="Segoe WPC"/>
            </a:endParaRPr>
          </a:p>
          <a:p>
            <a:r>
              <a:rPr lang="en-US" sz="1600" b="1">
                <a:solidFill>
                  <a:srgbClr val="0070C0"/>
                </a:solidFill>
              </a:rPr>
              <a:t>No</a:t>
            </a:r>
            <a:r>
              <a:rPr lang="en-US" sz="1600">
                <a:solidFill>
                  <a:srgbClr val="00B0F0"/>
                </a:solidFill>
                <a:effectLst/>
                <a:latin typeface="Segoe WPC"/>
              </a:rPr>
              <a:t> </a:t>
            </a:r>
            <a:r>
              <a:rPr lang="en-US" sz="1600" b="1">
                <a:solidFill>
                  <a:srgbClr val="0070C0"/>
                </a:solidFill>
              </a:rPr>
              <a:t>new operator capability required. This change directly resolves the interoperability concern. </a:t>
            </a:r>
          </a:p>
        </p:txBody>
      </p:sp>
    </p:spTree>
    <p:extLst>
      <p:ext uri="{BB962C8B-B14F-4D97-AF65-F5344CB8AC3E}">
        <p14:creationId xmlns:p14="http://schemas.microsoft.com/office/powerpoint/2010/main" val="3443783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944AD-2E60-98C0-1F85-35C5D9F8D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008FA-B176-1857-C13A-BC4933342B24}"/>
              </a:ext>
            </a:extLst>
          </p:cNvPr>
          <p:cNvSpPr>
            <a:spLocks noGrp="1"/>
          </p:cNvSpPr>
          <p:nvPr>
            <p:ph type="title"/>
          </p:nvPr>
        </p:nvSpPr>
        <p:spPr>
          <a:xfrm>
            <a:off x="470211" y="436920"/>
            <a:ext cx="8057101" cy="829647"/>
          </a:xfrm>
        </p:spPr>
        <p:txBody>
          <a:bodyPr vert="horz" lIns="91440" tIns="45720" rIns="91440" bIns="45720" rtlCol="0" anchor="ctr">
            <a:normAutofit fontScale="90000"/>
          </a:bodyPr>
          <a:lstStyle/>
          <a:p>
            <a:r>
              <a:rPr lang="en-US" sz="3110">
                <a:latin typeface="Aptos" panose="020B0004020202020204" pitchFamily="34" charset="0"/>
                <a:ea typeface="微软雅黑" panose="020B0503020204020204" pitchFamily="34" charset="-122"/>
              </a:rPr>
              <a:t>Continuous Checks: Full CAMARA Subscription Model</a:t>
            </a:r>
          </a:p>
        </p:txBody>
      </p:sp>
      <p:sp>
        <p:nvSpPr>
          <p:cNvPr id="5" name="TextBox 4">
            <a:extLst>
              <a:ext uri="{FF2B5EF4-FFF2-40B4-BE49-F238E27FC236}">
                <a16:creationId xmlns:a16="http://schemas.microsoft.com/office/drawing/2014/main" id="{E367DE74-4F03-B466-26BE-875917E20987}"/>
              </a:ext>
            </a:extLst>
          </p:cNvPr>
          <p:cNvSpPr txBox="1"/>
          <p:nvPr/>
        </p:nvSpPr>
        <p:spPr>
          <a:xfrm>
            <a:off x="135564" y="2046453"/>
            <a:ext cx="11751635" cy="892552"/>
          </a:xfrm>
          <a:prstGeom prst="rect">
            <a:avLst/>
          </a:prstGeom>
          <a:noFill/>
        </p:spPr>
        <p:txBody>
          <a:bodyPr wrap="square">
            <a:spAutoFit/>
          </a:bodyPr>
          <a:lstStyle/>
          <a:p>
            <a:pPr algn="l">
              <a:spcAft>
                <a:spcPts val="1200"/>
              </a:spcAft>
              <a:buNone/>
            </a:pPr>
            <a:r>
              <a:rPr lang="en-US" sz="1400" b="1">
                <a:solidFill>
                  <a:srgbClr val="0070C0"/>
                </a:solidFill>
                <a:effectLst/>
                <a:latin typeface="Aptos" panose="020B0004020202020204" pitchFamily="34" charset="0"/>
              </a:rPr>
              <a:t>"Continuous at scale" scoped as a proper subscription resource — aligned with Geofencing Subscriptions pattern</a:t>
            </a:r>
          </a:p>
          <a:p>
            <a:pPr algn="l">
              <a:spcAft>
                <a:spcPts val="1200"/>
              </a:spcAft>
              <a:buNone/>
            </a:pPr>
            <a:r>
              <a:rPr lang="en-US" sz="1400" b="0">
                <a:effectLst/>
                <a:latin typeface="Aptos" panose="020B0004020202020204" pitchFamily="34" charset="0"/>
              </a:rPr>
              <a:t>The subscription model is structurally identical to Geofencing Subscriptions — reviewers familiar with that API will find the pattern immediately recognizable</a:t>
            </a:r>
          </a:p>
        </p:txBody>
      </p:sp>
    </p:spTree>
    <p:extLst>
      <p:ext uri="{BB962C8B-B14F-4D97-AF65-F5344CB8AC3E}">
        <p14:creationId xmlns:p14="http://schemas.microsoft.com/office/powerpoint/2010/main" val="4062132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5D135-F406-F81A-8BAD-89E7EAE8C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12C2E-A7BC-5531-E15A-222B6D8B7E96}"/>
              </a:ext>
            </a:extLst>
          </p:cNvPr>
          <p:cNvSpPr>
            <a:spLocks noGrp="1"/>
          </p:cNvSpPr>
          <p:nvPr>
            <p:ph type="title"/>
          </p:nvPr>
        </p:nvSpPr>
        <p:spPr>
          <a:xfrm>
            <a:off x="470211" y="436920"/>
            <a:ext cx="8057101" cy="829647"/>
          </a:xfrm>
        </p:spPr>
        <p:txBody>
          <a:bodyPr vert="horz" lIns="91440" tIns="45720" rIns="91440" bIns="45720" rtlCol="0" anchor="ctr">
            <a:normAutofit/>
          </a:bodyPr>
          <a:lstStyle/>
          <a:p>
            <a:r>
              <a:rPr lang="en-US" sz="3110">
                <a:latin typeface="Aptos" panose="020B0004020202020204" pitchFamily="34" charset="0"/>
                <a:ea typeface="微软雅黑" panose="020B0503020204020204" pitchFamily="34" charset="-122"/>
              </a:rPr>
              <a:t>Questions posted on PR</a:t>
            </a:r>
          </a:p>
        </p:txBody>
      </p:sp>
      <p:sp>
        <p:nvSpPr>
          <p:cNvPr id="5" name="TextBox 4">
            <a:extLst>
              <a:ext uri="{FF2B5EF4-FFF2-40B4-BE49-F238E27FC236}">
                <a16:creationId xmlns:a16="http://schemas.microsoft.com/office/drawing/2014/main" id="{10C899F9-526C-C8BB-BFA6-E3B0A03C6184}"/>
              </a:ext>
            </a:extLst>
          </p:cNvPr>
          <p:cNvSpPr txBox="1"/>
          <p:nvPr/>
        </p:nvSpPr>
        <p:spPr>
          <a:xfrm>
            <a:off x="74428" y="1940128"/>
            <a:ext cx="11751635" cy="4939814"/>
          </a:xfrm>
          <a:prstGeom prst="rect">
            <a:avLst/>
          </a:prstGeom>
          <a:noFill/>
        </p:spPr>
        <p:txBody>
          <a:bodyPr wrap="square">
            <a:spAutoFit/>
          </a:bodyPr>
          <a:lstStyle/>
          <a:p>
            <a:r>
              <a:rPr lang="en-US" sz="1050" b="1"/>
              <a:t>Q1: Overlap — why not just enhance </a:t>
            </a:r>
            <a:r>
              <a:rPr lang="en-US" sz="1050" b="1" err="1"/>
              <a:t>DeviceLocation</a:t>
            </a:r>
            <a:r>
              <a:rPr lang="en-US" sz="1050" b="1"/>
              <a:t>?</a:t>
            </a:r>
            <a:br>
              <a:rPr lang="en-US" sz="1050" b="1"/>
            </a:br>
            <a:r>
              <a:rPr lang="en-US" sz="1050" err="1"/>
              <a:t>DeviceLocation</a:t>
            </a:r>
            <a:r>
              <a:rPr lang="en-US" sz="1050"/>
              <a:t> evaluates one device at a time. NAA's atomic server-side group verdict (k-of-n across N devices) cannot be reproduced by calling </a:t>
            </a:r>
            <a:r>
              <a:rPr lang="en-US" sz="1050" err="1"/>
              <a:t>DeviceLocation</a:t>
            </a:r>
            <a:r>
              <a:rPr lang="en-US" sz="1050"/>
              <a:t> N times client-side — </a:t>
            </a:r>
            <a:r>
              <a:rPr lang="en-US" sz="1050">
                <a:highlight>
                  <a:srgbClr val="FFFF00"/>
                </a:highlight>
              </a:rPr>
              <a:t>because the group verdict must be atomic, consistent across all devices at the same moment</a:t>
            </a:r>
            <a:r>
              <a:rPr lang="en-US" sz="1050"/>
              <a:t>. Client-side aggregation breaks atomicity (race conditions, partial failures) and cannot produce a single signed attestation token. The </a:t>
            </a:r>
            <a:r>
              <a:rPr lang="en-US" sz="1050">
                <a:highlight>
                  <a:srgbClr val="FFFF00"/>
                </a:highlight>
              </a:rPr>
              <a:t>delta is architectural, not just a feature flag.</a:t>
            </a:r>
          </a:p>
          <a:p>
            <a:br>
              <a:rPr lang="en-US" sz="1050"/>
            </a:br>
            <a:endParaRPr lang="en-US" sz="1050"/>
          </a:p>
          <a:p>
            <a:r>
              <a:rPr lang="en-US" sz="1050" b="1"/>
              <a:t>Q2: Weak differentiation vs Location Verification?</a:t>
            </a:r>
            <a:br>
              <a:rPr lang="en-US" sz="1050"/>
            </a:br>
            <a:r>
              <a:rPr lang="en-US" sz="1050"/>
              <a:t>The normative gap: Location Verification returns a per-device </a:t>
            </a:r>
            <a:r>
              <a:rPr lang="en-US" sz="1050" err="1"/>
              <a:t>boolean</a:t>
            </a:r>
            <a:r>
              <a:rPr lang="en-US" sz="1050"/>
              <a:t>. NAA returns a </a:t>
            </a:r>
            <a:r>
              <a:rPr lang="en-US" sz="1050" b="1"/>
              <a:t>relational group verdict</a:t>
            </a:r>
            <a:r>
              <a:rPr lang="en-US" sz="1050"/>
              <a:t> with a k-of-n threshold enforced server-side. Standardizing this server-side is required for interoperability because: </a:t>
            </a:r>
          </a:p>
          <a:p>
            <a:pPr marL="228600" indent="-228600">
              <a:buAutoNum type="alphaLcParenBoth"/>
            </a:pPr>
            <a:r>
              <a:rPr lang="en-US" sz="1050"/>
              <a:t>the aggregation logic must be identical across operators</a:t>
            </a:r>
          </a:p>
          <a:p>
            <a:pPr marL="228600" indent="-228600">
              <a:buAutoNum type="alphaLcParenBoth"/>
            </a:pPr>
            <a:r>
              <a:rPr lang="en-US" sz="1050"/>
              <a:t>the attestation token must be verifiable by a relying party without re-querying individual devices, and </a:t>
            </a:r>
          </a:p>
          <a:p>
            <a:pPr marL="228600" indent="-228600">
              <a:buAutoNum type="alphaLcParenBoth"/>
            </a:pPr>
            <a:r>
              <a:rPr lang="en-US" sz="1050"/>
              <a:t>partial-presence states (partial) have no equivalent in Location Verification semantics.</a:t>
            </a:r>
          </a:p>
          <a:p>
            <a:br>
              <a:rPr lang="en-US" sz="1050"/>
            </a:br>
            <a:endParaRPr lang="en-US" sz="1050"/>
          </a:p>
          <a:p>
            <a:r>
              <a:rPr lang="en-US" sz="1050" b="1"/>
              <a:t>Q3: Consent / privacy model underspecified?</a:t>
            </a:r>
            <a:br>
              <a:rPr lang="en-US" sz="1050"/>
            </a:br>
            <a:r>
              <a:rPr lang="en-US" sz="1050"/>
              <a:t>Two explicit modes:</a:t>
            </a:r>
          </a:p>
          <a:p>
            <a:r>
              <a:rPr lang="en-US" sz="1050" b="1">
                <a:highlight>
                  <a:srgbClr val="FFFF00"/>
                </a:highlight>
              </a:rPr>
              <a:t>Enterprise</a:t>
            </a:r>
            <a:r>
              <a:rPr lang="en-US" sz="1050" b="1"/>
              <a:t> fleet :</a:t>
            </a:r>
            <a:r>
              <a:rPr lang="en-US" sz="1050"/>
              <a:t> All devices are operator-registered assets under a single enterprise tenant. No end-user consent needed beyond enterprise subscription agreement.</a:t>
            </a:r>
          </a:p>
          <a:p>
            <a:r>
              <a:rPr lang="en-US" sz="1050" b="1">
                <a:highlight>
                  <a:srgbClr val="FFFF00"/>
                </a:highlight>
              </a:rPr>
              <a:t>Multi-user </a:t>
            </a:r>
            <a:r>
              <a:rPr lang="en-US" sz="1050" b="1"/>
              <a:t>cluster:</a:t>
            </a:r>
            <a:r>
              <a:rPr lang="en-US" sz="1050"/>
              <a:t> Each device owner must grant explicit OAuth scope consent. NAA returns only the group verdict — no individual coordinates, no identity linkage exposed via API. Data minimization: raw locations never leave the operator; only the </a:t>
            </a:r>
            <a:r>
              <a:rPr lang="en-US" sz="1050" err="1"/>
              <a:t>boolean</a:t>
            </a:r>
            <a:r>
              <a:rPr lang="en-US" sz="1050"/>
              <a:t> verdict + attestation token are surfaced.</a:t>
            </a:r>
          </a:p>
          <a:p>
            <a:br>
              <a:rPr lang="en-US" sz="1050"/>
            </a:br>
            <a:endParaRPr lang="en-US" sz="1050"/>
          </a:p>
          <a:p>
            <a:r>
              <a:rPr lang="en-US" sz="1050" b="1"/>
              <a:t>Q4: Subscription model too vague?</a:t>
            </a:r>
            <a:r>
              <a:rPr lang="en-US" sz="1050" b="1">
                <a:highlight>
                  <a:srgbClr val="FFFF00"/>
                </a:highlight>
              </a:rPr>
              <a:t> [To be discussed during Spec development]</a:t>
            </a:r>
            <a:br>
              <a:rPr lang="en-US" sz="1050"/>
            </a:br>
            <a:r>
              <a:rPr lang="en-US" sz="1050"/>
              <a:t>Subscription resource model (aligned with Geofencing Subscriptions pattern):</a:t>
            </a:r>
          </a:p>
          <a:p>
            <a:r>
              <a:rPr lang="en-US" sz="1050"/>
              <a:t>POST /assembly-subscriptions → creates subscription, returns </a:t>
            </a:r>
            <a:r>
              <a:rPr lang="en-US" sz="1050" err="1"/>
              <a:t>subscriptionId</a:t>
            </a:r>
            <a:endParaRPr lang="en-US" sz="1050"/>
          </a:p>
          <a:p>
            <a:r>
              <a:rPr lang="en-US" sz="1050"/>
              <a:t>Event types: </a:t>
            </a:r>
            <a:r>
              <a:rPr lang="en-US" sz="1050" err="1"/>
              <a:t>assembly.co_present</a:t>
            </a:r>
            <a:r>
              <a:rPr lang="en-US" sz="1050"/>
              <a:t>, </a:t>
            </a:r>
            <a:r>
              <a:rPr lang="en-US" sz="1050" err="1"/>
              <a:t>assembly.partial</a:t>
            </a:r>
            <a:r>
              <a:rPr lang="en-US" sz="1050"/>
              <a:t>, </a:t>
            </a:r>
            <a:r>
              <a:rPr lang="en-US" sz="1050" err="1"/>
              <a:t>assembly.not_co_present</a:t>
            </a:r>
            <a:endParaRPr lang="en-US" sz="1050"/>
          </a:p>
          <a:p>
            <a:r>
              <a:rPr lang="en-US" sz="1050"/>
              <a:t>Payload: </a:t>
            </a:r>
            <a:r>
              <a:rPr lang="en-US" sz="1050" err="1"/>
              <a:t>CloudEvent</a:t>
            </a:r>
            <a:r>
              <a:rPr lang="en-US" sz="1050"/>
              <a:t> envelope with </a:t>
            </a:r>
            <a:r>
              <a:rPr lang="en-US" sz="1050" err="1"/>
              <a:t>subscriptionId</a:t>
            </a:r>
            <a:r>
              <a:rPr lang="en-US" sz="1050"/>
              <a:t>, verdict, timestamp, </a:t>
            </a:r>
            <a:r>
              <a:rPr lang="en-US" sz="1050" err="1"/>
              <a:t>attestationToken</a:t>
            </a:r>
            <a:endParaRPr lang="en-US" sz="1050"/>
          </a:p>
          <a:p>
            <a:r>
              <a:rPr lang="en-US" sz="1050"/>
              <a:t>Callback: HTTPS webhook; retries per CAMARA notification guidelines</a:t>
            </a:r>
          </a:p>
          <a:p>
            <a:r>
              <a:rPr lang="en-US" sz="1050"/>
              <a:t>Expiry/cancellation: </a:t>
            </a:r>
            <a:r>
              <a:rPr lang="en-US" sz="1050" err="1"/>
              <a:t>maxDuration</a:t>
            </a:r>
            <a:r>
              <a:rPr lang="en-US" sz="1050"/>
              <a:t> field + DELETE /assembly-subscriptions/{id}</a:t>
            </a:r>
          </a:p>
          <a:p>
            <a:r>
              <a:rPr lang="en-US" sz="1050"/>
              <a:t>Lifecycle states: ACTIVE → EXPIRED / DELETED</a:t>
            </a:r>
          </a:p>
        </p:txBody>
      </p:sp>
    </p:spTree>
    <p:extLst>
      <p:ext uri="{BB962C8B-B14F-4D97-AF65-F5344CB8AC3E}">
        <p14:creationId xmlns:p14="http://schemas.microsoft.com/office/powerpoint/2010/main" val="2034518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26F00-41E3-72EC-9869-7A56628A2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911BC-E442-3E46-86DC-1D3D25E73498}"/>
              </a:ext>
            </a:extLst>
          </p:cNvPr>
          <p:cNvSpPr>
            <a:spLocks noGrp="1"/>
          </p:cNvSpPr>
          <p:nvPr>
            <p:ph type="title"/>
          </p:nvPr>
        </p:nvSpPr>
        <p:spPr>
          <a:xfrm>
            <a:off x="470211" y="436920"/>
            <a:ext cx="8057101" cy="829647"/>
          </a:xfrm>
        </p:spPr>
        <p:txBody>
          <a:bodyPr vert="horz" lIns="91440" tIns="45720" rIns="91440" bIns="45720" rtlCol="0" anchor="ctr">
            <a:normAutofit/>
          </a:bodyPr>
          <a:lstStyle/>
          <a:p>
            <a:r>
              <a:rPr lang="en-US" sz="3110">
                <a:latin typeface="Aptos" panose="020B0004020202020204" pitchFamily="34" charset="0"/>
                <a:ea typeface="微软雅黑" panose="020B0503020204020204" pitchFamily="34" charset="-122"/>
              </a:rPr>
              <a:t>Additional Response to Questions</a:t>
            </a:r>
          </a:p>
        </p:txBody>
      </p:sp>
      <p:graphicFrame>
        <p:nvGraphicFramePr>
          <p:cNvPr id="3" name="Table 2">
            <a:extLst>
              <a:ext uri="{FF2B5EF4-FFF2-40B4-BE49-F238E27FC236}">
                <a16:creationId xmlns:a16="http://schemas.microsoft.com/office/drawing/2014/main" id="{78FBA851-D73C-10EE-E3D7-0183B8789E18}"/>
              </a:ext>
            </a:extLst>
          </p:cNvPr>
          <p:cNvGraphicFramePr>
            <a:graphicFrameLocks noGrp="1"/>
          </p:cNvGraphicFramePr>
          <p:nvPr>
            <p:extLst>
              <p:ext uri="{D42A27DB-BD31-4B8C-83A1-F6EECF244321}">
                <p14:modId xmlns:p14="http://schemas.microsoft.com/office/powerpoint/2010/main" val="2365245111"/>
              </p:ext>
            </p:extLst>
          </p:nvPr>
        </p:nvGraphicFramePr>
        <p:xfrm>
          <a:off x="470211" y="1353345"/>
          <a:ext cx="11382699" cy="3291840"/>
        </p:xfrm>
        <a:graphic>
          <a:graphicData uri="http://schemas.openxmlformats.org/drawingml/2006/table">
            <a:tbl>
              <a:tblPr firstRow="1" firstCol="1" bandRow="1">
                <a:tableStyleId>{BC89EF96-8CEA-46FF-86C4-4CE0E7609802}</a:tableStyleId>
              </a:tblPr>
              <a:tblGrid>
                <a:gridCol w="581350">
                  <a:extLst>
                    <a:ext uri="{9D8B030D-6E8A-4147-A177-3AD203B41FA5}">
                      <a16:colId xmlns:a16="http://schemas.microsoft.com/office/drawing/2014/main" val="427578021"/>
                    </a:ext>
                  </a:extLst>
                </a:gridCol>
                <a:gridCol w="2446019">
                  <a:extLst>
                    <a:ext uri="{9D8B030D-6E8A-4147-A177-3AD203B41FA5}">
                      <a16:colId xmlns:a16="http://schemas.microsoft.com/office/drawing/2014/main" val="589381244"/>
                    </a:ext>
                  </a:extLst>
                </a:gridCol>
                <a:gridCol w="8355330">
                  <a:extLst>
                    <a:ext uri="{9D8B030D-6E8A-4147-A177-3AD203B41FA5}">
                      <a16:colId xmlns:a16="http://schemas.microsoft.com/office/drawing/2014/main" val="3236450117"/>
                    </a:ext>
                  </a:extLst>
                </a:gridCol>
              </a:tblGrid>
              <a:tr h="139294">
                <a:tc>
                  <a:txBody>
                    <a:bodyPr/>
                    <a:lstStyle/>
                    <a:p>
                      <a:pPr marL="0" marR="0">
                        <a:buNone/>
                      </a:pPr>
                      <a:r>
                        <a:rPr lang="en-US" sz="1200">
                          <a:effectLst/>
                        </a:rPr>
                        <a: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Point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Response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7650994"/>
                  </a:ext>
                </a:extLst>
              </a:tr>
              <a:tr h="696472">
                <a:tc>
                  <a:txBody>
                    <a:bodyPr/>
                    <a:lstStyle/>
                    <a:p>
                      <a:pPr marL="0" marR="0">
                        <a:buNone/>
                      </a:pPr>
                      <a:r>
                        <a:rPr lang="en-US" sz="1200">
                          <a:effectLst/>
                        </a:rPr>
                        <a:t>1</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Why a new API family, not just an enhancement to </a:t>
                      </a:r>
                      <a:r>
                        <a:rPr lang="en-US" sz="1200" err="1">
                          <a:effectLst/>
                        </a:rPr>
                        <a:t>DeviceLocation</a:t>
                      </a:r>
                      <a:r>
                        <a:rPr lang="en-US" sz="1200">
                          <a:effectLst/>
                        </a:rPr>
                        <a: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DeviceLocation checks one device at a time. NAA answers a different question entirely: "Are these devices together?" — not "Where is this device?". The group verdict is produced atomically across all N devices at once. Calling DeviceLocation N times breaks that atomicity(indivisible/ granular most monolithic operation) and cannot produce a single signed attestation token. The distinction is architectural, not a feature flag. Promoting it as a DeviceLocation enhancement would also force callers to aggregate individual locations — increasing privacy exposure and destroying the attestation model</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0380167"/>
                  </a:ext>
                </a:extLst>
              </a:tr>
              <a:tr h="603796">
                <a:tc>
                  <a:txBody>
                    <a:bodyPr/>
                    <a:lstStyle/>
                    <a:p>
                      <a:pPr marL="0" marR="0">
                        <a:buNone/>
                      </a:pPr>
                      <a:r>
                        <a:rPr lang="en-US" sz="1200">
                          <a:effectLst/>
                        </a:rPr>
                        <a:t>2</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What exactly can't be done with Location Verification?</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Location Verification returns a per-device boolean. NAA returns a relational group verdict with a k-of-n threshold enforced server-side. Three things cannot be replicated client-side: (a) the aggregation logic must be identical across operators — standardization is required; (b) the attestation token must be verifiable by a downstream system without re-querying individual devices; (c) the partial state (some but not enough devices present) has no equivalent in Location Verification semantics</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4365731"/>
                  </a:ext>
                </a:extLst>
              </a:tr>
              <a:tr h="603796">
                <a:tc>
                  <a:txBody>
                    <a:bodyPr/>
                    <a:lstStyle/>
                    <a:p>
                      <a:pPr marL="0" marR="0">
                        <a:buNone/>
                      </a:pPr>
                      <a:r>
                        <a:rPr lang="en-US" sz="1200">
                          <a:effectLst/>
                        </a:rPr>
                        <a:t>3</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How does consent and privacy work?</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Two modes: (a) Enterprise fleet — all devices are operator-registered assets under a single enterprise tenant; no per-user consent needed beyond the enterprise subscription agreement. (b) Multi-user cluster — each device owner must grant explicit OAuth scope consent; NAA rejects the request if any consent is missing. In both cases, raw device locations never leave the operator — only the group verdict and attestation token are returned. No individual coordinates or identity linkage is ever exposed via the API.</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0103132"/>
                  </a:ext>
                </a:extLst>
              </a:tr>
              <a:tr h="603796">
                <a:tc>
                  <a:txBody>
                    <a:bodyPr/>
                    <a:lstStyle/>
                    <a:p>
                      <a:pPr marL="0" marR="0">
                        <a:buNone/>
                      </a:pPr>
                      <a:r>
                        <a:rPr lang="en-US" sz="1200">
                          <a:effectLst/>
                        </a:rPr>
                        <a:t>4</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What does the subscription model look like?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The model is structurally identical to the Geofencing Subscriptions pattern. POST /assembly-subscriptions creates a subscription; events: </a:t>
                      </a:r>
                      <a:r>
                        <a:rPr lang="en-US" sz="1200" err="1">
                          <a:effectLst/>
                        </a:rPr>
                        <a:t>assembly.co_present</a:t>
                      </a:r>
                      <a:r>
                        <a:rPr lang="en-US" sz="1200">
                          <a:effectLst/>
                        </a:rPr>
                        <a:t>, </a:t>
                      </a:r>
                      <a:r>
                        <a:rPr lang="en-US" sz="1200" err="1">
                          <a:effectLst/>
                        </a:rPr>
                        <a:t>assembly.partial</a:t>
                      </a:r>
                      <a:r>
                        <a:rPr lang="en-US" sz="1200">
                          <a:effectLst/>
                        </a:rPr>
                        <a:t>, </a:t>
                      </a:r>
                      <a:r>
                        <a:rPr lang="en-US" sz="1200" err="1">
                          <a:effectLst/>
                        </a:rPr>
                        <a:t>assembly.not_co_present</a:t>
                      </a:r>
                      <a:r>
                        <a:rPr lang="en-US" sz="1200">
                          <a:effectLst/>
                        </a:rPr>
                        <a:t>; payload is a </a:t>
                      </a:r>
                      <a:r>
                        <a:rPr lang="en-US" sz="1200" err="1">
                          <a:effectLst/>
                        </a:rPr>
                        <a:t>CloudEvent</a:t>
                      </a:r>
                      <a:r>
                        <a:rPr lang="en-US" sz="1200">
                          <a:effectLst/>
                        </a:rPr>
                        <a:t> envelope with verdict, timestamp, and attestation token; delivery via HTTPS webhook with retries per CAMARA notification guidelines; expiry via </a:t>
                      </a:r>
                      <a:r>
                        <a:rPr lang="en-US" sz="1200" err="1">
                          <a:effectLst/>
                        </a:rPr>
                        <a:t>maxDuration</a:t>
                      </a:r>
                      <a:r>
                        <a:rPr lang="en-US" sz="1200">
                          <a:effectLst/>
                        </a:rPr>
                        <a:t> field; cancellation via DELETE /assembly-subscriptions/{id}. Detailed spec to be finalized during spec development.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42383" marR="4238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5671374"/>
                  </a:ext>
                </a:extLst>
              </a:tr>
            </a:tbl>
          </a:graphicData>
        </a:graphic>
      </p:graphicFrame>
      <p:graphicFrame>
        <p:nvGraphicFramePr>
          <p:cNvPr id="4" name="Table 3">
            <a:extLst>
              <a:ext uri="{FF2B5EF4-FFF2-40B4-BE49-F238E27FC236}">
                <a16:creationId xmlns:a16="http://schemas.microsoft.com/office/drawing/2014/main" id="{D171B9F9-729C-170D-C443-6901B71F86A4}"/>
              </a:ext>
            </a:extLst>
          </p:cNvPr>
          <p:cNvGraphicFramePr>
            <a:graphicFrameLocks noGrp="1"/>
          </p:cNvGraphicFramePr>
          <p:nvPr>
            <p:extLst>
              <p:ext uri="{D42A27DB-BD31-4B8C-83A1-F6EECF244321}">
                <p14:modId xmlns:p14="http://schemas.microsoft.com/office/powerpoint/2010/main" val="525744830"/>
              </p:ext>
            </p:extLst>
          </p:nvPr>
        </p:nvGraphicFramePr>
        <p:xfrm>
          <a:off x="470210" y="4823460"/>
          <a:ext cx="11382699" cy="1796694"/>
        </p:xfrm>
        <a:graphic>
          <a:graphicData uri="http://schemas.openxmlformats.org/drawingml/2006/table">
            <a:tbl>
              <a:tblPr firstRow="1" firstCol="1" bandRow="1">
                <a:tableStyleId>{BC89EF96-8CEA-46FF-86C4-4CE0E7609802}</a:tableStyleId>
              </a:tblPr>
              <a:tblGrid>
                <a:gridCol w="1644340">
                  <a:extLst>
                    <a:ext uri="{9D8B030D-6E8A-4147-A177-3AD203B41FA5}">
                      <a16:colId xmlns:a16="http://schemas.microsoft.com/office/drawing/2014/main" val="515745931"/>
                    </a:ext>
                  </a:extLst>
                </a:gridCol>
                <a:gridCol w="9738359">
                  <a:extLst>
                    <a:ext uri="{9D8B030D-6E8A-4147-A177-3AD203B41FA5}">
                      <a16:colId xmlns:a16="http://schemas.microsoft.com/office/drawing/2014/main" val="1564958151"/>
                    </a:ext>
                  </a:extLst>
                </a:gridCol>
              </a:tblGrid>
              <a:tr h="267852">
                <a:tc>
                  <a:txBody>
                    <a:bodyPr/>
                    <a:lstStyle/>
                    <a:p>
                      <a:pPr marL="0" marR="0">
                        <a:buNone/>
                      </a:pPr>
                      <a:r>
                        <a:rPr lang="en-US" sz="1200">
                          <a:effectLst/>
                        </a:rPr>
                        <a:t>Topic</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Response </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8940278"/>
                  </a:ext>
                </a:extLst>
              </a:tr>
              <a:tr h="452001">
                <a:tc>
                  <a:txBody>
                    <a:bodyPr/>
                    <a:lstStyle/>
                    <a:p>
                      <a:pPr marL="0" marR="0">
                        <a:buNone/>
                      </a:pPr>
                      <a:r>
                        <a:rPr lang="en-US" sz="1200">
                          <a:effectLst/>
                        </a:rPr>
                        <a:t>Zone input</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Callers specify the zone as part of the POST /verify request. Cluster members are identified by standard CAMARA device identifiers (phoneNumber, networkAccessIdentifier, ipv4Address/ipv6Address) — no operator-specific zone ID required</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657453"/>
                  </a:ext>
                </a:extLst>
              </a:tr>
              <a:tr h="452001">
                <a:tc>
                  <a:txBody>
                    <a:bodyPr/>
                    <a:lstStyle/>
                    <a:p>
                      <a:pPr marL="0" marR="0">
                        <a:buNone/>
                      </a:pPr>
                      <a:r>
                        <a:rPr lang="en-US" sz="1200">
                          <a:effectLst/>
                        </a:rPr>
                        <a:t>Group verdict semantics</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co_present — k-of-n minimum devices confirmed in zone within time window. partial — at least one but fewer than k confirmed. not_co_present — minimum not met. Unreachable or non-consenting devices count as absent; their errors are reported alongside the verdict. partial is a first-class outcome, not an error state.</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0895869"/>
                  </a:ext>
                </a:extLst>
              </a:tr>
              <a:tr h="452001">
                <a:tc>
                  <a:txBody>
                    <a:bodyPr/>
                    <a:lstStyle/>
                    <a:p>
                      <a:pPr marL="0" marR="0">
                        <a:buNone/>
                      </a:pPr>
                      <a:r>
                        <a:rPr lang="en-US" sz="1200">
                          <a:effectLst/>
                        </a:rPr>
                        <a:t>Attestation token</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buNone/>
                      </a:pPr>
                      <a:r>
                        <a:rPr lang="en-US" sz="1200">
                          <a:effectLst/>
                        </a:rPr>
                        <a:t>A signed token returned with every verdict — acts as a tamper-proof receipt. Downstream workflows can act on trusted presence without re-querying the API or seeing any device location. No individual device positions or identities are included in the token.</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7975029"/>
                  </a:ext>
                </a:extLst>
              </a:tr>
            </a:tbl>
          </a:graphicData>
        </a:graphic>
      </p:graphicFrame>
    </p:spTree>
    <p:extLst>
      <p:ext uri="{BB962C8B-B14F-4D97-AF65-F5344CB8AC3E}">
        <p14:creationId xmlns:p14="http://schemas.microsoft.com/office/powerpoint/2010/main" val="1050483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0541A-0678-E6F8-39DF-99DC496FF8FA}"/>
              </a:ext>
            </a:extLst>
          </p:cNvPr>
          <p:cNvSpPr>
            <a:spLocks noGrp="1"/>
          </p:cNvSpPr>
          <p:nvPr>
            <p:ph type="title"/>
          </p:nvPr>
        </p:nvSpPr>
        <p:spPr/>
        <p:txBody>
          <a:bodyPr/>
          <a:lstStyle/>
          <a:p>
            <a:r>
              <a:rPr lang="en-US">
                <a:latin typeface="Aptos" panose="020B0004020202020204" pitchFamily="34" charset="0"/>
                <a:ea typeface="微软雅黑" panose="020B0503020204020204" pitchFamily="34" charset="-122"/>
              </a:rPr>
              <a:t>Additional Response to Questions</a:t>
            </a:r>
            <a:endParaRPr lang="en-US"/>
          </a:p>
        </p:txBody>
      </p:sp>
      <p:sp>
        <p:nvSpPr>
          <p:cNvPr id="5" name="TextBox 4">
            <a:extLst>
              <a:ext uri="{FF2B5EF4-FFF2-40B4-BE49-F238E27FC236}">
                <a16:creationId xmlns:a16="http://schemas.microsoft.com/office/drawing/2014/main" id="{C4651C51-A1DF-09A0-3CE2-99BF619C03D7}"/>
              </a:ext>
            </a:extLst>
          </p:cNvPr>
          <p:cNvSpPr txBox="1"/>
          <p:nvPr/>
        </p:nvSpPr>
        <p:spPr>
          <a:xfrm>
            <a:off x="0" y="1449130"/>
            <a:ext cx="12192000" cy="4662815"/>
          </a:xfrm>
          <a:prstGeom prst="rect">
            <a:avLst/>
          </a:prstGeom>
          <a:noFill/>
        </p:spPr>
        <p:txBody>
          <a:bodyPr wrap="square">
            <a:spAutoFit/>
          </a:bodyPr>
          <a:lstStyle/>
          <a:p>
            <a:pPr marL="0" marR="0">
              <a:buNone/>
            </a:pP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Q1. LV comparison: </a:t>
            </a:r>
            <a:r>
              <a:rPr lang="en-US" sz="900" b="1" err="1">
                <a:solidFill>
                  <a:srgbClr val="002060"/>
                </a:solidFill>
                <a:effectLst/>
                <a:latin typeface="Calibri" panose="020F0502020204030204" pitchFamily="34" charset="0"/>
                <a:ea typeface="Aptos" panose="020B0004020202020204" pitchFamily="34" charset="0"/>
                <a:cs typeface="Aptos" panose="020B0004020202020204" pitchFamily="34" charset="0"/>
              </a:rPr>
              <a:t>DeviceLocation</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 LV also has PARTIAL/UNKNOWN (and match rate). When you say NAA adds "partial" with no LV equivalent, what exactly is the normative gap: k-of-n at group level, "atomic" timing, the attestation token, or something else?</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You're right that LV already returns PARTIAL and UNKNOWN for a single device. NAA's partial verdict means something fundamentally different — it is not about confidence in one device's position, it is about </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how many devices out of a group met the zone condition</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So the core </a:t>
            </a:r>
            <a:r>
              <a:rPr lang="en-US" sz="900" err="1">
                <a:solidFill>
                  <a:srgbClr val="002060"/>
                </a:solidFill>
                <a:effectLst/>
                <a:latin typeface="Calibri" panose="020F0502020204030204" pitchFamily="34" charset="0"/>
                <a:ea typeface="Aptos" panose="020B0004020202020204" pitchFamily="34" charset="0"/>
                <a:cs typeface="Aptos" panose="020B0004020202020204" pitchFamily="34" charset="0"/>
              </a:rPr>
              <a:t>costruct</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is always different.</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Example: a cluster has 4 phones, threshold is 3. If 3 are in the zone and 1 is not, NAA returns partial (3-of-4 present, threshold met) or </a:t>
            </a:r>
            <a:r>
              <a:rPr lang="en-US" sz="900" err="1">
                <a:solidFill>
                  <a:srgbClr val="002060"/>
                </a:solidFill>
                <a:effectLst/>
                <a:latin typeface="Calibri" panose="020F0502020204030204" pitchFamily="34" charset="0"/>
                <a:ea typeface="Aptos" panose="020B0004020202020204" pitchFamily="34" charset="0"/>
                <a:cs typeface="Aptos" panose="020B0004020202020204" pitchFamily="34" charset="0"/>
              </a:rPr>
              <a:t>not_co_present</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(if threshold required all 4). LV has no concept of "3 out of 4 devices" — it only </a:t>
            </a:r>
            <a:r>
              <a:rPr lang="en-US" sz="900" err="1">
                <a:solidFill>
                  <a:srgbClr val="002060"/>
                </a:solidFill>
                <a:effectLst/>
                <a:latin typeface="Calibri" panose="020F0502020204030204" pitchFamily="34" charset="0"/>
                <a:ea typeface="Aptos" panose="020B0004020202020204" pitchFamily="34" charset="0"/>
                <a:cs typeface="Aptos" panose="020B0004020202020204" pitchFamily="34" charset="0"/>
              </a:rPr>
              <a:t>scpopes</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about one device.</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The normative gap is primarily </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k-of-n group evaluation</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the operator evaluates the entire cluster server-side in one call and returns a single group-level verdict with a count. Secondary gaps are </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atomic timing</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(all devices evaluated within one bounded window, not N separate calls at different moments) and </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attestation token</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(a signed proof of the group result that downstream systems can trust without re-checking). None of these exist in LV — they are new semantics that cannot be replicated by calling LV per-device and aggregating client-side in a </a:t>
            </a:r>
            <a:r>
              <a:rPr lang="en-US" sz="900" err="1">
                <a:solidFill>
                  <a:srgbClr val="002060"/>
                </a:solidFill>
                <a:effectLst/>
                <a:latin typeface="Calibri" panose="020F0502020204030204" pitchFamily="34" charset="0"/>
                <a:ea typeface="Aptos" panose="020B0004020202020204" pitchFamily="34" charset="0"/>
                <a:cs typeface="Aptos" panose="020B0004020202020204" pitchFamily="34" charset="0"/>
              </a:rPr>
              <a:t>standardised</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interoperable way.</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lgn="ctr">
              <a:buNone/>
            </a:pPr>
            <a:br>
              <a:rPr lang="en-US" sz="900">
                <a:solidFill>
                  <a:srgbClr val="002060"/>
                </a:solidFill>
                <a:effectLst/>
                <a:latin typeface="Calibri" panose="020F0502020204030204" pitchFamily="34" charset="0"/>
                <a:ea typeface="Times New Roman" panose="02020603050405020304" pitchFamily="18" charset="0"/>
                <a:cs typeface="Aptos" panose="020B0004020202020204" pitchFamily="34" charset="0"/>
              </a:rPr>
            </a:b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Q2. Zone input: the deck says "no coordinates / no zone exposed", but you also say callers specify the zone in POST /verify (no operator </a:t>
            </a:r>
            <a:r>
              <a:rPr lang="en-US" sz="900" b="1" err="1">
                <a:solidFill>
                  <a:srgbClr val="002060"/>
                </a:solidFill>
                <a:effectLst/>
                <a:latin typeface="Calibri" panose="020F0502020204030204" pitchFamily="34" charset="0"/>
                <a:ea typeface="Aptos" panose="020B0004020202020204" pitchFamily="34" charset="0"/>
                <a:cs typeface="Aptos" panose="020B0004020202020204" pitchFamily="34" charset="0"/>
              </a:rPr>
              <a:t>zoneId</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 Should we assume the caller provides a Commonalities Area object (which implies area coordinates), or some other zone reference? If it's Area, are you ok to reword the deck to avoid confusion?</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Yes, the caller provides a standard </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Commonalities Area object</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(circle or polygon with coordinates) in the request body. The deck phrase "no coordinates exposed" was meant to describe the response side — NAA never reveals any device's resolved location back to the caller. We acknowledge this wording caused confusion and will reword the deck to: </a:t>
            </a:r>
            <a:r>
              <a:rPr lang="en-US" sz="900" i="1">
                <a:solidFill>
                  <a:srgbClr val="002060"/>
                </a:solidFill>
                <a:effectLst/>
                <a:latin typeface="Calibri" panose="020F0502020204030204" pitchFamily="34" charset="0"/>
                <a:ea typeface="Aptos" panose="020B0004020202020204" pitchFamily="34" charset="0"/>
                <a:cs typeface="Aptos" panose="020B0004020202020204" pitchFamily="34" charset="0"/>
              </a:rPr>
              <a:t>"Zone is supplied by the caller as a standard Area object; no device coordinates are exposed in the response."</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lgn="ctr">
              <a:buNone/>
            </a:pPr>
            <a:br>
              <a:rPr lang="en-US" sz="900">
                <a:solidFill>
                  <a:srgbClr val="002060"/>
                </a:solidFill>
                <a:effectLst/>
                <a:latin typeface="Calibri" panose="020F0502020204030204" pitchFamily="34" charset="0"/>
                <a:ea typeface="Times New Roman" panose="02020603050405020304" pitchFamily="18" charset="0"/>
                <a:cs typeface="Aptos" panose="020B0004020202020204" pitchFamily="34" charset="0"/>
              </a:rPr>
            </a:b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Q3. "Atomic" verdict: what is the intended normative definition (single evaluation timestamp vs time window with </a:t>
            </a:r>
            <a:r>
              <a:rPr lang="en-US" sz="900" b="1" err="1">
                <a:solidFill>
                  <a:srgbClr val="002060"/>
                </a:solidFill>
                <a:effectLst/>
                <a:latin typeface="Calibri" panose="020F0502020204030204" pitchFamily="34" charset="0"/>
                <a:ea typeface="Aptos" panose="020B0004020202020204" pitchFamily="34" charset="0"/>
                <a:cs typeface="Aptos" panose="020B0004020202020204" pitchFamily="34" charset="0"/>
              </a:rPr>
              <a:t>maxAge</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a:t>
            </a:r>
            <a:r>
              <a:rPr lang="en-US" sz="900" b="1" err="1">
                <a:solidFill>
                  <a:srgbClr val="002060"/>
                </a:solidFill>
                <a:effectLst/>
                <a:latin typeface="Calibri" panose="020F0502020204030204" pitchFamily="34" charset="0"/>
                <a:ea typeface="Aptos" panose="020B0004020202020204" pitchFamily="34" charset="0"/>
                <a:cs typeface="Aptos" panose="020B0004020202020204" pitchFamily="34" charset="0"/>
              </a:rPr>
              <a:t>timeTolerance</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 per device)? How should unreachable/transient failures be treated (absent vs unknown) and reported?</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"Atomic" means: </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all devices in the cluster are evaluated within a single bounded time window</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defined by the caller's </a:t>
            </a:r>
            <a:r>
              <a:rPr lang="en-US" sz="900" err="1">
                <a:solidFill>
                  <a:srgbClr val="002060"/>
                </a:solidFill>
                <a:effectLst/>
                <a:latin typeface="Calibri" panose="020F0502020204030204" pitchFamily="34" charset="0"/>
                <a:ea typeface="Aptos" panose="020B0004020202020204" pitchFamily="34" charset="0"/>
                <a:cs typeface="Aptos" panose="020B0004020202020204" pitchFamily="34" charset="0"/>
              </a:rPr>
              <a:t>maxAge</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parameter. It is a time window, not a single-instant timestamp. Each device's last-known position must fall within </a:t>
            </a:r>
            <a:r>
              <a:rPr lang="en-US" sz="900" err="1">
                <a:solidFill>
                  <a:srgbClr val="002060"/>
                </a:solidFill>
                <a:effectLst/>
                <a:latin typeface="Calibri" panose="020F0502020204030204" pitchFamily="34" charset="0"/>
                <a:ea typeface="Aptos" panose="020B0004020202020204" pitchFamily="34" charset="0"/>
                <a:cs typeface="Aptos" panose="020B0004020202020204" pitchFamily="34" charset="0"/>
              </a:rPr>
              <a:t>maxAge</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of the evaluation moment.</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Failure handling:</a:t>
            </a:r>
            <a:endParaRPr lang="en-US" sz="90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SzPts val="1000"/>
              <a:buFont typeface="Symbol" panose="05050102010706020507" pitchFamily="18" charset="2"/>
              <a:buChar char=""/>
              <a:tabLst>
                <a:tab pos="457200" algn="l"/>
              </a:tabLst>
            </a:pPr>
            <a:r>
              <a:rPr lang="en-US" sz="900" b="1">
                <a:solidFill>
                  <a:srgbClr val="002060"/>
                </a:solidFill>
                <a:effectLst/>
                <a:latin typeface="Calibri" panose="020F0502020204030204" pitchFamily="34" charset="0"/>
                <a:ea typeface="Times New Roman" panose="02020603050405020304" pitchFamily="18" charset="0"/>
                <a:cs typeface="Aptos" panose="020B0004020202020204" pitchFamily="34" charset="0"/>
              </a:rPr>
              <a:t>Unreachable</a:t>
            </a:r>
            <a:r>
              <a:rPr lang="en-US" sz="900">
                <a:solidFill>
                  <a:srgbClr val="002060"/>
                </a:solidFill>
                <a:effectLst/>
                <a:latin typeface="Calibri" panose="020F0502020204030204" pitchFamily="34" charset="0"/>
                <a:ea typeface="Times New Roman" panose="02020603050405020304" pitchFamily="18" charset="0"/>
                <a:cs typeface="Aptos" panose="020B0004020202020204" pitchFamily="34" charset="0"/>
              </a:rPr>
              <a:t> (device off, no coverage): reported per-device as UNREACHABLE, counts as </a:t>
            </a:r>
            <a:r>
              <a:rPr lang="en-US" sz="900" b="1">
                <a:solidFill>
                  <a:srgbClr val="002060"/>
                </a:solidFill>
                <a:effectLst/>
                <a:latin typeface="Calibri" panose="020F0502020204030204" pitchFamily="34" charset="0"/>
                <a:ea typeface="Times New Roman" panose="02020603050405020304" pitchFamily="18" charset="0"/>
                <a:cs typeface="Aptos" panose="020B0004020202020204" pitchFamily="34" charset="0"/>
              </a:rPr>
              <a:t>not present</a:t>
            </a:r>
            <a:r>
              <a:rPr lang="en-US" sz="900">
                <a:solidFill>
                  <a:srgbClr val="002060"/>
                </a:solidFill>
                <a:effectLst/>
                <a:latin typeface="Calibri" panose="020F0502020204030204" pitchFamily="34" charset="0"/>
                <a:ea typeface="Times New Roman" panose="02020603050405020304" pitchFamily="18" charset="0"/>
                <a:cs typeface="Aptos" panose="020B0004020202020204" pitchFamily="34" charset="0"/>
              </a:rPr>
              <a:t> toward k-of-n.</a:t>
            </a:r>
            <a:endParaRPr lang="en-US" sz="900">
              <a:solidFill>
                <a:srgbClr val="002060"/>
              </a:solidFill>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SzPts val="1000"/>
              <a:buFont typeface="Symbol" panose="05050102010706020507" pitchFamily="18" charset="2"/>
              <a:buChar char=""/>
              <a:tabLst>
                <a:tab pos="457200" algn="l"/>
              </a:tabLst>
            </a:pPr>
            <a:r>
              <a:rPr lang="en-US" sz="900" b="1">
                <a:solidFill>
                  <a:srgbClr val="002060"/>
                </a:solidFill>
                <a:effectLst/>
                <a:latin typeface="Calibri" panose="020F0502020204030204" pitchFamily="34" charset="0"/>
                <a:ea typeface="Times New Roman" panose="02020603050405020304" pitchFamily="18" charset="0"/>
                <a:cs typeface="Aptos" panose="020B0004020202020204" pitchFamily="34" charset="0"/>
              </a:rPr>
              <a:t>Transient error</a:t>
            </a:r>
            <a:r>
              <a:rPr lang="en-US" sz="900">
                <a:solidFill>
                  <a:srgbClr val="002060"/>
                </a:solidFill>
                <a:effectLst/>
                <a:latin typeface="Calibri" panose="020F0502020204030204" pitchFamily="34" charset="0"/>
                <a:ea typeface="Times New Roman" panose="02020603050405020304" pitchFamily="18" charset="0"/>
                <a:cs typeface="Aptos" panose="020B0004020202020204" pitchFamily="34" charset="0"/>
              </a:rPr>
              <a:t> (temporary network issue): reported per-device as UNKNOWN, also counts as </a:t>
            </a:r>
            <a:r>
              <a:rPr lang="en-US" sz="900" b="1">
                <a:solidFill>
                  <a:srgbClr val="002060"/>
                </a:solidFill>
                <a:effectLst/>
                <a:latin typeface="Calibri" panose="020F0502020204030204" pitchFamily="34" charset="0"/>
                <a:ea typeface="Times New Roman" panose="02020603050405020304" pitchFamily="18" charset="0"/>
                <a:cs typeface="Aptos" panose="020B0004020202020204" pitchFamily="34" charset="0"/>
              </a:rPr>
              <a:t>not present</a:t>
            </a:r>
            <a:r>
              <a:rPr lang="en-US" sz="900">
                <a:solidFill>
                  <a:srgbClr val="002060"/>
                </a:solidFill>
                <a:effectLst/>
                <a:latin typeface="Calibri" panose="020F0502020204030204" pitchFamily="34" charset="0"/>
                <a:ea typeface="Times New Roman" panose="02020603050405020304" pitchFamily="18" charset="0"/>
                <a:cs typeface="Aptos" panose="020B0004020202020204" pitchFamily="34" charset="0"/>
              </a:rPr>
              <a:t>.</a:t>
            </a:r>
            <a:endParaRPr lang="en-US" sz="900">
              <a:solidFill>
                <a:srgbClr val="002060"/>
              </a:solidFill>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SzPts val="1000"/>
              <a:buFont typeface="Symbol" panose="05050102010706020507" pitchFamily="18" charset="2"/>
              <a:buChar char=""/>
              <a:tabLst>
                <a:tab pos="457200" algn="l"/>
              </a:tabLst>
            </a:pPr>
            <a:r>
              <a:rPr lang="en-US" sz="900">
                <a:solidFill>
                  <a:srgbClr val="002060"/>
                </a:solidFill>
                <a:effectLst/>
                <a:latin typeface="Calibri" panose="020F0502020204030204" pitchFamily="34" charset="0"/>
                <a:ea typeface="Times New Roman" panose="02020603050405020304" pitchFamily="18" charset="0"/>
                <a:cs typeface="Aptos" panose="020B0004020202020204" pitchFamily="34" charset="0"/>
              </a:rPr>
              <a:t>If unreachable + unknown devices push the present count below k, verdict becomes partial or </a:t>
            </a:r>
            <a:r>
              <a:rPr lang="en-US" sz="900" err="1">
                <a:solidFill>
                  <a:srgbClr val="002060"/>
                </a:solidFill>
                <a:effectLst/>
                <a:latin typeface="Calibri" panose="020F0502020204030204" pitchFamily="34" charset="0"/>
                <a:ea typeface="Times New Roman" panose="02020603050405020304" pitchFamily="18" charset="0"/>
                <a:cs typeface="Aptos" panose="020B0004020202020204" pitchFamily="34" charset="0"/>
              </a:rPr>
              <a:t>not_co_present</a:t>
            </a:r>
            <a:r>
              <a:rPr lang="en-US" sz="900">
                <a:solidFill>
                  <a:srgbClr val="002060"/>
                </a:solidFill>
                <a:effectLst/>
                <a:latin typeface="Calibri" panose="020F0502020204030204" pitchFamily="34" charset="0"/>
                <a:ea typeface="Times New Roman" panose="02020603050405020304" pitchFamily="18" charset="0"/>
                <a:cs typeface="Aptos" panose="020B0004020202020204" pitchFamily="34" charset="0"/>
              </a:rPr>
              <a:t>.</a:t>
            </a:r>
            <a:endParaRPr lang="en-US" sz="900">
              <a:solidFill>
                <a:srgbClr val="002060"/>
              </a:solidFill>
              <a:effectLst/>
              <a:latin typeface="Aptos" panose="020B0004020202020204" pitchFamily="34" charset="0"/>
              <a:ea typeface="Aptos" panose="020B0004020202020204" pitchFamily="34" charset="0"/>
              <a:cs typeface="Aptos" panose="020B0004020202020204" pitchFamily="34" charset="0"/>
            </a:endParaRPr>
          </a:p>
          <a:p>
            <a:pPr marL="0" marR="0" algn="ctr">
              <a:buNone/>
            </a:pPr>
            <a:br>
              <a:rPr lang="en-US" sz="900">
                <a:solidFill>
                  <a:srgbClr val="002060"/>
                </a:solidFill>
                <a:effectLst/>
                <a:latin typeface="Calibri" panose="020F0502020204030204" pitchFamily="34" charset="0"/>
                <a:ea typeface="Times New Roman" panose="02020603050405020304" pitchFamily="18" charset="0"/>
                <a:cs typeface="Aptos" panose="020B0004020202020204" pitchFamily="34" charset="0"/>
              </a:rPr>
            </a:b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Q4. Multi-user consent: how do you plan to collect/verify consent for multiple device owners in an interoperable way (given typical OAuth tokens are single-subject)? Would you consider scoping v0.x to enterprise fleet first and add multi-user later?</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Yes — </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v0.x will scope to enterprise/fleet only</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All devices belong to one </a:t>
            </a:r>
            <a:r>
              <a:rPr lang="en-US" sz="900" err="1">
                <a:solidFill>
                  <a:srgbClr val="002060"/>
                </a:solidFill>
                <a:effectLst/>
                <a:latin typeface="Calibri" panose="020F0502020204030204" pitchFamily="34" charset="0"/>
                <a:ea typeface="Aptos" panose="020B0004020202020204" pitchFamily="34" charset="0"/>
                <a:cs typeface="Aptos" panose="020B0004020202020204" pitchFamily="34" charset="0"/>
              </a:rPr>
              <a:t>organisation</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a:t>
            </a:r>
            <a:r>
              <a:rPr lang="en-US" sz="900" err="1">
                <a:solidFill>
                  <a:srgbClr val="002060"/>
                </a:solidFill>
                <a:effectLst/>
                <a:latin typeface="Calibri" panose="020F0502020204030204" pitchFamily="34" charset="0"/>
                <a:ea typeface="Aptos" panose="020B0004020202020204" pitchFamily="34" charset="0"/>
                <a:cs typeface="Aptos" panose="020B0004020202020204" pitchFamily="34" charset="0"/>
              </a:rPr>
              <a:t>authorised</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under a single client-credentials OAuth token. No multi-user consent is needed. For later versions, we will collaborate with the Commonalities WG to define a multi-user consent model (e.g., per-user pre-</a:t>
            </a:r>
            <a:r>
              <a:rPr lang="en-US" sz="900" err="1">
                <a:solidFill>
                  <a:srgbClr val="002060"/>
                </a:solidFill>
                <a:effectLst/>
                <a:latin typeface="Calibri" panose="020F0502020204030204" pitchFamily="34" charset="0"/>
                <a:ea typeface="Aptos" panose="020B0004020202020204" pitchFamily="34" charset="0"/>
                <a:cs typeface="Aptos" panose="020B0004020202020204" pitchFamily="34" charset="0"/>
              </a:rPr>
              <a:t>authorisation</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or consent registry)</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lgn="ctr">
              <a:buNone/>
            </a:pPr>
            <a:br>
              <a:rPr lang="en-US" sz="900">
                <a:solidFill>
                  <a:srgbClr val="002060"/>
                </a:solidFill>
                <a:effectLst/>
                <a:latin typeface="Calibri" panose="020F0502020204030204" pitchFamily="34" charset="0"/>
                <a:ea typeface="Times New Roman" panose="02020603050405020304" pitchFamily="18" charset="0"/>
                <a:cs typeface="Aptos" panose="020B0004020202020204" pitchFamily="34" charset="0"/>
              </a:rPr>
            </a:b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Q5. Subscriptions: do you expect the subscription resource (endpoints, lifecycle, payload, retries, expiry/cancel, errors) to follow the CAMARA event subscription template one-to-one, or any deviations?</a:t>
            </a:r>
            <a:endParaRPr lang="en-US" sz="90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One-to-one.</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Same create/query/delete lifecycle, </a:t>
            </a:r>
            <a:r>
              <a:rPr lang="en-US" sz="900" err="1">
                <a:solidFill>
                  <a:srgbClr val="002060"/>
                </a:solidFill>
                <a:effectLst/>
                <a:latin typeface="Calibri" panose="020F0502020204030204" pitchFamily="34" charset="0"/>
                <a:ea typeface="Aptos" panose="020B0004020202020204" pitchFamily="34" charset="0"/>
                <a:cs typeface="Aptos" panose="020B0004020202020204" pitchFamily="34" charset="0"/>
              </a:rPr>
              <a:t>CloudEvents</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payload (org.camaraproject.device-assembly.v0.status-changed), same retry and expiry rules. We may propose an optional PATCH for threshold/expiry updates, but will drop it if the WG prefers not to. We also agree subscriptions can be </a:t>
            </a:r>
            <a:r>
              <a:rPr lang="en-US" sz="900" b="1">
                <a:solidFill>
                  <a:srgbClr val="002060"/>
                </a:solidFill>
                <a:effectLst/>
                <a:latin typeface="Calibri" panose="020F0502020204030204" pitchFamily="34" charset="0"/>
                <a:ea typeface="Aptos" panose="020B0004020202020204" pitchFamily="34" charset="0"/>
                <a:cs typeface="Aptos" panose="020B0004020202020204" pitchFamily="34" charset="0"/>
              </a:rPr>
              <a:t>deferred to a later release</a:t>
            </a:r>
            <a:r>
              <a:rPr lang="en-US" sz="900">
                <a:solidFill>
                  <a:srgbClr val="002060"/>
                </a:solidFill>
                <a:effectLst/>
                <a:latin typeface="Calibri" panose="020F0502020204030204" pitchFamily="34" charset="0"/>
                <a:ea typeface="Aptos" panose="020B0004020202020204" pitchFamily="34" charset="0"/>
                <a:cs typeface="Aptos" panose="020B0004020202020204" pitchFamily="34" charset="0"/>
              </a:rPr>
              <a:t> — we'll work on on-demand POST /verify first.</a:t>
            </a:r>
            <a:endParaRPr lang="en-US" sz="900">
              <a:effectLst/>
              <a:latin typeface="Aptos" panose="020B0004020202020204" pitchFamily="34" charset="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865921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488F6-64C1-3564-0AD5-08E9007C2F44}"/>
              </a:ext>
            </a:extLst>
          </p:cNvPr>
          <p:cNvSpPr>
            <a:spLocks noGrp="1"/>
          </p:cNvSpPr>
          <p:nvPr>
            <p:ph type="title"/>
          </p:nvPr>
        </p:nvSpPr>
        <p:spPr/>
        <p:txBody>
          <a:bodyPr vert="horz" lIns="91440" tIns="45720" rIns="91440" bIns="45720" rtlCol="0" anchor="ctr">
            <a:normAutofit/>
          </a:bodyPr>
          <a:lstStyle/>
          <a:p>
            <a:r>
              <a:rPr lang="en-US">
                <a:latin typeface="Aptos" panose="020B0004020202020204" pitchFamily="34" charset="0"/>
                <a:ea typeface="微软雅黑" panose="020B0503020204020204" pitchFamily="34" charset="-122"/>
              </a:rPr>
              <a:t>Truth Table &amp; Additional inputs</a:t>
            </a:r>
          </a:p>
        </p:txBody>
      </p:sp>
      <p:sp>
        <p:nvSpPr>
          <p:cNvPr id="5" name="TextBox 4">
            <a:extLst>
              <a:ext uri="{FF2B5EF4-FFF2-40B4-BE49-F238E27FC236}">
                <a16:creationId xmlns:a16="http://schemas.microsoft.com/office/drawing/2014/main" id="{7D201EC5-0DDF-B00A-A1D8-4E2FF065A8D7}"/>
              </a:ext>
            </a:extLst>
          </p:cNvPr>
          <p:cNvSpPr txBox="1"/>
          <p:nvPr/>
        </p:nvSpPr>
        <p:spPr>
          <a:xfrm>
            <a:off x="682942" y="1911132"/>
            <a:ext cx="11124247" cy="3139321"/>
          </a:xfrm>
          <a:prstGeom prst="rect">
            <a:avLst/>
          </a:prstGeom>
          <a:noFill/>
        </p:spPr>
        <p:txBody>
          <a:bodyPr wrap="square">
            <a:spAutoFit/>
          </a:bodyPr>
          <a:lstStyle/>
          <a:p>
            <a:pPr marL="0" marR="0">
              <a:buNone/>
            </a:pP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a:t>
            </a:r>
            <a:r>
              <a:rPr lang="en-US" sz="1800" dirty="0" err="1">
                <a:solidFill>
                  <a:srgbClr val="002060"/>
                </a:solidFill>
                <a:effectLst/>
                <a:latin typeface="Calibri" panose="020F0502020204030204" pitchFamily="34" charset="0"/>
                <a:ea typeface="Aptos" panose="020B0004020202020204" pitchFamily="34" charset="0"/>
                <a:cs typeface="Times New Roman" panose="02020603050405020304" pitchFamily="18" charset="0"/>
              </a:rPr>
              <a:t>co_present</a:t>
            </a: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 = All present (m = N)</a:t>
            </a:r>
            <a:endParaRPr lang="en-US" sz="20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`partial` = Threshold met, not all (k ≤ m &lt; N) </a:t>
            </a:r>
            <a:endParaRPr lang="en-US" sz="20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a:t>
            </a:r>
            <a:r>
              <a:rPr lang="en-US" sz="1800" dirty="0" err="1">
                <a:solidFill>
                  <a:srgbClr val="002060"/>
                </a:solidFill>
                <a:effectLst/>
                <a:latin typeface="Calibri" panose="020F0502020204030204" pitchFamily="34" charset="0"/>
                <a:ea typeface="Aptos" panose="020B0004020202020204" pitchFamily="34" charset="0"/>
                <a:cs typeface="Times New Roman" panose="02020603050405020304" pitchFamily="18" charset="0"/>
              </a:rPr>
              <a:t>not_co_present</a:t>
            </a: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 = Below threshold (m &lt; k)</a:t>
            </a:r>
            <a:endParaRPr lang="en-US" sz="20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 </a:t>
            </a:r>
            <a:endParaRPr lang="en-US" sz="20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So in the example (N=4, k=3, m=3): verdict is `partial`. However, this is the concept. We can review this and update as necessary while developing the Swagger spec.</a:t>
            </a:r>
            <a:endParaRPr lang="en-US" sz="20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 </a:t>
            </a:r>
            <a:endParaRPr lang="en-US" sz="2000" dirty="0">
              <a:effectLst/>
              <a:latin typeface="Aptos" panose="020B0004020202020204" pitchFamily="34" charset="0"/>
              <a:ea typeface="Aptos" panose="020B0004020202020204" pitchFamily="34" charset="0"/>
              <a:cs typeface="Aptos" panose="020B0004020202020204" pitchFamily="34" charset="0"/>
            </a:endParaRPr>
          </a:p>
          <a:p>
            <a:pPr marL="0" marR="0">
              <a:buNone/>
            </a:pP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Response fields: Yes, the response will include `</a:t>
            </a:r>
            <a:r>
              <a:rPr lang="en-US" sz="1800" dirty="0" err="1">
                <a:solidFill>
                  <a:srgbClr val="002060"/>
                </a:solidFill>
                <a:effectLst/>
                <a:latin typeface="Calibri" panose="020F0502020204030204" pitchFamily="34" charset="0"/>
                <a:ea typeface="Aptos" panose="020B0004020202020204" pitchFamily="34" charset="0"/>
                <a:cs typeface="Times New Roman" panose="02020603050405020304" pitchFamily="18" charset="0"/>
              </a:rPr>
              <a:t>totalCount</a:t>
            </a: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 (N), `</a:t>
            </a:r>
            <a:r>
              <a:rPr lang="en-US" sz="1800" dirty="0" err="1">
                <a:solidFill>
                  <a:srgbClr val="002060"/>
                </a:solidFill>
                <a:effectLst/>
                <a:latin typeface="Calibri" panose="020F0502020204030204" pitchFamily="34" charset="0"/>
                <a:ea typeface="Aptos" panose="020B0004020202020204" pitchFamily="34" charset="0"/>
                <a:cs typeface="Times New Roman" panose="02020603050405020304" pitchFamily="18" charset="0"/>
              </a:rPr>
              <a:t>requiredCount</a:t>
            </a: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 (k), and `</a:t>
            </a:r>
            <a:r>
              <a:rPr lang="en-US" sz="1800" dirty="0" err="1">
                <a:solidFill>
                  <a:srgbClr val="002060"/>
                </a:solidFill>
                <a:effectLst/>
                <a:latin typeface="Calibri" panose="020F0502020204030204" pitchFamily="34" charset="0"/>
                <a:ea typeface="Aptos" panose="020B0004020202020204" pitchFamily="34" charset="0"/>
                <a:cs typeface="Times New Roman" panose="02020603050405020304" pitchFamily="18" charset="0"/>
              </a:rPr>
              <a:t>presentCount</a:t>
            </a: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 (m) so relying parties can interpret the verdict consistently across operators. We will update the deck and PR text with this truth table. Only challenge is my organization changed firewall policies and unable to push documents to Git. But will </a:t>
            </a:r>
            <a:r>
              <a:rPr lang="en-US" sz="1800" dirty="0" err="1">
                <a:solidFill>
                  <a:srgbClr val="002060"/>
                </a:solidFill>
                <a:effectLst/>
                <a:latin typeface="Calibri" panose="020F0502020204030204" pitchFamily="34" charset="0"/>
                <a:ea typeface="Aptos" panose="020B0004020202020204" pitchFamily="34" charset="0"/>
                <a:cs typeface="Times New Roman" panose="02020603050405020304" pitchFamily="18" charset="0"/>
              </a:rPr>
              <a:t>figureout</a:t>
            </a: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 a way and update </a:t>
            </a:r>
            <a:r>
              <a:rPr lang="en-US" sz="1800" dirty="0" err="1">
                <a:solidFill>
                  <a:srgbClr val="002060"/>
                </a:solidFill>
                <a:effectLst/>
                <a:latin typeface="Calibri" panose="020F0502020204030204" pitchFamily="34" charset="0"/>
                <a:ea typeface="Aptos" panose="020B0004020202020204" pitchFamily="34" charset="0"/>
                <a:cs typeface="Times New Roman" panose="02020603050405020304" pitchFamily="18" charset="0"/>
              </a:rPr>
              <a:t>ths</a:t>
            </a:r>
            <a:r>
              <a:rPr lang="en-US" sz="1800" dirty="0">
                <a:solidFill>
                  <a:srgbClr val="002060"/>
                </a:solidFill>
                <a:effectLst/>
                <a:latin typeface="Calibri" panose="020F0502020204030204" pitchFamily="34" charset="0"/>
                <a:ea typeface="Aptos" panose="020B0004020202020204" pitchFamily="34" charset="0"/>
                <a:cs typeface="Times New Roman" panose="02020603050405020304" pitchFamily="18" charset="0"/>
              </a:rPr>
              <a:t>. </a:t>
            </a:r>
            <a:endParaRPr lang="en-US" sz="2000" dirty="0">
              <a:effectLst/>
              <a:latin typeface="Aptos" panose="020B0004020202020204" pitchFamily="34" charset="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42812705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Q4ODQwNThiYTg4YTBlNDhkZDRmNGNiNWM5NWE1YzAifQ=="/>
  <p:tag name="KSO_WPP_MARK_KEY" val="57c7f136-5fe9-46ac-88f0-c360e5a39059"/>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3429a95c-b9eb-4227-abd9-56169d3e95df}"/>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1CCCB101D1EC2439BD1F30E1646277F" ma:contentTypeVersion="12" ma:contentTypeDescription="Create a new document." ma:contentTypeScope="" ma:versionID="5464bb158b6625c1c22789ae9835c753">
  <xsd:schema xmlns:xsd="http://www.w3.org/2001/XMLSchema" xmlns:xs="http://www.w3.org/2001/XMLSchema" xmlns:p="http://schemas.microsoft.com/office/2006/metadata/properties" xmlns:ns2="43278b8a-3ce2-4c22-927e-d744b2493138" xmlns:ns3="81c23e35-feae-41a6-9660-303b6c1ddfab" targetNamespace="http://schemas.microsoft.com/office/2006/metadata/properties" ma:root="true" ma:fieldsID="be7f2cea10a1ecaebc42b3a306c3a710" ns2:_="" ns3:_="">
    <xsd:import namespace="43278b8a-3ce2-4c22-927e-d744b2493138"/>
    <xsd:import namespace="81c23e35-feae-41a6-9660-303b6c1ddf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278b8a-3ce2-4c22-927e-d744b24931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d3049a-d92e-47f6-938a-5800ed4570a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c23e35-feae-41a6-9660-303b6c1ddfa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d858e15-233b-4e39-8e83-950feb039e72}" ma:internalName="TaxCatchAll" ma:showField="CatchAllData" ma:web="81c23e35-feae-41a6-9660-303b6c1ddf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1c23e35-feae-41a6-9660-303b6c1ddfab" xsi:nil="true"/>
    <lcf76f155ced4ddcb4097134ff3c332f xmlns="43278b8a-3ce2-4c22-927e-d744b249313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E903CFA-AA15-4431-9054-79A4A24BF933}">
  <ds:schemaRefs>
    <ds:schemaRef ds:uri="http://schemas.microsoft.com/sharepoint/v3/contenttype/forms"/>
  </ds:schemaRefs>
</ds:datastoreItem>
</file>

<file path=customXml/itemProps2.xml><?xml version="1.0" encoding="utf-8"?>
<ds:datastoreItem xmlns:ds="http://schemas.openxmlformats.org/officeDocument/2006/customXml" ds:itemID="{F379F930-EBCE-4CE9-A525-40199E457887}">
  <ds:schemaRefs>
    <ds:schemaRef ds:uri="43278b8a-3ce2-4c22-927e-d744b2493138"/>
    <ds:schemaRef ds:uri="81c23e35-feae-41a6-9660-303b6c1ddfa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93E37D5-A273-44DE-91F9-C57145F405BD}">
  <ds:schemaRefs>
    <ds:schemaRef ds:uri="43278b8a-3ce2-4c22-927e-d744b2493138"/>
    <ds:schemaRef ds:uri="81c23e35-feae-41a6-9660-303b6c1ddfa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otalTime>77</TotalTime>
  <Words>3164</Words>
  <Application>Microsoft Office PowerPoint</Application>
  <PresentationFormat>Widescreen</PresentationFormat>
  <Paragraphs>225</Paragraphs>
  <Slides>17</Slides>
  <Notes>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30" baseType="lpstr">
      <vt:lpstr>微软雅黑</vt:lpstr>
      <vt:lpstr>-apple-system</vt:lpstr>
      <vt:lpstr>Aptos</vt:lpstr>
      <vt:lpstr>Arial</vt:lpstr>
      <vt:lpstr>Calibri</vt:lpstr>
      <vt:lpstr>Calibri Light</vt:lpstr>
      <vt:lpstr>Consolas</vt:lpstr>
      <vt:lpstr>Courier New</vt:lpstr>
      <vt:lpstr>Montserrat Light</vt:lpstr>
      <vt:lpstr>Segoe WPC</vt:lpstr>
      <vt:lpstr>Symbol</vt:lpstr>
      <vt:lpstr>Office 主题</vt:lpstr>
      <vt:lpstr>think-cell Folie</vt:lpstr>
      <vt:lpstr>PowerPoint Presentation</vt:lpstr>
      <vt:lpstr>PowerPoint Presentation</vt:lpstr>
      <vt:lpstr>Background- Network‑Authenticated Assembly </vt:lpstr>
      <vt:lpstr>Sample implementation: Network Authenticated Assembly</vt:lpstr>
      <vt:lpstr>NAA API: High level description</vt:lpstr>
      <vt:lpstr>NAA API family</vt:lpstr>
      <vt:lpstr>Sequence Diagram </vt:lpstr>
      <vt:lpstr>User story</vt:lpstr>
      <vt:lpstr>API  Deliverables status </vt:lpstr>
      <vt:lpstr>PowerPoint Presentation</vt:lpstr>
      <vt:lpstr>NAA Vs Device Locations</vt:lpstr>
      <vt:lpstr>Device Eligibility: Operator-Addressable Only</vt:lpstr>
      <vt:lpstr>Continuous Checks: Full CAMARA Subscription Model</vt:lpstr>
      <vt:lpstr>Questions posted on PR</vt:lpstr>
      <vt:lpstr>Additional Response to Questions</vt:lpstr>
      <vt:lpstr>Additional Response to Questions</vt:lpstr>
      <vt:lpstr>Truth Table &amp; Additional inputs</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Provisioning API</dc:title>
  <dc:creator>Chenchuanyu</dc:creator>
  <cp:lastModifiedBy>Abhisek Das</cp:lastModifiedBy>
  <cp:revision>3</cp:revision>
  <dcterms:created xsi:type="dcterms:W3CDTF">2023-05-18T03:52:00Z</dcterms:created>
  <dcterms:modified xsi:type="dcterms:W3CDTF">2026-04-20T16:32:36Z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(2)fAhiAU9J4LnzkpIrkXM09AQboDunmcluQ0NQeuqRTdTkYC0Gz1vcnh5qhsHYzRt4kxQYGHuu
iQ1aYax8SC8CgqW69rGFvgu3MUPFa+t2HVCLf/x65vuHZ9xtWwUrM1fhOjP4cjeFy4he8OKO
589XpT5lYzmhKISJ1I55vobvoylpWWhwEK+VxNmhFkC3/sh9j+U81sGOXbJXNNSFBl8qo8FE
CVcPnVVLyzHn7B95UY</vt:lpwstr>
  </property>
  <property fmtid="{D5CDD505-2E9C-101B-9397-08002B2CF9AE}" pid="3" name="_2015_ms_pID_7253431">
    <vt:lpwstr>MP82+Ox3BuCZRFUEWL2q3Id9rLAut0RyRWCHdpYbEONDXc933l2g5i
XRlkFhg0MKd7bw8YC5JSKYj4wyCFTdOPH2/xPFM9eolilcU+zgN0j1CITbz8fp1u2E+1+m/i
Gu+U4KSZCRtgotsK+0RpVoAj7NVb/lKdg3qFM9jTW1EV78tafiHmHhKw8tTchvWNrrDgUNqq
uQ83fq7JeXkMhrjj</vt:lpwstr>
  </property>
  <property fmtid="{D5CDD505-2E9C-101B-9397-08002B2CF9AE}" pid="4" name="_readonly">
    <vt:lpwstr/>
  </property>
  <property fmtid="{D5CDD505-2E9C-101B-9397-08002B2CF9AE}" pid="5" name="_change">
    <vt:lpwstr/>
  </property>
  <property fmtid="{D5CDD505-2E9C-101B-9397-08002B2CF9AE}" pid="6" name="_full-control">
    <vt:lpwstr/>
  </property>
  <property fmtid="{D5CDD505-2E9C-101B-9397-08002B2CF9AE}" pid="7" name="sflag">
    <vt:lpwstr>1683169333</vt:lpwstr>
  </property>
  <property fmtid="{D5CDD505-2E9C-101B-9397-08002B2CF9AE}" pid="8" name="ICV">
    <vt:lpwstr>DA6429A0156D4F719CD30201ED15326B_13</vt:lpwstr>
  </property>
  <property fmtid="{D5CDD505-2E9C-101B-9397-08002B2CF9AE}" pid="9" name="KSOProductBuildVer">
    <vt:lpwstr>2052-11.1.0.14309</vt:lpwstr>
  </property>
  <property fmtid="{D5CDD505-2E9C-101B-9397-08002B2CF9AE}" pid="10" name="ContentTypeId">
    <vt:lpwstr>0x01010091CCCB101D1EC2439BD1F30E1646277F</vt:lpwstr>
  </property>
  <property fmtid="{D5CDD505-2E9C-101B-9397-08002B2CF9AE}" pid="11" name="MSIP_Label_a0819fa7-4367-4500-ba88-dd630d977609_Enabled">
    <vt:lpwstr>true</vt:lpwstr>
  </property>
  <property fmtid="{D5CDD505-2E9C-101B-9397-08002B2CF9AE}" pid="12" name="MSIP_Label_a0819fa7-4367-4500-ba88-dd630d977609_SetDate">
    <vt:lpwstr>2025-04-03T11:05:00Z</vt:lpwstr>
  </property>
  <property fmtid="{D5CDD505-2E9C-101B-9397-08002B2CF9AE}" pid="13" name="MSIP_Label_a0819fa7-4367-4500-ba88-dd630d977609_Method">
    <vt:lpwstr>Standard</vt:lpwstr>
  </property>
  <property fmtid="{D5CDD505-2E9C-101B-9397-08002B2CF9AE}" pid="14" name="MSIP_Label_a0819fa7-4367-4500-ba88-dd630d977609_Name">
    <vt:lpwstr>a0819fa7-4367-4500-ba88-dd630d977609</vt:lpwstr>
  </property>
  <property fmtid="{D5CDD505-2E9C-101B-9397-08002B2CF9AE}" pid="15" name="MSIP_Label_a0819fa7-4367-4500-ba88-dd630d977609_SiteId">
    <vt:lpwstr>63ce7d59-2f3e-42cd-a8cc-be764cff5eb6</vt:lpwstr>
  </property>
  <property fmtid="{D5CDD505-2E9C-101B-9397-08002B2CF9AE}" pid="16" name="MSIP_Label_a0819fa7-4367-4500-ba88-dd630d977609_ActionId">
    <vt:lpwstr>b79cf1c5-ea9a-4bd9-8a1c-1357813e3dd5</vt:lpwstr>
  </property>
  <property fmtid="{D5CDD505-2E9C-101B-9397-08002B2CF9AE}" pid="17" name="MSIP_Label_a0819fa7-4367-4500-ba88-dd630d977609_ContentBits">
    <vt:lpwstr>0</vt:lpwstr>
  </property>
  <property fmtid="{D5CDD505-2E9C-101B-9397-08002B2CF9AE}" pid="18" name="MSIP_Label_a0819fa7-4367-4500-ba88-dd630d977609_Tag">
    <vt:lpwstr>10, 3, 0, 1</vt:lpwstr>
  </property>
  <property fmtid="{D5CDD505-2E9C-101B-9397-08002B2CF9AE}" pid="19" name="MediaServiceImageTags">
    <vt:lpwstr/>
  </property>
</Properties>
</file>