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4"/>
  </p:sldMasterIdLst>
  <p:notesMasterIdLst>
    <p:notesMasterId r:id="rId17"/>
  </p:notesMasterIdLst>
  <p:handoutMasterIdLst>
    <p:handoutMasterId r:id="rId18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1" r:id="rId14"/>
    <p:sldId id="272" r:id="rId15"/>
    <p:sldId id="268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93F248-7D90-EFE9-441E-6A99EFAF77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86378-8A60-6E16-073B-FD5E98CD85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0CD13-B543-46C7-A1DD-A7C00B1F99D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B75CB-9149-467E-A9C2-DB314B0013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14CC9-C9D3-BDC5-46C9-3455233C36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5E57B-3885-403B-8586-D75ED9A28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4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3631841"/>
            <a:ext cx="9144000" cy="798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4000"/>
              <a:buFont typeface="Arial"/>
              <a:buNone/>
              <a:defRPr sz="40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4439164"/>
            <a:ext cx="9144000" cy="59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68321" y="745461"/>
            <a:ext cx="4259988" cy="1477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  <p15:guide id="2" pos="6357">
          <p15:clr>
            <a:srgbClr val="FBAE40"/>
          </p15:clr>
        </p15:guide>
        <p15:guide id="3" pos="61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and Bullet Points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2800"/>
              <a:buFont typeface="Arial"/>
              <a:buNone/>
              <a:defRPr sz="28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000"/>
              <a:buFont typeface="Noto Sans Symbols"/>
              <a:buChar char="▪"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66AF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66AF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66AF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" name="Google Shape;23;p3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Google Shape;24;p3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Information">
  <p:cSld name="Contact Informa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769066"/>
            <a:ext cx="10539549" cy="34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838200" y="2118419"/>
            <a:ext cx="10539549" cy="34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838200" y="2478692"/>
            <a:ext cx="10539549" cy="34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Google Shape;46;p6"/>
          <p:cNvSpPr txBox="1"/>
          <p:nvPr/>
        </p:nvSpPr>
        <p:spPr>
          <a:xfrm>
            <a:off x="826225" y="2828761"/>
            <a:ext cx="1050744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826225" y="900440"/>
            <a:ext cx="1054770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66AF"/>
                </a:solidFill>
                <a:latin typeface="+mj-lt"/>
                <a:ea typeface="Calibri"/>
                <a:cs typeface="Calibri"/>
                <a:sym typeface="Calibri"/>
              </a:rPr>
              <a:t>Contact Information</a:t>
            </a:r>
            <a:endParaRPr>
              <a:latin typeface="+mj-lt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9" name="Google Shape;49;p6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" name="Google Shape;50;p6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Columns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2800"/>
              <a:buFont typeface="Arial"/>
              <a:buNone/>
              <a:defRPr sz="28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800"/>
              <a:buNone/>
              <a:defRPr sz="2800" b="1">
                <a:solidFill>
                  <a:srgbClr val="0466A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000"/>
              <a:buFont typeface="Noto Sans Symbols"/>
              <a:buChar char="▪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0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Quattrocento Sans"/>
              <a:buChar char="›"/>
              <a:defRPr sz="12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800"/>
              <a:buNone/>
              <a:defRPr sz="2800" b="1">
                <a:solidFill>
                  <a:srgbClr val="0466A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000"/>
              <a:buFont typeface="Noto Sans Symbols"/>
              <a:buChar char="▪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0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Quattrocento Sans"/>
              <a:buChar char="›"/>
              <a:defRPr sz="12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7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" name="Google Shape;60;p7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1" name="Google Shape;6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&amp; Paragraph">
  <p:cSld name="Heading &amp; Paragraph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2800"/>
              <a:buFont typeface="Arial"/>
              <a:buNone/>
              <a:defRPr sz="28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1"/>
          </p:nvPr>
        </p:nvSpPr>
        <p:spPr>
          <a:xfrm>
            <a:off x="838200" y="1866900"/>
            <a:ext cx="10515600" cy="432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6" name="Google Shape;66;p8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" name="Google Shape;67;p8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8" name="Google Shape;6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839788" y="444321"/>
            <a:ext cx="1051401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2800"/>
              <a:buFont typeface="Arial"/>
              <a:buNone/>
              <a:defRPr sz="28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839788" y="2198152"/>
            <a:ext cx="4245219" cy="3767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7A7AF"/>
              </a:buClr>
              <a:buSzPts val="2000"/>
              <a:buFont typeface="Quattrocento Sans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87A7AF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87A7AF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87A7AF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0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87A7AF"/>
              </a:buClr>
              <a:buSzPts val="1200"/>
              <a:buFont typeface="Quattrocento Sans"/>
              <a:buChar char="›"/>
              <a:defRPr sz="12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2"/>
          </p:nvPr>
        </p:nvSpPr>
        <p:spPr>
          <a:xfrm>
            <a:off x="5097886" y="2196920"/>
            <a:ext cx="6292403" cy="3784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000"/>
              <a:buFont typeface="Noto Sans Symbols"/>
              <a:buChar char="▪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0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Quattrocento Sans"/>
              <a:buChar char="›"/>
              <a:defRPr sz="12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4" name="Google Shape;74;p9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" name="Google Shape;75;p9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2800"/>
              <a:buFont typeface="Arial"/>
              <a:buNone/>
              <a:defRPr sz="28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000"/>
              <a:buFont typeface="Noto Sans Symbols"/>
              <a:buChar char="▪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0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Quattrocento Sans"/>
              <a:buChar char="›"/>
              <a:defRPr sz="12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10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" name="Google Shape;82;p10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ctrTitle"/>
          </p:nvPr>
        </p:nvSpPr>
        <p:spPr>
          <a:xfrm>
            <a:off x="1524000" y="3631841"/>
            <a:ext cx="9144000" cy="798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/>
              <a:t>Route QoS Prediction API</a:t>
            </a:r>
            <a:endParaRPr lang="en-US">
              <a:effectLst/>
            </a:endParaRPr>
          </a:p>
        </p:txBody>
      </p:sp>
      <p:sp>
        <p:nvSpPr>
          <p:cNvPr id="89" name="Google Shape;89;p11"/>
          <p:cNvSpPr txBox="1">
            <a:spLocks noGrp="1"/>
          </p:cNvSpPr>
          <p:nvPr>
            <p:ph type="subTitle" idx="1"/>
          </p:nvPr>
        </p:nvSpPr>
        <p:spPr>
          <a:xfrm>
            <a:off x="1524000" y="4439164"/>
            <a:ext cx="9144000" cy="96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</a:rPr>
              <a:t> X Flow Research · Next G Cloud</a:t>
            </a:r>
          </a:p>
          <a:p>
            <a:pPr marL="0" indent="0"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</a:rPr>
              <a:t>June 2026 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5068D-E860-16A7-18CF-894AB417F8CF}"/>
              </a:ext>
            </a:extLst>
          </p:cNvPr>
          <p:cNvSpPr txBox="1"/>
          <p:nvPr/>
        </p:nvSpPr>
        <p:spPr>
          <a:xfrm>
            <a:off x="1524000" y="5567680"/>
            <a:ext cx="31292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Presented By: Ali Iqbal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Contents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310000"/>
            <a:ext cx="10515600" cy="338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1.  </a:t>
            </a:r>
            <a:r>
              <a:rPr lang="en-US" sz="1800" dirty="0"/>
              <a:t>Background &amp; Motivation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2.  </a:t>
            </a:r>
            <a:r>
              <a:rPr lang="en-US" sz="1800" dirty="0"/>
              <a:t>API Overview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3.  </a:t>
            </a:r>
            <a:r>
              <a:rPr lang="en-US" sz="1800" dirty="0"/>
              <a:t>API Operations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4.  </a:t>
            </a:r>
            <a:r>
              <a:rPr lang="en-US" sz="1800" dirty="0"/>
              <a:t>Subscription / Event Model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5.  </a:t>
            </a:r>
            <a:r>
              <a:rPr lang="en-US" sz="1800" dirty="0"/>
              <a:t>Gap / Overlap Analysis — vs. Existing CAMARA Portfolio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6.  </a:t>
            </a:r>
            <a:r>
              <a:rPr lang="en-US" sz="1800" dirty="0"/>
              <a:t>End-to-End Architecture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7.  </a:t>
            </a:r>
            <a:r>
              <a:rPr lang="en-US" sz="1800" dirty="0"/>
              <a:t>Interaction Diagram, Emergency Vehicle Route Planning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8.  </a:t>
            </a:r>
            <a:r>
              <a:rPr lang="en-US" sz="1800" dirty="0"/>
              <a:t>User Story</a:t>
            </a:r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2}" type="slidenum">
              <a:rPr lang="en-US">
                <a:latin typeface="+mn-lt"/>
              </a:rPr>
              <a:t>2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Background &amp; Motivation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310000"/>
            <a:ext cx="10515600" cy="2006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466AF"/>
                </a:solidFill>
              </a:rPr>
              <a:t>The Problem</a:t>
            </a:r>
          </a:p>
          <a:p>
            <a:pPr marL="342900" indent="-342900" fontAlgn="base">
              <a:spcBef>
                <a:spcPts val="60"/>
              </a:spcBef>
              <a:spcAft>
                <a:spcPts val="0"/>
              </a:spcAft>
              <a:buChar char="•"/>
            </a:pPr>
            <a:r>
              <a:rPr lang="en-US" sz="1400" dirty="0"/>
              <a:t>Mobile devices operating along a planned route need to know in advance whether the network will sustain required QoS at each segment.</a:t>
            </a:r>
          </a:p>
          <a:p>
            <a:pPr marL="342900" indent="-342900" fontAlgn="base">
              <a:spcBef>
                <a:spcPts val="60"/>
              </a:spcBef>
              <a:spcAft>
                <a:spcPts val="0"/>
              </a:spcAft>
              <a:buChar char="•"/>
            </a:pPr>
            <a:r>
              <a:rPr lang="en-US" sz="1400" dirty="0"/>
              <a:t>Without trajectory-aware forecasting, applications react to degradation near it occurs — critical in emergency scenarios.</a:t>
            </a:r>
          </a:p>
          <a:p>
            <a:pPr marL="342900" indent="-342900" fontAlgn="base">
              <a:spcBef>
                <a:spcPts val="60"/>
              </a:spcBef>
              <a:spcAft>
                <a:spcPts val="0"/>
              </a:spcAft>
              <a:buChar char="•"/>
            </a:pPr>
            <a:r>
              <a:rPr lang="en-US" sz="1400" dirty="0"/>
              <a:t>Emergency services, fleet operators, and logistics providers share this need but have no operator-agnostic CAMARA northbound API.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graphicFrame>
        <p:nvGraphicFramePr>
          <p:cNvPr id="5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167398"/>
              </p:ext>
            </p:extLst>
          </p:nvPr>
        </p:nvGraphicFramePr>
        <p:xfrm>
          <a:off x="838200" y="3609450"/>
          <a:ext cx="1051560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Existing API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Covers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Does NOT Cover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QoD API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Network QoS treatment NOW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Future condition prediction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Predictive Connectivity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Region/time-frame (sandbox)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Route/trajectory orientation (potential overlap — see slide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Device Location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Current/past location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Any QoS dimension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 dirty="0"/>
                        <a:t>Route QoS Prediction, NEW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Trajectory-aware per-segment forecast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dirty="0"/>
                        <a:t>← Proposed as new API; synergy with Predictive Connectivity if overlap is significant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3}" type="slidenum">
              <a:rPr lang="en-US">
                <a:latin typeface="+mn-lt"/>
              </a:rPr>
              <a:t>3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API Overview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310000"/>
            <a:ext cx="10515600" cy="351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300" b="1" dirty="0">
                <a:solidFill>
                  <a:srgbClr val="0466AF"/>
                </a:solidFill>
              </a:rPr>
              <a:t>Positioning: </a:t>
            </a:r>
          </a:p>
          <a:p>
            <a:pPr marL="285750" indent="-285750" fontAlgn="base">
              <a:spcBef>
                <a:spcPts val="0"/>
              </a:spcBef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Develop a </a:t>
            </a:r>
            <a:r>
              <a:rPr lang="en-US" sz="1200" b="1" dirty="0"/>
              <a:t>new Route QoS Prediction API</a:t>
            </a:r>
            <a:r>
              <a:rPr lang="en-US" sz="1200" dirty="0"/>
              <a:t> to provide route-oriented QoS forecasts.</a:t>
            </a:r>
          </a:p>
          <a:p>
            <a:pPr marL="285750" indent="-285750" fontAlgn="base">
              <a:spcBef>
                <a:spcPts val="0"/>
              </a:spcBef>
              <a:spcAft>
                <a:spcPts val="8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Extend existing APIs (e.g., </a:t>
            </a:r>
            <a:r>
              <a:rPr lang="en-US" sz="1200" b="1" dirty="0"/>
              <a:t>Predictive Connectivity Data API</a:t>
            </a:r>
            <a:r>
              <a:rPr lang="en-US" sz="1200" dirty="0"/>
              <a:t> and/or </a:t>
            </a:r>
            <a:r>
              <a:rPr lang="en-US" sz="1200" b="1" dirty="0"/>
              <a:t>Connectivity Insights API</a:t>
            </a:r>
            <a:r>
              <a:rPr lang="en-US" sz="1200" dirty="0"/>
              <a:t>) to support trajectory-aware capabilities.</a:t>
            </a:r>
          </a:p>
          <a:p>
            <a:pPr marL="285750" indent="-285750" fontAlgn="base">
              <a:spcBef>
                <a:spcPts val="0"/>
              </a:spcBef>
              <a:spcAft>
                <a:spcPts val="8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 fontAlgn="base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400" b="1" dirty="0">
                <a:solidFill>
                  <a:srgbClr val="0466AF"/>
                </a:solidFill>
              </a:rPr>
              <a:t>API Description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200" dirty="0"/>
              <a:t>Allows an application backend to submit a planned route (array of geographic waypoints) and receive a predicted QoS profile, latency, throughput, reliability, per route segment over a specified time window. Agnostic to the underlying operator implementation.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endParaRPr lang="en-US" dirty="0"/>
          </a:p>
          <a:p>
            <a:pPr marL="0" indent="0" fontAlgn="base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466AF"/>
                </a:solidFill>
              </a:rPr>
              <a:t>Use Cases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200" dirty="0"/>
              <a:t>Emergency vehicle routing — predict connectivity before departure; trigger </a:t>
            </a:r>
            <a:r>
              <a:rPr lang="en-US" sz="1200" dirty="0" err="1"/>
              <a:t>QoD</a:t>
            </a:r>
            <a:r>
              <a:rPr lang="en-US" sz="1200" dirty="0"/>
              <a:t> for prioritized sessions on low-QoS segments.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200" dirty="0"/>
              <a:t>Adaptive media streaming in vehicles — pre-fetch or adapt bitrate based on predicted throughput dips.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200" dirty="0"/>
              <a:t>Fleet/logistics route optimization — compare QoS forecasts across alternative routes.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200" dirty="0"/>
              <a:t>Drone corridor management — validate connectivity before authorizing a flight path.</a:t>
            </a:r>
          </a:p>
          <a:p>
            <a:pPr marL="10160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4}" type="slidenum">
              <a:rPr lang="en-US">
                <a:latin typeface="+mn-lt"/>
              </a:rPr>
              <a:t>4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API Operations</a:t>
            </a:r>
          </a:p>
        </p:txBody>
      </p:sp>
      <p:sp>
        <p:nvSpPr>
          <p:cNvPr id="20" name="TextBox"/>
          <p:cNvSpPr txBox="1">
            <a:spLocks noGrp="1"/>
          </p:cNvSpPr>
          <p:nvPr/>
        </p:nvSpPr>
        <p:spPr>
          <a:xfrm>
            <a:off x="838200" y="122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42852"/>
                </a:solidFill>
              </a:rPr>
              <a:t>Resource: /route-qos-prediction</a:t>
            </a:r>
          </a:p>
        </p:txBody>
      </p:sp>
      <p:graphicFrame>
        <p:nvGraphicFramePr>
          <p:cNvPr id="50" name="Table"/>
          <p:cNvGraphicFramePr>
            <a:graphicFrameLocks noGrp="1"/>
          </p:cNvGraphicFramePr>
          <p:nvPr/>
        </p:nvGraphicFramePr>
        <p:xfrm>
          <a:off x="838200" y="1500000"/>
          <a:ext cx="10515600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Key Inputs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Key Outputs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/>
                        <a:t>Create Prediction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POST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Submit route → per-segment QoS forecast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deviceId, route[], qosMetrics, predictionHorizon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predictionId, segments[]{latencyMs, throughputMbps, reliabilityScore, confidenceLevel}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/>
                        <a:t>Get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Retrieve a previously computed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predictionId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Full prediction object (same schema as POST response)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/>
                        <a:t>Delete Prediction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DELETE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Cancel and release prediction resource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predictionId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HTTP 204 No Content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"/>
          <p:cNvSpPr txBox="1">
            <a:spLocks noGrp="1"/>
          </p:cNvSpPr>
          <p:nvPr/>
        </p:nvSpPr>
        <p:spPr>
          <a:xfrm>
            <a:off x="838200" y="3950000"/>
            <a:ext cx="70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5AA2AE"/>
                </a:solidFill>
              </a:rPr>
              <a:t>Resource: /route-qos-prediction/subscriptions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838200" y="4200000"/>
          <a:ext cx="10515600" cy="11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Key Inputs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Key Outputs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/>
                        <a:t>Create Subscription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POST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Subscribe to QoS forecast change events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predictionId, notificationUrl, eventTypes[]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subscriptionId, expiresAt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/>
                        <a:t>Delete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Cancel an existing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subscriptionId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HTTP 204 No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5}" type="slidenum">
              <a:rPr lang="en-US">
                <a:latin typeface="+mn-lt"/>
              </a:rPr>
              <a:t>5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Subscription / Event Model</a:t>
            </a:r>
          </a:p>
        </p:txBody>
      </p:sp>
      <p:graphicFrame>
        <p:nvGraphicFramePr>
          <p:cNvPr id="50" name="Table"/>
          <p:cNvGraphicFramePr>
            <a:graphicFrameLocks noGrp="1"/>
          </p:cNvGraphicFramePr>
          <p:nvPr/>
        </p:nvGraphicFramePr>
        <p:xfrm>
          <a:off x="838200" y="1420000"/>
          <a:ext cx="105156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Event Type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Trigger Description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0466AF"/>
                          </a:solidFill>
                        </a:rPr>
                        <a:t>QOS_DEGRADATION_FORECAST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Predicted QoS will fall below threshold on a route segment within the horizon window. Developer should trigger CAMARA QoD API to pre-configure the session.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0466AF"/>
                          </a:solidFill>
                        </a:rPr>
                        <a:t>QOS_RECOVERY_FORECAST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A previously degraded segment is predicted to recover. Developer may release the prioritised QoD session.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0466AF"/>
                          </a:solidFill>
                        </a:rPr>
                        <a:t>PREDICTION_EXPIRED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The prediction resource has reached its validity window and should be refreshed with a new POST request.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"/>
          <p:cNvSpPr txBox="1">
            <a:spLocks noGrp="1"/>
          </p:cNvSpPr>
          <p:nvPr/>
        </p:nvSpPr>
        <p:spPr>
          <a:xfrm>
            <a:off x="838200" y="3250000"/>
            <a:ext cx="105156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5AA2AE"/>
                </a:solidFill>
              </a:rPr>
              <a:t>Sample Notification Payload (JSON)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{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subscriptionId</a:t>
            </a:r>
            <a:r>
              <a:rPr lang="en-US" sz="1200" dirty="0">
                <a:solidFill>
                  <a:srgbClr val="242852"/>
                </a:solidFill>
              </a:rPr>
              <a:t>":    "sub-abc-123",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eventType</a:t>
            </a:r>
            <a:r>
              <a:rPr lang="en-US" sz="1200" dirty="0">
                <a:solidFill>
                  <a:srgbClr val="242852"/>
                </a:solidFill>
              </a:rPr>
              <a:t>":         "QOS_DEGRADATION_FORECAST",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segmentId</a:t>
            </a:r>
            <a:r>
              <a:rPr lang="en-US" sz="1200" dirty="0">
                <a:solidFill>
                  <a:srgbClr val="242852"/>
                </a:solidFill>
              </a:rPr>
              <a:t>":         "seg-007",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"location":          { "</a:t>
            </a:r>
            <a:r>
              <a:rPr lang="en-US" sz="1200" dirty="0" err="1">
                <a:solidFill>
                  <a:srgbClr val="242852"/>
                </a:solidFill>
              </a:rPr>
              <a:t>lat</a:t>
            </a:r>
            <a:r>
              <a:rPr lang="en-US" sz="1200" dirty="0">
                <a:solidFill>
                  <a:srgbClr val="242852"/>
                </a:solidFill>
              </a:rPr>
              <a:t>": 45.071, "</a:t>
            </a:r>
            <a:r>
              <a:rPr lang="en-US" sz="1200" dirty="0" err="1">
                <a:solidFill>
                  <a:srgbClr val="242852"/>
                </a:solidFill>
              </a:rPr>
              <a:t>lon</a:t>
            </a:r>
            <a:r>
              <a:rPr lang="en-US" sz="1200" dirty="0">
                <a:solidFill>
                  <a:srgbClr val="242852"/>
                </a:solidFill>
              </a:rPr>
              <a:t>": 7.682 },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predictedLatencyMs</a:t>
            </a:r>
            <a:r>
              <a:rPr lang="en-US" sz="1200" dirty="0">
                <a:solidFill>
                  <a:srgbClr val="242852"/>
                </a:solidFill>
              </a:rPr>
              <a:t>": 180,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confidenceLevel</a:t>
            </a:r>
            <a:r>
              <a:rPr lang="en-US" sz="1200" dirty="0">
                <a:solidFill>
                  <a:srgbClr val="242852"/>
                </a:solidFill>
              </a:rPr>
              <a:t>":   0.85,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expectedAt</a:t>
            </a:r>
            <a:r>
              <a:rPr lang="en-US" sz="1200" dirty="0">
                <a:solidFill>
                  <a:srgbClr val="242852"/>
                </a:solidFill>
              </a:rPr>
              <a:t>":        "2026-04-16T14:32:00Z"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}</a:t>
            </a:r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6}" type="slidenum">
              <a:rPr lang="en-US">
                <a:latin typeface="+mn-lt"/>
              </a:rPr>
              <a:t>6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Gap / Overlap Analysis — vs. Existing CAMARA Portfolio</a:t>
            </a:r>
          </a:p>
        </p:txBody>
      </p:sp>
      <p:graphicFrame>
        <p:nvGraphicFramePr>
          <p:cNvPr id="50" name="Table"/>
          <p:cNvGraphicFramePr>
            <a:graphicFrameLocks noGrp="1"/>
          </p:cNvGraphicFramePr>
          <p:nvPr/>
        </p:nvGraphicFramePr>
        <p:xfrm>
          <a:off x="838200" y="1420000"/>
          <a:ext cx="10515600" cy="337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QoD API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Predictive Connectivity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Device Location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Route QoS Prediction (NEW)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Set network QoS for a session NOW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 QoS for a geographic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E26B0A"/>
                          </a:solidFill>
                        </a:rPr>
                        <a:t>⚠️ Sandbox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 QoS along a planned route/trajectory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E26B0A"/>
                          </a:solidFill>
                        </a:rPr>
                        <a:t>⚠️ Overlap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 NEW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Per-segment granularity (waypoint level)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 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Subscribe to forecast change events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 NEW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Device location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Moving / V2X device oriented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 NEW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Production-ready (not sandbox)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888888"/>
                          </a:solidFill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Box"/>
          <p:cNvSpPr txBox="1">
            <a:spLocks noGrp="1"/>
          </p:cNvSpPr>
          <p:nvPr/>
        </p:nvSpPr>
        <p:spPr>
          <a:xfrm>
            <a:off x="838200" y="5820000"/>
            <a:ext cx="10515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17346"/>
                </a:solidFill>
              </a:rPr>
              <a:t>✅ Covered  </a:t>
            </a:r>
            <a:r>
              <a:rPr lang="en-US" sz="1200" b="1">
                <a:solidFill>
                  <a:srgbClr val="C00000"/>
                </a:solidFill>
              </a:rPr>
              <a:t>❌ Not covered  </a:t>
            </a:r>
            <a:r>
              <a:rPr lang="en-US" sz="1200" b="1">
                <a:solidFill>
                  <a:srgbClr val="E26B0A"/>
                </a:solidFill>
              </a:rPr>
              <a:t>⚠️ Partial / Sandbox    ★ If significant overlap with Predictive Connectivity is confirmed, Route QoS Prediction may be co-developed as a trajectory-aware extension rather than a standalone new API.</a:t>
            </a:r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7}" type="slidenum">
              <a:rPr lang="en-US">
                <a:latin typeface="+mn-lt"/>
              </a:rPr>
              <a:t>7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End-to-End Architecture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310000"/>
            <a:ext cx="10515600" cy="401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42852"/>
                </a:solidFill>
              </a:rPr>
              <a:t>Application Layer</a:t>
            </a:r>
          </a:p>
          <a:p>
            <a:pPr marL="342900" indent="-342900" fontAlgn="base">
              <a:spcBef>
                <a:spcPts val="40"/>
              </a:spcBef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</a:rPr>
              <a:t>App (Ambulance)  |  Fleet Operator App  |  Hospital Dashboard  |  3rd-Party Developer App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466AF"/>
                </a:solidFill>
              </a:rPr>
              <a:t>CAMARA Northbound Interface (NBI)</a:t>
            </a:r>
          </a:p>
          <a:p>
            <a:pPr marL="342900" indent="-342900" fontAlgn="base">
              <a:spcBef>
                <a:spcPts val="40"/>
              </a:spcBef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</a:rPr>
              <a:t>Route QoS Prediction API ★ NEW   |   QoD API   |   Device Location API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5AA2AE"/>
                </a:solidFill>
              </a:rPr>
              <a:t>Operator Exposure &amp; Network Analytics</a:t>
            </a:r>
          </a:p>
          <a:p>
            <a:pPr marL="342900" indent="-342900" fontAlgn="base">
              <a:spcBef>
                <a:spcPts val="40"/>
              </a:spcBef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</a:rPr>
              <a:t>Exposure Gateway   |   NWDAF / Network Analytics   |   ETSI MEC V2X Info Service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595959"/>
                </a:solidFill>
              </a:rPr>
              <a:t>Physical Network</a:t>
            </a:r>
          </a:p>
          <a:p>
            <a:pPr marL="342900" indent="-342900" fontAlgn="base">
              <a:spcBef>
                <a:spcPts val="40"/>
              </a:spcBef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</a:rPr>
              <a:t>5G RAN   |   Core Network   |   Edge Cloud (Turin PoC)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8}" type="slidenum">
              <a:rPr lang="en-US">
                <a:latin typeface="+mn-lt"/>
              </a:rPr>
              <a:t>8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Interaction Diagram — Emergency Vehicle Route Planning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310000"/>
            <a:ext cx="105156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42852"/>
                </a:solidFill>
              </a:rPr>
              <a:t>[wi.CARE+ App]  [CAMARA Route QoS API]  [CAMARA QoD API]  [Operator Exposure GW]  [NWDAF / Edge Analytics]</a:t>
            </a:r>
          </a:p>
          <a:p>
            <a:pPr>
              <a:spcBef>
                <a:spcPts val="0"/>
              </a:spcBef>
            </a:pPr>
            <a:endParaRPr lang="en-US"/>
          </a:p>
          <a:p>
            <a:pPr>
              <a:spcBef>
                <a:spcPts val="0"/>
              </a:spcBef>
            </a:pPr>
            <a:endParaRPr lang="en-US"/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→  </a:t>
            </a:r>
            <a:r>
              <a:rPr lang="en-US" sz="1300"/>
              <a:t>POST /route-qos-prediction { route[], deviceId, qosMetrics }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→→  </a:t>
            </a:r>
            <a:r>
              <a:rPr lang="en-US" sz="1300"/>
              <a:t>Query network analytics for route segments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←←  </a:t>
            </a:r>
            <a:r>
              <a:rPr lang="en-US" sz="1300"/>
              <a:t>Per-segment QoS data returned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←  </a:t>
            </a:r>
            <a:r>
              <a:rPr lang="en-US" sz="1300"/>
              <a:t>201 Created: predictionId + segment forecast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→  </a:t>
            </a:r>
            <a:r>
              <a:rPr lang="en-US" sz="1300"/>
              <a:t>POST /subscriptions { QOS_DEGRADATION_FORECAST }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←  </a:t>
            </a:r>
            <a:r>
              <a:rPr lang="en-US" sz="1300"/>
              <a:t>201 Created: subscriptionId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→→  </a:t>
            </a:r>
            <a:r>
              <a:rPr lang="en-US" sz="1300"/>
              <a:t>POST /sessions (QoD) — prioritise session on low-QoS segment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←←  </a:t>
            </a:r>
            <a:r>
              <a:rPr lang="en-US" sz="1300"/>
              <a:t>200 OK — QoD session confirmed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←  </a:t>
            </a:r>
            <a:r>
              <a:rPr lang="en-US" sz="1300"/>
              <a:t>Webhook: QOS_DEGRADATION_FORECAST { segmentId, expectedAt, latencyMs }</a:t>
            </a:r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9}" type="slidenum">
              <a:rPr lang="en-US">
                <a:latin typeface="+mn-lt"/>
              </a:rPr>
              <a:t>9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dirty="0"/>
              <a:t>User Stories — Additional Use Cases</a:t>
            </a:r>
          </a:p>
        </p:txBody>
      </p:sp>
      <p:graphicFrame>
        <p:nvGraphicFramePr>
          <p:cNvPr id="50" name="Table"/>
          <p:cNvGraphicFramePr>
            <a:graphicFrameLocks noGrp="1"/>
          </p:cNvGraphicFramePr>
          <p:nvPr/>
        </p:nvGraphicFramePr>
        <p:xfrm>
          <a:off x="838200" y="1310000"/>
          <a:ext cx="10515600" cy="539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Use case A: Collision Risk Detection &amp; Safe Routing for Emergency Vehicles</a:t>
                      </a:r>
                    </a:p>
                  </a:txBody>
                  <a:tcPr>
                    <a:solidFill>
                      <a:srgbClr val="0466A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As an emergency vehicle operator, I want to query the predicted QoS along my planned route so that I can identify low-QoS segments in advance and select the safest, best-connected corridor before departure — reducing response time in dense areas or during mass events.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API Usage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1. POST /route-qos-prediction with the planned emergency route and required QoS metrics.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2. Inspect per-segment predictions (latency, throughput, reliability) to identify degraded corridors.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3. Compare alternative route forecasts and select the segment with highest reliability score.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4. Subscribe to QOS_DEGRADATION_FORECAST events to receive alerts if the selected route degrades.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5. On degradation event, trigger CAMARA QoD API to pre-establish a prioritised session.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Acceptance Criteria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Per-segment QoS forecast returned within 2 s for routes of up to 50 waypoints.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Confidence level included in every segment response to support route-selection decisions.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QOS_DEGRADATION_FORECAST webhook delivered within 30 s of a forecast change.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Use case B: Real-Time Remote Triage &amp; Diagnostics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As an ambulance crew member, I want to query the predicted network throughput along the route to the hospital so that I can ensure sufficient bandwidth for streaming patient vitals, ECGs, and HD video — and pre-configure a prioritised session on any segment below threshold.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API Usage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1. POST /route-qos-prediction with the ambulance route and throughput/latency QoS metrics.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2. Identify segments where predicted throughput falls below the HD-video minimum (e.g. 8 Mbps).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3. Trigger CAMARA QoD API on flagged segments before the vehicle arrives, ensuring a prioritised session.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4. Subscribe to QOS_DEGRADATION_FORECAST; switch to compressed-stream fallback if forecast worsens.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5. DELETE prediction and subscription when the ambulance reaches the hospital.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Acceptance Criteria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Throughput and latency forecast per segment returned within 2 s of route submission.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QoD session pre-established on low-QoS segments at least 30 s before vehicle arrival.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QOS_DEGRADATION_FORECAST webhook delivered within 30 s to trigger adaptive bitrate fallback.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13}" type="slidenum">
              <a:rPr lang="en-US">
                <a:latin typeface="+mn-lt"/>
              </a:rPr>
              <a:t>10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0E5D-26F1-ADF4-907F-7CC8B8B8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7FDC8-8B47-FDC9-D576-B5561AC03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7592"/>
            <a:ext cx="10515600" cy="5266944"/>
          </a:xfrm>
        </p:spPr>
        <p:txBody>
          <a:bodyPr/>
          <a:lstStyle/>
          <a:p>
            <a:pPr marL="101600" lvl="0" indent="0" hangingPunct="0">
              <a:buNone/>
            </a:pPr>
            <a:r>
              <a:rPr lang="it-IT" sz="1600" b="1" dirty="0"/>
              <a:t>Proposal Objective:</a:t>
            </a:r>
          </a:p>
          <a:p>
            <a:pPr hangingPunct="0">
              <a:buFont typeface="Arial" panose="020B0604020202020204" pitchFamily="34" charset="0"/>
              <a:buChar char="•"/>
            </a:pPr>
            <a:r>
              <a:rPr lang="en-US" sz="1400" dirty="0"/>
              <a:t>Introduce a capability for trajectory-aware QoS/connectivity prediction to provide applications with per-segment forecasts of network conditions along planned routes.</a:t>
            </a:r>
          </a:p>
          <a:p>
            <a:pPr hangingPunct="0">
              <a:buFont typeface="Arial" panose="020B0604020202020204" pitchFamily="34" charset="0"/>
              <a:buChar char="•"/>
            </a:pPr>
            <a:r>
              <a:rPr lang="en-GB" sz="1400" dirty="0"/>
              <a:t> </a:t>
            </a:r>
            <a:r>
              <a:rPr lang="en-US" sz="1400" dirty="0"/>
              <a:t>Support mobility use cases such as emergency response, connected vehicles, fleet management, remote diagnostics, and drone operations.</a:t>
            </a:r>
          </a:p>
          <a:p>
            <a:pPr marL="101600" indent="0" hangingPunct="0">
              <a:buNone/>
            </a:pPr>
            <a:r>
              <a:rPr lang="en-US" sz="1400" b="1" dirty="0"/>
              <a:t>Key Question for CAMARA:</a:t>
            </a:r>
          </a:p>
          <a:p>
            <a:pPr hangingPunct="0">
              <a:buFont typeface="Arial" panose="020B0604020202020204" pitchFamily="34" charset="0"/>
              <a:buChar char="•"/>
            </a:pPr>
            <a:r>
              <a:rPr lang="en-US" sz="1400" dirty="0"/>
              <a:t>Does this capability address a relevant gap within the current CAMARA portfolio?</a:t>
            </a:r>
          </a:p>
          <a:p>
            <a:pPr hangingPunct="0">
              <a:buFont typeface="Arial" panose="020B0604020202020204" pitchFamily="34" charset="0"/>
              <a:buChar char="•"/>
            </a:pPr>
            <a:r>
              <a:rPr lang="en-US" sz="1400" dirty="0"/>
              <a:t>What is the most appropriate approach for addressing this capability within CAMARA?</a:t>
            </a:r>
          </a:p>
          <a:p>
            <a:pPr lvl="1" hangingPunct="0">
              <a:buFont typeface="Arial" panose="020B0604020202020204" pitchFamily="34" charset="0"/>
              <a:buChar char="•"/>
            </a:pPr>
            <a:r>
              <a:rPr lang="en-US" sz="1200" dirty="0"/>
              <a:t> </a:t>
            </a:r>
            <a:r>
              <a:rPr lang="en-US" sz="1200" b="1" dirty="0"/>
              <a:t>Option 1: New API:</a:t>
            </a:r>
          </a:p>
          <a:p>
            <a:pPr lvl="2" hangingPunct="0">
              <a:buFont typeface="Arial" panose="020B0604020202020204" pitchFamily="34" charset="0"/>
              <a:buChar char="•"/>
            </a:pPr>
            <a:r>
              <a:rPr lang="en-US" sz="1200" dirty="0"/>
              <a:t>Develop a dedicated </a:t>
            </a:r>
            <a:r>
              <a:rPr lang="en-US" sz="1200" b="1" dirty="0"/>
              <a:t>Route QoS Prediction API</a:t>
            </a:r>
            <a:r>
              <a:rPr lang="en-US" sz="1200" dirty="0"/>
              <a:t> for trajectory-aware QoS/connectivity forecasting</a:t>
            </a:r>
          </a:p>
          <a:p>
            <a:pPr lvl="1" hangingPunct="0">
              <a:buFont typeface="Arial" panose="020B0604020202020204" pitchFamily="34" charset="0"/>
              <a:buChar char="•"/>
            </a:pPr>
            <a:r>
              <a:rPr lang="en-US" sz="1200" b="1" dirty="0"/>
              <a:t> Option 1: Enhance Existing APIs:</a:t>
            </a:r>
          </a:p>
          <a:p>
            <a:pPr lvl="2" hangingPunct="0">
              <a:buFont typeface="Arial" panose="020B0604020202020204" pitchFamily="34" charset="0"/>
              <a:buChar char="•"/>
            </a:pPr>
            <a:r>
              <a:rPr lang="en-US" sz="1200" dirty="0"/>
              <a:t>Extend existing capabilities such as </a:t>
            </a:r>
            <a:r>
              <a:rPr lang="en-US" sz="1400" dirty="0"/>
              <a:t>Extend existing capabilities such as:</a:t>
            </a:r>
          </a:p>
          <a:p>
            <a:pPr lvl="3" hangingPunct="0">
              <a:buFont typeface="Arial" panose="020B0604020202020204" pitchFamily="34" charset="0"/>
              <a:buChar char="•"/>
            </a:pPr>
            <a:r>
              <a:rPr lang="en-US" sz="1200" dirty="0"/>
              <a:t>Predictive Connectivity Data API</a:t>
            </a:r>
          </a:p>
          <a:p>
            <a:pPr lvl="3" hangingPunct="0">
              <a:buFont typeface="Arial" panose="020B0604020202020204" pitchFamily="34" charset="0"/>
              <a:buChar char="•"/>
            </a:pPr>
            <a:r>
              <a:rPr lang="en-US" sz="1200" dirty="0"/>
              <a:t>Connectivity Insights (Subscriptions) API</a:t>
            </a:r>
            <a:r>
              <a:rPr lang="en-US" dirty="0"/>
              <a:t>.</a:t>
            </a:r>
            <a:endParaRPr lang="en-US" sz="1400" dirty="0"/>
          </a:p>
          <a:p>
            <a:pPr lvl="2" hangingPunct="0">
              <a:buFont typeface="Arial" panose="020B0604020202020204" pitchFamily="34" charset="0"/>
              <a:buChar char="•"/>
            </a:pPr>
            <a:r>
              <a:rPr lang="en-US" sz="1400" dirty="0"/>
              <a:t>Introduce trajectory-aware QoS prediction features through enhancements to these APIs</a:t>
            </a:r>
          </a:p>
          <a:p>
            <a:pPr marL="101600" indent="0">
              <a:buNone/>
            </a:pPr>
            <a:endParaRPr lang="en-US" sz="1400" b="1" dirty="0"/>
          </a:p>
          <a:p>
            <a:pPr marL="101600" indent="0" hangingPunct="0">
              <a:buNone/>
            </a:pPr>
            <a:endParaRPr lang="en-US" sz="1400" dirty="0"/>
          </a:p>
          <a:p>
            <a:pPr marL="1016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C056E-DC1E-B3AC-E8E8-B60F539252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60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l">
              <a:buNone/>
            </a:pPr>
            <a:r>
              <a:rPr lang="en-US" dirty="0"/>
              <a:t>Thank You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947928" y="1438561"/>
            <a:ext cx="10515600" cy="13018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>
            <a:spAutoFit/>
          </a:bodyPr>
          <a:lstStyle/>
          <a:p>
            <a:pPr>
              <a:spcBef>
                <a:spcPts val="0"/>
              </a:spcBef>
              <a:buNone/>
            </a:pPr>
            <a:endParaRPr lang="en-US" sz="2800" b="1" dirty="0">
              <a:solidFill>
                <a:srgbClr val="242852"/>
              </a:solidFill>
            </a:endParaRPr>
          </a:p>
          <a:p>
            <a:pPr>
              <a:spcBef>
                <a:spcPts val="200"/>
              </a:spcBef>
              <a:buNone/>
            </a:pPr>
            <a:r>
              <a:rPr lang="en-US" dirty="0">
                <a:solidFill>
                  <a:srgbClr val="242852"/>
                </a:solidFill>
              </a:rPr>
              <a:t>ali.iqbal@xflowresearch.com</a:t>
            </a:r>
            <a:endParaRPr lang="en-US" sz="2000" dirty="0">
              <a:solidFill>
                <a:srgbClr val="242852"/>
              </a:solidFill>
            </a:endParaRPr>
          </a:p>
          <a:p>
            <a:pPr algn="l">
              <a:spcBef>
                <a:spcPts val="400"/>
              </a:spcBef>
              <a:buNone/>
            </a:pPr>
            <a:endParaRPr lang="en-US" sz="1600" dirty="0">
              <a:solidFill>
                <a:srgbClr val="0466AF"/>
              </a:solidFill>
            </a:endParaRPr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l">
              <a:buNone/>
            </a:pPr>
            <a:fld id="{00000000-1234-1234-1234-000000000012}" type="slidenum">
              <a:rPr lang="en-US">
                <a:latin typeface="+mn-lt"/>
              </a:rPr>
              <a:t>12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Flow Final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xFlow Presentation Template v1.0.pptx" id="{1C7D5386-3F18-402F-A095-63A1DD0A3C38}" vid="{7E2A2836-4192-442B-AF3C-D7F1806813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E1AC770D1D97418AC82E0659D6C760" ma:contentTypeVersion="8" ma:contentTypeDescription="Create a new document." ma:contentTypeScope="" ma:versionID="63a9805cc5e0d9f92daa0672bd6a911d">
  <xsd:schema xmlns:xsd="http://www.w3.org/2001/XMLSchema" xmlns:xs="http://www.w3.org/2001/XMLSchema" xmlns:p="http://schemas.microsoft.com/office/2006/metadata/properties" xmlns:ns2="7ce5ed93-ca22-4a54-bcd3-0c0a9117d157" targetNamespace="http://schemas.microsoft.com/office/2006/metadata/properties" ma:root="true" ma:fieldsID="b3e5a52c48d66d42d12e4adfd97f6bb5" ns2:_="">
    <xsd:import namespace="7ce5ed93-ca22-4a54-bcd3-0c0a9117d1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e5ed93-ca22-4a54-bcd3-0c0a9117d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A7F635-029A-4549-B1A2-EDE6DA082F51}">
  <ds:schemaRefs>
    <ds:schemaRef ds:uri="http://purl.org/dc/elements/1.1/"/>
    <ds:schemaRef ds:uri="7ce5ed93-ca22-4a54-bcd3-0c0a9117d157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64CE401-DDF3-42E7-BCB3-324B0A3D78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5DF7FE-E367-4E1F-B5D8-37A3E6BE5B76}">
  <ds:schemaRefs>
    <ds:schemaRef ds:uri="7ce5ed93-ca22-4a54-bcd3-0c0a9117d1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xFlow Presentation Template v1.0</Template>
  <TotalTime>106</TotalTime>
  <Words>1497</Words>
  <Application>Microsoft Office PowerPoint</Application>
  <PresentationFormat>Widescreen</PresentationFormat>
  <Paragraphs>233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Noto Sans Symbols</vt:lpstr>
      <vt:lpstr>Quattrocento Sans</vt:lpstr>
      <vt:lpstr>Times New Roman</vt:lpstr>
      <vt:lpstr>xFlow Final Theme</vt:lpstr>
      <vt:lpstr>Route QoS Prediction API</vt:lpstr>
      <vt:lpstr>Contents</vt:lpstr>
      <vt:lpstr>Background &amp; Motivation</vt:lpstr>
      <vt:lpstr>API Overview</vt:lpstr>
      <vt:lpstr>API Operations</vt:lpstr>
      <vt:lpstr>Subscription / Event Model</vt:lpstr>
      <vt:lpstr>Gap / Overlap Analysis — vs. Existing CAMARA Portfolio</vt:lpstr>
      <vt:lpstr>End-to-End Architecture</vt:lpstr>
      <vt:lpstr>Interaction Diagram — Emergency Vehicle Route Planning</vt:lpstr>
      <vt:lpstr>User Stories — Additional Use Cases</vt:lpstr>
      <vt:lpstr>The Ask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Ayesha Ayub</dc:creator>
  <cp:lastModifiedBy>Mubeena Ishaq</cp:lastModifiedBy>
  <cp:revision>54</cp:revision>
  <dcterms:created xsi:type="dcterms:W3CDTF">2026-03-10T05:24:18Z</dcterms:created>
  <dcterms:modified xsi:type="dcterms:W3CDTF">2026-06-10T11:05:59Z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0x01010063E1AC770D1D97418AC82E0659D6C760</vt:lpwstr>
  </property>
</Properties>
</file>