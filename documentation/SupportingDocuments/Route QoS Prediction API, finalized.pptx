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7" r:id="rId4"/>
  </p:sldMasterIdLst>
  <p:notesMasterIdLst>
    <p:notesMasterId r:id="rId16"/>
  </p:notesMasterIdLst>
  <p:handoutMasterIdLst>
    <p:handoutMasterId r:id="rId17"/>
  </p:handoutMasterIdLst>
  <p:sldIdLst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71" r:id="rId14"/>
    <p:sldId id="268" r:id="rId15"/>
  </p:sldIdLst>
  <p:sldSz cx="12192000" cy="6858000"/>
  <p:notesSz cx="6858000" cy="9144000"/>
  <p:embeddedFontLst>
    <p:embeddedFont>
      <p:font typeface="Quattrocento Sans" panose="020B0502050000020003" pitchFamily="34" charset="0"/>
      <p:regular r:id="rId18"/>
      <p:bold r:id="rId19"/>
      <p:italic r:id="rId20"/>
      <p:boldItalic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font" Target="fonts/font1.fntdata"/><Relationship Id="rId3" Type="http://schemas.openxmlformats.org/officeDocument/2006/relationships/customXml" Target="../customXml/item3.xml"/><Relationship Id="rId21" Type="http://schemas.openxmlformats.org/officeDocument/2006/relationships/font" Target="fonts/font4.fntdata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3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font" Target="fonts/font2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B93F248-7D90-EFE9-441E-6A99EFAF77E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9A86378-8A60-6E16-073B-FD5E98CD858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00CD13-B543-46C7-A1DD-A7C00B1F99DE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5B75CB-9149-467E-A9C2-DB314B00130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6814CC9-C9D3-BDC5-46C9-3455233C365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C15E57B-3885-403B-8586-D75ED9A280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13497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1524000" y="3631841"/>
            <a:ext cx="9144000" cy="7980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66AF"/>
              </a:buClr>
              <a:buSzPts val="4000"/>
              <a:buFont typeface="Arial"/>
              <a:buNone/>
              <a:defRPr sz="4000">
                <a:solidFill>
                  <a:srgbClr val="0466A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1524000" y="4439164"/>
            <a:ext cx="9144000" cy="596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pic>
        <p:nvPicPr>
          <p:cNvPr id="18" name="Google Shape;18;p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968321" y="745461"/>
            <a:ext cx="4259988" cy="14775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71">
          <p15:clr>
            <a:srgbClr val="FBAE40"/>
          </p15:clr>
        </p15:guide>
        <p15:guide id="2" pos="6357">
          <p15:clr>
            <a:srgbClr val="FBAE40"/>
          </p15:clr>
        </p15:guide>
        <p15:guide id="3" pos="6108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eading and Bullet Points" type="obj">
  <p:cSld name="OBJEC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66AF"/>
              </a:buClr>
              <a:buSzPts val="2800"/>
              <a:buFont typeface="Arial"/>
              <a:buNone/>
              <a:defRPr sz="2800">
                <a:solidFill>
                  <a:srgbClr val="0466A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556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466AF"/>
              </a:buClr>
              <a:buSzPts val="2000"/>
              <a:buFont typeface="Noto Sans Symbols"/>
              <a:buChar char="▪"/>
              <a:defRPr sz="20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914400" lvl="1" indent="-3429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0466AF"/>
              </a:buClr>
              <a:buSzPts val="1800"/>
              <a:buFont typeface="Quattrocento Sans"/>
              <a:buChar char="›"/>
              <a:defRPr sz="1800"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marL="1371600" lvl="2" indent="-3302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0466AF"/>
              </a:buClr>
              <a:buSzPts val="1600"/>
              <a:buFont typeface="Quattrocento Sans"/>
              <a:buChar char="›"/>
              <a:defRPr sz="1600"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marL="1828800" lvl="3" indent="-3175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0466AF"/>
              </a:buClr>
              <a:buSzPts val="1400"/>
              <a:buFont typeface="Quattrocento Sans"/>
              <a:buChar char="›"/>
              <a:defRPr sz="1400"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marL="2286000" lvl="4" indent="-3429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marL="2743200" lvl="5" indent="-3429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Google Shape;22;p3"/>
          <p:cNvSpPr txBox="1">
            <a:spLocks noGrp="1"/>
          </p:cNvSpPr>
          <p:nvPr>
            <p:ph type="sldNum" idx="12"/>
          </p:nvPr>
        </p:nvSpPr>
        <p:spPr>
          <a:xfrm>
            <a:off x="693038" y="6330223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 sz="1600" b="0" i="0" u="none" strike="noStrike" cap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lvl="1" indent="0" algn="l">
              <a:spcBef>
                <a:spcPts val="0"/>
              </a:spcBef>
              <a:buNone/>
              <a:defRPr sz="1600" b="0" i="0" u="none" strike="noStrike" cap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lvl="2" indent="0" algn="l">
              <a:spcBef>
                <a:spcPts val="0"/>
              </a:spcBef>
              <a:buNone/>
              <a:defRPr sz="1600" b="0" i="0" u="none" strike="noStrike" cap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lvl="3" indent="0" algn="l">
              <a:spcBef>
                <a:spcPts val="0"/>
              </a:spcBef>
              <a:buNone/>
              <a:defRPr sz="1600" b="0" i="0" u="none" strike="noStrike" cap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lvl="4" indent="0" algn="l">
              <a:spcBef>
                <a:spcPts val="0"/>
              </a:spcBef>
              <a:buNone/>
              <a:defRPr sz="1600" b="0" i="0" u="none" strike="noStrike" cap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lvl="5" indent="0" algn="l">
              <a:spcBef>
                <a:spcPts val="0"/>
              </a:spcBef>
              <a:buNone/>
              <a:defRPr sz="1600" b="0" i="0" u="none" strike="noStrike" cap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lvl="6" indent="0" algn="l">
              <a:spcBef>
                <a:spcPts val="0"/>
              </a:spcBef>
              <a:buNone/>
              <a:defRPr sz="1600" b="0" i="0" u="none" strike="noStrike" cap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lvl="7" indent="0" algn="l">
              <a:spcBef>
                <a:spcPts val="0"/>
              </a:spcBef>
              <a:buNone/>
              <a:defRPr sz="1600" b="0" i="0" u="none" strike="noStrike" cap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lvl="8" indent="0" algn="l">
              <a:spcBef>
                <a:spcPts val="0"/>
              </a:spcBef>
              <a:buNone/>
              <a:defRPr sz="1600" b="0" i="0" u="none" strike="noStrike" cap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23" name="Google Shape;23;p3"/>
          <p:cNvCxnSpPr/>
          <p:nvPr/>
        </p:nvCxnSpPr>
        <p:spPr>
          <a:xfrm>
            <a:off x="1116000" y="6524080"/>
            <a:ext cx="9180000" cy="13648"/>
          </a:xfrm>
          <a:prstGeom prst="straightConnector1">
            <a:avLst/>
          </a:prstGeom>
          <a:noFill/>
          <a:ln w="28575" cap="flat" cmpd="sng">
            <a:solidFill>
              <a:srgbClr val="00ADED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4" name="Google Shape;24;p3"/>
          <p:cNvCxnSpPr/>
          <p:nvPr/>
        </p:nvCxnSpPr>
        <p:spPr>
          <a:xfrm>
            <a:off x="1116000" y="6552513"/>
            <a:ext cx="9180000" cy="13648"/>
          </a:xfrm>
          <a:prstGeom prst="straightConnector1">
            <a:avLst/>
          </a:prstGeom>
          <a:noFill/>
          <a:ln w="28575" cap="flat" cmpd="sng">
            <a:solidFill>
              <a:srgbClr val="0466AF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25" name="Google Shape;25;p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296000" y="6319573"/>
            <a:ext cx="1257924" cy="4363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act Information">
  <p:cSld name="Contact Information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6"/>
          <p:cNvSpPr txBox="1">
            <a:spLocks noGrp="1"/>
          </p:cNvSpPr>
          <p:nvPr>
            <p:ph type="body" idx="1"/>
          </p:nvPr>
        </p:nvSpPr>
        <p:spPr>
          <a:xfrm>
            <a:off x="838200" y="1769066"/>
            <a:ext cx="10539549" cy="341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Google Shape;44;p6"/>
          <p:cNvSpPr txBox="1">
            <a:spLocks noGrp="1"/>
          </p:cNvSpPr>
          <p:nvPr>
            <p:ph type="body" idx="2"/>
          </p:nvPr>
        </p:nvSpPr>
        <p:spPr>
          <a:xfrm>
            <a:off x="838200" y="2118419"/>
            <a:ext cx="10539549" cy="341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Google Shape;45;p6"/>
          <p:cNvSpPr txBox="1">
            <a:spLocks noGrp="1"/>
          </p:cNvSpPr>
          <p:nvPr>
            <p:ph type="body" idx="3"/>
          </p:nvPr>
        </p:nvSpPr>
        <p:spPr>
          <a:xfrm>
            <a:off x="838200" y="2478692"/>
            <a:ext cx="10539549" cy="341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Google Shape;46;p6"/>
          <p:cNvSpPr txBox="1"/>
          <p:nvPr/>
        </p:nvSpPr>
        <p:spPr>
          <a:xfrm>
            <a:off x="826225" y="2828761"/>
            <a:ext cx="10507443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47" name="Google Shape;47;p6"/>
          <p:cNvSpPr txBox="1"/>
          <p:nvPr/>
        </p:nvSpPr>
        <p:spPr>
          <a:xfrm>
            <a:off x="826225" y="900440"/>
            <a:ext cx="10547706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466AF"/>
                </a:solidFill>
                <a:latin typeface="+mj-lt"/>
                <a:ea typeface="Calibri"/>
                <a:cs typeface="Calibri"/>
                <a:sym typeface="Calibri"/>
              </a:rPr>
              <a:t>Contact Information</a:t>
            </a:r>
            <a:endParaRPr>
              <a:latin typeface="+mj-lt"/>
            </a:endParaRPr>
          </a:p>
        </p:txBody>
      </p:sp>
      <p:sp>
        <p:nvSpPr>
          <p:cNvPr id="48" name="Google Shape;48;p6"/>
          <p:cNvSpPr txBox="1">
            <a:spLocks noGrp="1"/>
          </p:cNvSpPr>
          <p:nvPr>
            <p:ph type="sldNum" idx="12"/>
          </p:nvPr>
        </p:nvSpPr>
        <p:spPr>
          <a:xfrm>
            <a:off x="693038" y="6330223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 sz="1600" b="0" i="0" u="none" strike="noStrike" cap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lvl="1" indent="0" algn="l">
              <a:spcBef>
                <a:spcPts val="0"/>
              </a:spcBef>
              <a:buNone/>
              <a:defRPr sz="1600" b="0" i="0" u="none" strike="noStrike" cap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lvl="2" indent="0" algn="l">
              <a:spcBef>
                <a:spcPts val="0"/>
              </a:spcBef>
              <a:buNone/>
              <a:defRPr sz="1600" b="0" i="0" u="none" strike="noStrike" cap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lvl="3" indent="0" algn="l">
              <a:spcBef>
                <a:spcPts val="0"/>
              </a:spcBef>
              <a:buNone/>
              <a:defRPr sz="1600" b="0" i="0" u="none" strike="noStrike" cap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lvl="4" indent="0" algn="l">
              <a:spcBef>
                <a:spcPts val="0"/>
              </a:spcBef>
              <a:buNone/>
              <a:defRPr sz="1600" b="0" i="0" u="none" strike="noStrike" cap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lvl="5" indent="0" algn="l">
              <a:spcBef>
                <a:spcPts val="0"/>
              </a:spcBef>
              <a:buNone/>
              <a:defRPr sz="1600" b="0" i="0" u="none" strike="noStrike" cap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lvl="6" indent="0" algn="l">
              <a:spcBef>
                <a:spcPts val="0"/>
              </a:spcBef>
              <a:buNone/>
              <a:defRPr sz="1600" b="0" i="0" u="none" strike="noStrike" cap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lvl="7" indent="0" algn="l">
              <a:spcBef>
                <a:spcPts val="0"/>
              </a:spcBef>
              <a:buNone/>
              <a:defRPr sz="1600" b="0" i="0" u="none" strike="noStrike" cap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lvl="8" indent="0" algn="l">
              <a:spcBef>
                <a:spcPts val="0"/>
              </a:spcBef>
              <a:buNone/>
              <a:defRPr sz="1600" b="0" i="0" u="none" strike="noStrike" cap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49" name="Google Shape;49;p6"/>
          <p:cNvCxnSpPr/>
          <p:nvPr/>
        </p:nvCxnSpPr>
        <p:spPr>
          <a:xfrm>
            <a:off x="1116000" y="6524080"/>
            <a:ext cx="9180000" cy="13648"/>
          </a:xfrm>
          <a:prstGeom prst="straightConnector1">
            <a:avLst/>
          </a:prstGeom>
          <a:noFill/>
          <a:ln w="28575" cap="flat" cmpd="sng">
            <a:solidFill>
              <a:srgbClr val="00ADED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50" name="Google Shape;50;p6"/>
          <p:cNvCxnSpPr/>
          <p:nvPr/>
        </p:nvCxnSpPr>
        <p:spPr>
          <a:xfrm>
            <a:off x="1116000" y="6552513"/>
            <a:ext cx="9180000" cy="13648"/>
          </a:xfrm>
          <a:prstGeom prst="straightConnector1">
            <a:avLst/>
          </a:prstGeom>
          <a:noFill/>
          <a:ln w="28575" cap="flat" cmpd="sng">
            <a:solidFill>
              <a:srgbClr val="0466AF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51" name="Google Shape;51;p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296000" y="6319573"/>
            <a:ext cx="1257924" cy="4363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 Columns" type="twoTxTwoObj">
  <p:cSld name="TWO_OBJECTS_WITH_TEXT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66AF"/>
              </a:buClr>
              <a:buSzPts val="2800"/>
              <a:buFont typeface="Arial"/>
              <a:buNone/>
              <a:defRPr sz="2800">
                <a:solidFill>
                  <a:srgbClr val="0466A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54" name="Google Shape;54;p7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466AF"/>
              </a:buClr>
              <a:buSzPts val="2800"/>
              <a:buNone/>
              <a:defRPr sz="2800" b="1">
                <a:solidFill>
                  <a:srgbClr val="0466A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5" name="Google Shape;55;p7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556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466AF"/>
              </a:buClr>
              <a:buSzPts val="2000"/>
              <a:buFont typeface="Noto Sans Symbols"/>
              <a:buChar char="▪"/>
              <a:defRPr sz="2000"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914400" lvl="1" indent="-3429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0070C0"/>
              </a:buClr>
              <a:buSzPts val="1800"/>
              <a:buFont typeface="Quattrocento Sans"/>
              <a:buChar char="›"/>
              <a:defRPr sz="1800"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marL="1371600" lvl="2" indent="-3302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0070C0"/>
              </a:buClr>
              <a:buSzPts val="1600"/>
              <a:buFont typeface="Quattrocento Sans"/>
              <a:buChar char="›"/>
              <a:defRPr sz="1600"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marL="1828800" lvl="3" indent="-3175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0070C0"/>
              </a:buClr>
              <a:buSzPts val="1400"/>
              <a:buFont typeface="Quattrocento Sans"/>
              <a:buChar char="›"/>
              <a:defRPr sz="1400"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marL="2286000" lvl="4" indent="-3048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0070C0"/>
              </a:buClr>
              <a:buSzPts val="1200"/>
              <a:buFont typeface="Quattrocento Sans"/>
              <a:buChar char="›"/>
              <a:defRPr sz="1200"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marL="2743200" lvl="5" indent="-3429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6" name="Google Shape;56;p7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466AF"/>
              </a:buClr>
              <a:buSzPts val="2800"/>
              <a:buNone/>
              <a:defRPr sz="2800" b="1">
                <a:solidFill>
                  <a:srgbClr val="0466A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7" name="Google Shape;57;p7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556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466AF"/>
              </a:buClr>
              <a:buSzPts val="2000"/>
              <a:buFont typeface="Noto Sans Symbols"/>
              <a:buChar char="▪"/>
              <a:defRPr sz="2000"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914400" lvl="1" indent="-3429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0070C0"/>
              </a:buClr>
              <a:buSzPts val="1800"/>
              <a:buFont typeface="Quattrocento Sans"/>
              <a:buChar char="›"/>
              <a:defRPr sz="1800"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marL="1371600" lvl="2" indent="-3302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0070C0"/>
              </a:buClr>
              <a:buSzPts val="1600"/>
              <a:buFont typeface="Quattrocento Sans"/>
              <a:buChar char="›"/>
              <a:defRPr sz="1600"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marL="1828800" lvl="3" indent="-3175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0070C0"/>
              </a:buClr>
              <a:buSzPts val="1400"/>
              <a:buFont typeface="Quattrocento Sans"/>
              <a:buChar char="›"/>
              <a:defRPr sz="1400"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marL="2286000" lvl="4" indent="-3048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0070C0"/>
              </a:buClr>
              <a:buSzPts val="1200"/>
              <a:buFont typeface="Quattrocento Sans"/>
              <a:buChar char="›"/>
              <a:defRPr sz="1200"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marL="2743200" lvl="5" indent="-3429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8" name="Google Shape;58;p7"/>
          <p:cNvSpPr txBox="1">
            <a:spLocks noGrp="1"/>
          </p:cNvSpPr>
          <p:nvPr>
            <p:ph type="sldNum" idx="12"/>
          </p:nvPr>
        </p:nvSpPr>
        <p:spPr>
          <a:xfrm>
            <a:off x="693038" y="6330223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 sz="16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lvl="1" indent="0" algn="l">
              <a:spcBef>
                <a:spcPts val="0"/>
              </a:spcBef>
              <a:buNone/>
              <a:defRPr sz="16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lvl="2" indent="0" algn="l">
              <a:spcBef>
                <a:spcPts val="0"/>
              </a:spcBef>
              <a:buNone/>
              <a:defRPr sz="16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lvl="3" indent="0" algn="l">
              <a:spcBef>
                <a:spcPts val="0"/>
              </a:spcBef>
              <a:buNone/>
              <a:defRPr sz="16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lvl="4" indent="0" algn="l">
              <a:spcBef>
                <a:spcPts val="0"/>
              </a:spcBef>
              <a:buNone/>
              <a:defRPr sz="16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lvl="5" indent="0" algn="l">
              <a:spcBef>
                <a:spcPts val="0"/>
              </a:spcBef>
              <a:buNone/>
              <a:defRPr sz="16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lvl="6" indent="0" algn="l">
              <a:spcBef>
                <a:spcPts val="0"/>
              </a:spcBef>
              <a:buNone/>
              <a:defRPr sz="16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lvl="7" indent="0" algn="l">
              <a:spcBef>
                <a:spcPts val="0"/>
              </a:spcBef>
              <a:buNone/>
              <a:defRPr sz="16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lvl="8" indent="0" algn="l">
              <a:spcBef>
                <a:spcPts val="0"/>
              </a:spcBef>
              <a:buNone/>
              <a:defRPr sz="16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59" name="Google Shape;59;p7"/>
          <p:cNvCxnSpPr/>
          <p:nvPr/>
        </p:nvCxnSpPr>
        <p:spPr>
          <a:xfrm>
            <a:off x="1116000" y="6524080"/>
            <a:ext cx="9180000" cy="13648"/>
          </a:xfrm>
          <a:prstGeom prst="straightConnector1">
            <a:avLst/>
          </a:prstGeom>
          <a:noFill/>
          <a:ln w="28575" cap="flat" cmpd="sng">
            <a:solidFill>
              <a:srgbClr val="00ADED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60" name="Google Shape;60;p7"/>
          <p:cNvCxnSpPr/>
          <p:nvPr/>
        </p:nvCxnSpPr>
        <p:spPr>
          <a:xfrm>
            <a:off x="1116000" y="6552513"/>
            <a:ext cx="9180000" cy="13648"/>
          </a:xfrm>
          <a:prstGeom prst="straightConnector1">
            <a:avLst/>
          </a:prstGeom>
          <a:noFill/>
          <a:ln w="28575" cap="flat" cmpd="sng">
            <a:solidFill>
              <a:srgbClr val="0466AF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61" name="Google Shape;61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296000" y="6319573"/>
            <a:ext cx="1257924" cy="4363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eading &amp; Paragraph">
  <p:cSld name="Heading &amp; Paragraph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66AF"/>
              </a:buClr>
              <a:buSzPts val="2800"/>
              <a:buFont typeface="Arial"/>
              <a:buNone/>
              <a:defRPr sz="2800">
                <a:solidFill>
                  <a:srgbClr val="0466A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64" name="Google Shape;64;p8"/>
          <p:cNvSpPr txBox="1">
            <a:spLocks noGrp="1"/>
          </p:cNvSpPr>
          <p:nvPr>
            <p:ph type="body" idx="1"/>
          </p:nvPr>
        </p:nvSpPr>
        <p:spPr>
          <a:xfrm>
            <a:off x="838200" y="1866900"/>
            <a:ext cx="10515600" cy="432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914400" lvl="1" indent="-3429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5" name="Google Shape;65;p8"/>
          <p:cNvSpPr txBox="1">
            <a:spLocks noGrp="1"/>
          </p:cNvSpPr>
          <p:nvPr>
            <p:ph type="sldNum" idx="12"/>
          </p:nvPr>
        </p:nvSpPr>
        <p:spPr>
          <a:xfrm>
            <a:off x="693038" y="6330223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 sz="16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lvl="1" indent="0" algn="l">
              <a:spcBef>
                <a:spcPts val="0"/>
              </a:spcBef>
              <a:buNone/>
              <a:defRPr sz="16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lvl="2" indent="0" algn="l">
              <a:spcBef>
                <a:spcPts val="0"/>
              </a:spcBef>
              <a:buNone/>
              <a:defRPr sz="16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lvl="3" indent="0" algn="l">
              <a:spcBef>
                <a:spcPts val="0"/>
              </a:spcBef>
              <a:buNone/>
              <a:defRPr sz="16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lvl="4" indent="0" algn="l">
              <a:spcBef>
                <a:spcPts val="0"/>
              </a:spcBef>
              <a:buNone/>
              <a:defRPr sz="16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lvl="5" indent="0" algn="l">
              <a:spcBef>
                <a:spcPts val="0"/>
              </a:spcBef>
              <a:buNone/>
              <a:defRPr sz="16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lvl="6" indent="0" algn="l">
              <a:spcBef>
                <a:spcPts val="0"/>
              </a:spcBef>
              <a:buNone/>
              <a:defRPr sz="16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lvl="7" indent="0" algn="l">
              <a:spcBef>
                <a:spcPts val="0"/>
              </a:spcBef>
              <a:buNone/>
              <a:defRPr sz="16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lvl="8" indent="0" algn="l">
              <a:spcBef>
                <a:spcPts val="0"/>
              </a:spcBef>
              <a:buNone/>
              <a:defRPr sz="16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66" name="Google Shape;66;p8"/>
          <p:cNvCxnSpPr/>
          <p:nvPr/>
        </p:nvCxnSpPr>
        <p:spPr>
          <a:xfrm>
            <a:off x="1116000" y="6524080"/>
            <a:ext cx="9180000" cy="13648"/>
          </a:xfrm>
          <a:prstGeom prst="straightConnector1">
            <a:avLst/>
          </a:prstGeom>
          <a:noFill/>
          <a:ln w="28575" cap="flat" cmpd="sng">
            <a:solidFill>
              <a:srgbClr val="00ADED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67" name="Google Shape;67;p8"/>
          <p:cNvCxnSpPr/>
          <p:nvPr/>
        </p:nvCxnSpPr>
        <p:spPr>
          <a:xfrm>
            <a:off x="1116000" y="6552513"/>
            <a:ext cx="9180000" cy="13648"/>
          </a:xfrm>
          <a:prstGeom prst="straightConnector1">
            <a:avLst/>
          </a:prstGeom>
          <a:noFill/>
          <a:ln w="28575" cap="flat" cmpd="sng">
            <a:solidFill>
              <a:srgbClr val="0466AF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68" name="Google Shape;68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296000" y="6319573"/>
            <a:ext cx="1257924" cy="4363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>
  <p:cSld name="Content with Caption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9"/>
          <p:cNvSpPr txBox="1">
            <a:spLocks noGrp="1"/>
          </p:cNvSpPr>
          <p:nvPr>
            <p:ph type="title"/>
          </p:nvPr>
        </p:nvSpPr>
        <p:spPr>
          <a:xfrm>
            <a:off x="839788" y="444321"/>
            <a:ext cx="10514012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66AF"/>
              </a:buClr>
              <a:buSzPts val="2800"/>
              <a:buFont typeface="Arial"/>
              <a:buNone/>
              <a:defRPr sz="2800">
                <a:solidFill>
                  <a:srgbClr val="0466A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71" name="Google Shape;71;p9"/>
          <p:cNvSpPr txBox="1">
            <a:spLocks noGrp="1"/>
          </p:cNvSpPr>
          <p:nvPr>
            <p:ph type="body" idx="1"/>
          </p:nvPr>
        </p:nvSpPr>
        <p:spPr>
          <a:xfrm>
            <a:off x="839788" y="2198152"/>
            <a:ext cx="4245219" cy="37672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87A7AF"/>
              </a:buClr>
              <a:buSzPts val="2000"/>
              <a:buFont typeface="Quattrocento Sans"/>
              <a:buNone/>
              <a:defRPr sz="2000"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914400" lvl="1" indent="-3429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87A7AF"/>
              </a:buClr>
              <a:buSzPts val="1800"/>
              <a:buFont typeface="Quattrocento Sans"/>
              <a:buChar char="›"/>
              <a:defRPr sz="1800"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marL="1371600" lvl="2" indent="-3302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87A7AF"/>
              </a:buClr>
              <a:buSzPts val="1600"/>
              <a:buFont typeface="Quattrocento Sans"/>
              <a:buChar char="›"/>
              <a:defRPr sz="1600"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marL="1828800" lvl="3" indent="-3175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87A7AF"/>
              </a:buClr>
              <a:buSzPts val="1400"/>
              <a:buFont typeface="Quattrocento Sans"/>
              <a:buChar char="›"/>
              <a:defRPr sz="1400"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marL="2286000" lvl="4" indent="-3048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87A7AF"/>
              </a:buClr>
              <a:buSzPts val="1200"/>
              <a:buFont typeface="Quattrocento Sans"/>
              <a:buChar char="›"/>
              <a:defRPr sz="1200"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marL="2743200" lvl="5" indent="-3556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2" name="Google Shape;72;p9"/>
          <p:cNvSpPr txBox="1">
            <a:spLocks noGrp="1"/>
          </p:cNvSpPr>
          <p:nvPr>
            <p:ph type="body" idx="2"/>
          </p:nvPr>
        </p:nvSpPr>
        <p:spPr>
          <a:xfrm>
            <a:off x="5097886" y="2196920"/>
            <a:ext cx="6292403" cy="37845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556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466AF"/>
              </a:buClr>
              <a:buSzPts val="2000"/>
              <a:buFont typeface="Noto Sans Symbols"/>
              <a:buChar char="▪"/>
              <a:defRPr sz="2000"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914400" lvl="1" indent="-3429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0070C0"/>
              </a:buClr>
              <a:buSzPts val="1800"/>
              <a:buFont typeface="Quattrocento Sans"/>
              <a:buChar char="›"/>
              <a:defRPr sz="1800"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marL="1371600" lvl="2" indent="-3302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0070C0"/>
              </a:buClr>
              <a:buSzPts val="1600"/>
              <a:buFont typeface="Quattrocento Sans"/>
              <a:buChar char="›"/>
              <a:defRPr sz="1600"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marL="1828800" lvl="3" indent="-3175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0070C0"/>
              </a:buClr>
              <a:buSzPts val="1400"/>
              <a:buFont typeface="Quattrocento Sans"/>
              <a:buChar char="›"/>
              <a:defRPr sz="1400"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marL="2286000" lvl="4" indent="-3048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0070C0"/>
              </a:buClr>
              <a:buSzPts val="1200"/>
              <a:buFont typeface="Quattrocento Sans"/>
              <a:buChar char="›"/>
              <a:defRPr sz="1200"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marL="2743200" lvl="5" indent="-3556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3" name="Google Shape;73;p9"/>
          <p:cNvSpPr txBox="1">
            <a:spLocks noGrp="1"/>
          </p:cNvSpPr>
          <p:nvPr>
            <p:ph type="sldNum" idx="12"/>
          </p:nvPr>
        </p:nvSpPr>
        <p:spPr>
          <a:xfrm>
            <a:off x="693038" y="6330223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 sz="16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lvl="1" indent="0" algn="l">
              <a:spcBef>
                <a:spcPts val="0"/>
              </a:spcBef>
              <a:buNone/>
              <a:defRPr sz="16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lvl="2" indent="0" algn="l">
              <a:spcBef>
                <a:spcPts val="0"/>
              </a:spcBef>
              <a:buNone/>
              <a:defRPr sz="16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lvl="3" indent="0" algn="l">
              <a:spcBef>
                <a:spcPts val="0"/>
              </a:spcBef>
              <a:buNone/>
              <a:defRPr sz="16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lvl="4" indent="0" algn="l">
              <a:spcBef>
                <a:spcPts val="0"/>
              </a:spcBef>
              <a:buNone/>
              <a:defRPr sz="16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lvl="5" indent="0" algn="l">
              <a:spcBef>
                <a:spcPts val="0"/>
              </a:spcBef>
              <a:buNone/>
              <a:defRPr sz="16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lvl="6" indent="0" algn="l">
              <a:spcBef>
                <a:spcPts val="0"/>
              </a:spcBef>
              <a:buNone/>
              <a:defRPr sz="16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lvl="7" indent="0" algn="l">
              <a:spcBef>
                <a:spcPts val="0"/>
              </a:spcBef>
              <a:buNone/>
              <a:defRPr sz="16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lvl="8" indent="0" algn="l">
              <a:spcBef>
                <a:spcPts val="0"/>
              </a:spcBef>
              <a:buNone/>
              <a:defRPr sz="16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74" name="Google Shape;74;p9"/>
          <p:cNvCxnSpPr/>
          <p:nvPr/>
        </p:nvCxnSpPr>
        <p:spPr>
          <a:xfrm>
            <a:off x="1116000" y="6524080"/>
            <a:ext cx="9180000" cy="13648"/>
          </a:xfrm>
          <a:prstGeom prst="straightConnector1">
            <a:avLst/>
          </a:prstGeom>
          <a:noFill/>
          <a:ln w="28575" cap="flat" cmpd="sng">
            <a:solidFill>
              <a:srgbClr val="00ADED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75" name="Google Shape;75;p9"/>
          <p:cNvCxnSpPr/>
          <p:nvPr/>
        </p:nvCxnSpPr>
        <p:spPr>
          <a:xfrm>
            <a:off x="1116000" y="6552513"/>
            <a:ext cx="9180000" cy="13648"/>
          </a:xfrm>
          <a:prstGeom prst="straightConnector1">
            <a:avLst/>
          </a:prstGeom>
          <a:noFill/>
          <a:ln w="28575" cap="flat" cmpd="sng">
            <a:solidFill>
              <a:srgbClr val="0466AF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76" name="Google Shape;76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296000" y="6319573"/>
            <a:ext cx="1257924" cy="4363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0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66AF"/>
              </a:buClr>
              <a:buSzPts val="2800"/>
              <a:buFont typeface="Arial"/>
              <a:buNone/>
              <a:defRPr sz="2800">
                <a:solidFill>
                  <a:srgbClr val="0466A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79" name="Google Shape;79;p10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556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466AF"/>
              </a:buClr>
              <a:buSzPts val="2000"/>
              <a:buFont typeface="Noto Sans Symbols"/>
              <a:buChar char="▪"/>
              <a:defRPr sz="2000"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marL="914400" lvl="1" indent="-3429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0070C0"/>
              </a:buClr>
              <a:buSzPts val="1800"/>
              <a:buFont typeface="Quattrocento Sans"/>
              <a:buChar char="›"/>
              <a:defRPr sz="1800"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marL="1371600" lvl="2" indent="-3302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0070C0"/>
              </a:buClr>
              <a:buSzPts val="1600"/>
              <a:buFont typeface="Quattrocento Sans"/>
              <a:buChar char="›"/>
              <a:defRPr sz="1600"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marL="1828800" lvl="3" indent="-3175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0070C0"/>
              </a:buClr>
              <a:buSzPts val="1400"/>
              <a:buFont typeface="Quattrocento Sans"/>
              <a:buChar char="›"/>
              <a:defRPr sz="1400"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marL="2286000" lvl="4" indent="-3048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0070C0"/>
              </a:buClr>
              <a:buSzPts val="1200"/>
              <a:buFont typeface="Quattrocento Sans"/>
              <a:buChar char="›"/>
              <a:defRPr sz="1200"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marL="2743200" lvl="5" indent="-3429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0" name="Google Shape;80;p10"/>
          <p:cNvSpPr txBox="1">
            <a:spLocks noGrp="1"/>
          </p:cNvSpPr>
          <p:nvPr>
            <p:ph type="sldNum" idx="12"/>
          </p:nvPr>
        </p:nvSpPr>
        <p:spPr>
          <a:xfrm>
            <a:off x="693038" y="6330223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 sz="16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lvl="1" indent="0" algn="l">
              <a:spcBef>
                <a:spcPts val="0"/>
              </a:spcBef>
              <a:buNone/>
              <a:defRPr sz="16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lvl="2" indent="0" algn="l">
              <a:spcBef>
                <a:spcPts val="0"/>
              </a:spcBef>
              <a:buNone/>
              <a:defRPr sz="16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lvl="3" indent="0" algn="l">
              <a:spcBef>
                <a:spcPts val="0"/>
              </a:spcBef>
              <a:buNone/>
              <a:defRPr sz="16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lvl="4" indent="0" algn="l">
              <a:spcBef>
                <a:spcPts val="0"/>
              </a:spcBef>
              <a:buNone/>
              <a:defRPr sz="16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lvl="5" indent="0" algn="l">
              <a:spcBef>
                <a:spcPts val="0"/>
              </a:spcBef>
              <a:buNone/>
              <a:defRPr sz="16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lvl="6" indent="0" algn="l">
              <a:spcBef>
                <a:spcPts val="0"/>
              </a:spcBef>
              <a:buNone/>
              <a:defRPr sz="16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lvl="7" indent="0" algn="l">
              <a:spcBef>
                <a:spcPts val="0"/>
              </a:spcBef>
              <a:buNone/>
              <a:defRPr sz="16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lvl="8" indent="0" algn="l">
              <a:spcBef>
                <a:spcPts val="0"/>
              </a:spcBef>
              <a:buNone/>
              <a:defRPr sz="16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81" name="Google Shape;81;p10"/>
          <p:cNvCxnSpPr/>
          <p:nvPr/>
        </p:nvCxnSpPr>
        <p:spPr>
          <a:xfrm>
            <a:off x="1116000" y="6524080"/>
            <a:ext cx="9180000" cy="13648"/>
          </a:xfrm>
          <a:prstGeom prst="straightConnector1">
            <a:avLst/>
          </a:prstGeom>
          <a:noFill/>
          <a:ln w="28575" cap="flat" cmpd="sng">
            <a:solidFill>
              <a:srgbClr val="00ADED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82" name="Google Shape;82;p10"/>
          <p:cNvCxnSpPr/>
          <p:nvPr/>
        </p:nvCxnSpPr>
        <p:spPr>
          <a:xfrm>
            <a:off x="1116000" y="6552513"/>
            <a:ext cx="9180000" cy="13648"/>
          </a:xfrm>
          <a:prstGeom prst="straightConnector1">
            <a:avLst/>
          </a:prstGeom>
          <a:noFill/>
          <a:ln w="28575" cap="flat" cmpd="sng">
            <a:solidFill>
              <a:srgbClr val="0466AF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83" name="Google Shape;83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296000" y="6319573"/>
            <a:ext cx="1257924" cy="4363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2" r:id="rId3"/>
    <p:sldLayoutId id="2147483653" r:id="rId4"/>
    <p:sldLayoutId id="2147483654" r:id="rId5"/>
    <p:sldLayoutId id="2147483655" r:id="rId6"/>
    <p:sldLayoutId id="2147483656" r:id="rId7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1"/>
          <p:cNvSpPr txBox="1">
            <a:spLocks noGrp="1"/>
          </p:cNvSpPr>
          <p:nvPr>
            <p:ph type="ctrTitle"/>
          </p:nvPr>
        </p:nvSpPr>
        <p:spPr>
          <a:xfrm>
            <a:off x="1524000" y="3631841"/>
            <a:ext cx="9144000" cy="7980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r>
              <a:rPr lang="en-US"/>
              <a:t>Route QoS Prediction API</a:t>
            </a:r>
            <a:endParaRPr lang="en-US">
              <a:effectLst/>
            </a:endParaRPr>
          </a:p>
        </p:txBody>
      </p:sp>
      <p:sp>
        <p:nvSpPr>
          <p:cNvPr id="89" name="Google Shape;89;p11"/>
          <p:cNvSpPr txBox="1">
            <a:spLocks noGrp="1"/>
          </p:cNvSpPr>
          <p:nvPr>
            <p:ph type="subTitle" idx="1"/>
          </p:nvPr>
        </p:nvSpPr>
        <p:spPr>
          <a:xfrm>
            <a:off x="1524000" y="4439164"/>
            <a:ext cx="9144000" cy="962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>
              <a:spcBef>
                <a:spcPts val="0"/>
              </a:spcBef>
            </a:pPr>
            <a:r>
              <a:rPr lang="en-US">
                <a:latin typeface="Calibri"/>
                <a:ea typeface="Calibri"/>
                <a:cs typeface="Calibri"/>
              </a:rPr>
              <a:t>  X Flow Research · </a:t>
            </a:r>
            <a:r>
              <a:rPr lang="en-US" dirty="0">
                <a:latin typeface="Calibri"/>
                <a:ea typeface="Calibri"/>
                <a:cs typeface="Calibri"/>
              </a:rPr>
              <a:t>Next G Cloud</a:t>
            </a:r>
          </a:p>
          <a:p>
            <a:pPr marL="0" indent="0">
              <a:spcBef>
                <a:spcPts val="0"/>
              </a:spcBef>
            </a:pPr>
            <a:r>
              <a:rPr lang="en-US">
                <a:latin typeface="Calibri"/>
                <a:ea typeface="Calibri"/>
                <a:cs typeface="Calibri"/>
              </a:rPr>
              <a:t>April 2026  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5B5068D-E860-16A7-18CF-894AB417F8CF}"/>
              </a:ext>
            </a:extLst>
          </p:cNvPr>
          <p:cNvSpPr txBox="1"/>
          <p:nvPr/>
        </p:nvSpPr>
        <p:spPr>
          <a:xfrm>
            <a:off x="1524000" y="5567680"/>
            <a:ext cx="3129280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/>
              <a:t>Presented By: Ali Iqbal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Group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8763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/>
              <a:t>Contents</a:t>
            </a:r>
          </a:p>
        </p:txBody>
      </p:sp>
      <p:sp>
        <p:nvSpPr>
          <p:cNvPr id="3" name="Body"/>
          <p:cNvSpPr>
            <a:spLocks noGrp="1"/>
          </p:cNvSpPr>
          <p:nvPr>
            <p:ph type="body" idx="1"/>
          </p:nvPr>
        </p:nvSpPr>
        <p:spPr>
          <a:xfrm>
            <a:off x="838200" y="1310000"/>
            <a:ext cx="10515600" cy="33803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spcBef>
                <a:spcPts val="0"/>
              </a:spcBef>
            </a:pPr>
            <a:endParaRPr lang="en-US" dirty="0"/>
          </a:p>
          <a:p>
            <a:pPr marL="0" indent="0" fontAlgn="base">
              <a:spcBef>
                <a:spcPts val="12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rgbClr val="0466AF"/>
                </a:solidFill>
              </a:rPr>
              <a:t>1.  </a:t>
            </a:r>
            <a:r>
              <a:rPr lang="en-US" sz="1800" dirty="0"/>
              <a:t>Background &amp; Motivation</a:t>
            </a:r>
          </a:p>
          <a:p>
            <a:pPr marL="0" indent="0" fontAlgn="base">
              <a:spcBef>
                <a:spcPts val="12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rgbClr val="0466AF"/>
                </a:solidFill>
              </a:rPr>
              <a:t>2.  </a:t>
            </a:r>
            <a:r>
              <a:rPr lang="en-US" sz="1800" dirty="0"/>
              <a:t>API Overview</a:t>
            </a:r>
          </a:p>
          <a:p>
            <a:pPr marL="0" indent="0" fontAlgn="base">
              <a:spcBef>
                <a:spcPts val="12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rgbClr val="0466AF"/>
                </a:solidFill>
              </a:rPr>
              <a:t>3.  </a:t>
            </a:r>
            <a:r>
              <a:rPr lang="en-US" sz="1800" dirty="0"/>
              <a:t>API Operations</a:t>
            </a:r>
          </a:p>
          <a:p>
            <a:pPr marL="0" indent="0" fontAlgn="base">
              <a:spcBef>
                <a:spcPts val="12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rgbClr val="0466AF"/>
                </a:solidFill>
              </a:rPr>
              <a:t>4.  </a:t>
            </a:r>
            <a:r>
              <a:rPr lang="en-US" sz="1800" dirty="0"/>
              <a:t>Subscription / Event Model</a:t>
            </a:r>
          </a:p>
          <a:p>
            <a:pPr marL="0" indent="0" fontAlgn="base">
              <a:spcBef>
                <a:spcPts val="12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rgbClr val="0466AF"/>
                </a:solidFill>
              </a:rPr>
              <a:t>5.  </a:t>
            </a:r>
            <a:r>
              <a:rPr lang="en-US" sz="1800" dirty="0"/>
              <a:t>Gap / Overlap Analysis — vs. Existing CAMARA Portfolio</a:t>
            </a:r>
          </a:p>
          <a:p>
            <a:pPr marL="0" indent="0" fontAlgn="base">
              <a:spcBef>
                <a:spcPts val="12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rgbClr val="0466AF"/>
                </a:solidFill>
              </a:rPr>
              <a:t>6.  </a:t>
            </a:r>
            <a:r>
              <a:rPr lang="en-US" sz="1800" dirty="0"/>
              <a:t>End-to-End Architecture</a:t>
            </a:r>
          </a:p>
          <a:p>
            <a:pPr marL="0" indent="0" fontAlgn="base">
              <a:spcBef>
                <a:spcPts val="12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rgbClr val="0466AF"/>
                </a:solidFill>
              </a:rPr>
              <a:t>7.  </a:t>
            </a:r>
            <a:r>
              <a:rPr lang="en-US" sz="1800" dirty="0"/>
              <a:t>Interaction Diagram, Emergency Vehicle Route Planning</a:t>
            </a:r>
          </a:p>
          <a:p>
            <a:pPr marL="0" indent="0" fontAlgn="base">
              <a:spcBef>
                <a:spcPts val="12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rgbClr val="0466AF"/>
                </a:solidFill>
              </a:rPr>
              <a:t>8.  </a:t>
            </a:r>
            <a:r>
              <a:rPr lang="en-US" sz="1800"/>
              <a:t>User Story</a:t>
            </a:r>
          </a:p>
        </p:txBody>
      </p:sp>
      <p:sp>
        <p:nvSpPr>
          <p:cNvPr id="10" name="SlideNum"/>
          <p:cNvSpPr txBox="1">
            <a:spLocks noGrp="1"/>
          </p:cNvSpPr>
          <p:nvPr>
            <p:ph type="sldNum" idx="12"/>
          </p:nvPr>
        </p:nvSpPr>
        <p:spPr>
          <a:xfrm>
            <a:off x="693038" y="6330223"/>
            <a:ext cx="27432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fld id="{00000000-1234-1234-1234-000000000002}" type="slidenum">
              <a:rPr lang="en-US">
                <a:latin typeface="+mn-lt"/>
              </a:rPr>
              <a:t>2</a:t>
            </a:fld>
            <a:endParaRPr lang="en-US">
              <a:latin typeface="+mn-l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Group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8763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/>
              <a:t>Background &amp; Motivation</a:t>
            </a:r>
          </a:p>
        </p:txBody>
      </p:sp>
      <p:sp>
        <p:nvSpPr>
          <p:cNvPr id="3" name="Body"/>
          <p:cNvSpPr>
            <a:spLocks noGrp="1"/>
          </p:cNvSpPr>
          <p:nvPr>
            <p:ph type="body" idx="1"/>
          </p:nvPr>
        </p:nvSpPr>
        <p:spPr>
          <a:xfrm>
            <a:off x="838200" y="1310000"/>
            <a:ext cx="10515600" cy="2006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indent="0" fontAlgn="base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rgbClr val="0466AF"/>
                </a:solidFill>
              </a:rPr>
              <a:t>The Problem</a:t>
            </a:r>
          </a:p>
          <a:p>
            <a:pPr marL="342900" indent="-342900" fontAlgn="base">
              <a:spcBef>
                <a:spcPts val="60"/>
              </a:spcBef>
              <a:spcAft>
                <a:spcPts val="0"/>
              </a:spcAft>
              <a:buChar char="•"/>
            </a:pPr>
            <a:r>
              <a:rPr lang="en-US" sz="1400" dirty="0"/>
              <a:t>Mobile devices operating along a planned route need to know in advance whether the network will sustain required QoS at each segment.</a:t>
            </a:r>
          </a:p>
          <a:p>
            <a:pPr marL="342900" indent="-342900" fontAlgn="base">
              <a:spcBef>
                <a:spcPts val="60"/>
              </a:spcBef>
              <a:spcAft>
                <a:spcPts val="0"/>
              </a:spcAft>
              <a:buChar char="•"/>
            </a:pPr>
            <a:r>
              <a:rPr lang="en-US" sz="1400" dirty="0"/>
              <a:t>Without trajectory-aware forecasting, applications react to degradation near it occurs — critical in emergency scenarios.</a:t>
            </a:r>
          </a:p>
          <a:p>
            <a:pPr marL="342900" indent="-342900" fontAlgn="base">
              <a:spcBef>
                <a:spcPts val="60"/>
              </a:spcBef>
              <a:spcAft>
                <a:spcPts val="0"/>
              </a:spcAft>
              <a:buChar char="•"/>
            </a:pPr>
            <a:r>
              <a:rPr lang="en-US" sz="1400" dirty="0"/>
              <a:t>Emergency services, fleet operators, and logistics providers share this need but have no operator-agnostic CAMARA northbound API.</a:t>
            </a:r>
          </a:p>
          <a:p>
            <a:pPr>
              <a:spcBef>
                <a:spcPts val="0"/>
              </a:spcBef>
            </a:pPr>
            <a:endParaRPr lang="en-US" dirty="0"/>
          </a:p>
        </p:txBody>
      </p:sp>
      <p:graphicFrame>
        <p:nvGraphicFramePr>
          <p:cNvPr id="50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7167398"/>
              </p:ext>
            </p:extLst>
          </p:nvPr>
        </p:nvGraphicFramePr>
        <p:xfrm>
          <a:off x="838200" y="3609450"/>
          <a:ext cx="10515600" cy="2026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</a:rPr>
                        <a:t>Existing API</a:t>
                      </a:r>
                    </a:p>
                  </a:txBody>
                  <a:tcPr>
                    <a:solidFill>
                      <a:srgbClr val="24285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</a:rPr>
                        <a:t>Covers</a:t>
                      </a:r>
                    </a:p>
                  </a:txBody>
                  <a:tcPr>
                    <a:solidFill>
                      <a:srgbClr val="24285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</a:rPr>
                        <a:t>Does NOT Cover</a:t>
                      </a:r>
                    </a:p>
                  </a:txBody>
                  <a:tcPr>
                    <a:solidFill>
                      <a:srgbClr val="2428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en-US" sz="1200" b="0"/>
                        <a:t>QoD API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en-US" sz="1200" b="0"/>
                        <a:t>Network QoS treatment NOW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en-US" sz="1200" b="0"/>
                        <a:t>Future condition prediction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en-US" sz="1200" b="0"/>
                        <a:t>Predictive Connectivity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en-US" sz="1200" b="0"/>
                        <a:t>Region/time-frame (sandbox)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en-US" sz="1200" b="0"/>
                        <a:t>Route/trajectory orientation (potential overlap — see slide 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en-US" sz="1200" b="0"/>
                        <a:t>Device Location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en-US" sz="1200" b="0"/>
                        <a:t>Current/past location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en-US" sz="1200" b="0"/>
                        <a:t>Any QoS dimension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en-US" sz="1200" b="1" dirty="0"/>
                        <a:t>Route QoS Prediction, NEW</a:t>
                      </a:r>
                    </a:p>
                  </a:txBody>
                  <a:tcPr>
                    <a:solidFill>
                      <a:srgbClr val="D0E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en-US" sz="1200" b="0"/>
                        <a:t>Trajectory-aware per-segment forecast</a:t>
                      </a:r>
                    </a:p>
                  </a:txBody>
                  <a:tcPr>
                    <a:solidFill>
                      <a:srgbClr val="D0E4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en-US" sz="1200" b="0" dirty="0"/>
                        <a:t>← Proposed as new API; synergy with Predictive Connectivity if overlap is significant</a:t>
                      </a:r>
                    </a:p>
                  </a:txBody>
                  <a:tcPr>
                    <a:solidFill>
                      <a:srgbClr val="D0E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SlideNum"/>
          <p:cNvSpPr txBox="1">
            <a:spLocks noGrp="1"/>
          </p:cNvSpPr>
          <p:nvPr>
            <p:ph type="sldNum" idx="12"/>
          </p:nvPr>
        </p:nvSpPr>
        <p:spPr>
          <a:xfrm>
            <a:off x="693038" y="6330223"/>
            <a:ext cx="27432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fld id="{00000000-1234-1234-1234-000000000003}" type="slidenum">
              <a:rPr lang="en-US">
                <a:latin typeface="+mn-lt"/>
              </a:rPr>
              <a:t>3</a:t>
            </a:fld>
            <a:endParaRPr lang="en-US">
              <a:latin typeface="+mn-l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Group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8763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/>
              <a:t>API Overview</a:t>
            </a:r>
          </a:p>
        </p:txBody>
      </p:sp>
      <p:sp>
        <p:nvSpPr>
          <p:cNvPr id="3" name="Body"/>
          <p:cNvSpPr>
            <a:spLocks noGrp="1"/>
          </p:cNvSpPr>
          <p:nvPr>
            <p:ph type="body" idx="1"/>
          </p:nvPr>
        </p:nvSpPr>
        <p:spPr>
          <a:xfrm>
            <a:off x="838200" y="1310000"/>
            <a:ext cx="10515600" cy="34352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indent="0" fontAlgn="base">
              <a:spcBef>
                <a:spcPts val="0"/>
              </a:spcBef>
              <a:spcAft>
                <a:spcPts val="80"/>
              </a:spcAft>
              <a:buNone/>
            </a:pPr>
            <a:r>
              <a:rPr lang="en-US" sz="1300" b="1" dirty="0">
                <a:solidFill>
                  <a:srgbClr val="0466AF"/>
                </a:solidFill>
              </a:rPr>
              <a:t>Positioning: </a:t>
            </a:r>
            <a:r>
              <a:rPr lang="en-US" sz="1300" dirty="0">
                <a:solidFill>
                  <a:srgbClr val="242852"/>
                </a:solidFill>
              </a:rPr>
              <a:t>Proposed as a new standalone CAMARA API. Should the community identify significant overlap with the Predictive Connectivity API, this proposal is open to co-development as a trajectory-aware, route-oriented extension of that API.</a:t>
            </a:r>
          </a:p>
          <a:p>
            <a:pPr>
              <a:spcBef>
                <a:spcPts val="100"/>
              </a:spcBef>
              <a:buNone/>
            </a:pPr>
            <a:endParaRPr lang="en-US" dirty="0"/>
          </a:p>
          <a:p>
            <a:pPr marL="0" indent="0" fontAlgn="base">
              <a:spcBef>
                <a:spcPts val="8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rgbClr val="0466AF"/>
                </a:solidFill>
              </a:rPr>
              <a:t>API Description</a:t>
            </a:r>
          </a:p>
          <a:p>
            <a:pPr marL="342900" indent="-342900" fontAlgn="base">
              <a:spcBef>
                <a:spcPts val="20"/>
              </a:spcBef>
              <a:spcAft>
                <a:spcPts val="0"/>
              </a:spcAft>
              <a:buChar char="•"/>
            </a:pPr>
            <a:r>
              <a:rPr lang="en-US" sz="1200" dirty="0"/>
              <a:t>Allows an application backend to submit a planned route (array of geographic waypoints) and receive a predicted QoS profile, latency, throughput, reliability, per route segment over a specified time window. Agnostic to the underlying operator implementation.</a:t>
            </a:r>
          </a:p>
          <a:p>
            <a:pPr>
              <a:spcBef>
                <a:spcPts val="0"/>
              </a:spcBef>
            </a:pPr>
            <a:endParaRPr lang="en-US" dirty="0"/>
          </a:p>
          <a:p>
            <a:pPr marL="0" indent="0" fontAlgn="base">
              <a:spcBef>
                <a:spcPts val="8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rgbClr val="0466AF"/>
                </a:solidFill>
              </a:rPr>
              <a:t>Use Cases</a:t>
            </a:r>
          </a:p>
          <a:p>
            <a:pPr marL="342900" indent="-342900" fontAlgn="base">
              <a:spcBef>
                <a:spcPts val="20"/>
              </a:spcBef>
              <a:spcAft>
                <a:spcPts val="0"/>
              </a:spcAft>
              <a:buChar char="•"/>
            </a:pPr>
            <a:r>
              <a:rPr lang="en-US" sz="1200" dirty="0"/>
              <a:t>Emergency vehicle routing — predict connectivity before departure; trigger </a:t>
            </a:r>
            <a:r>
              <a:rPr lang="en-US" sz="1200" dirty="0" err="1"/>
              <a:t>QoD</a:t>
            </a:r>
            <a:r>
              <a:rPr lang="en-US" sz="1200" dirty="0"/>
              <a:t> for prioritized sessions on low-QoS segments.</a:t>
            </a:r>
          </a:p>
          <a:p>
            <a:pPr marL="342900" indent="-342900" fontAlgn="base">
              <a:spcBef>
                <a:spcPts val="20"/>
              </a:spcBef>
              <a:spcAft>
                <a:spcPts val="0"/>
              </a:spcAft>
              <a:buChar char="•"/>
            </a:pPr>
            <a:r>
              <a:rPr lang="en-US" sz="1200" dirty="0"/>
              <a:t>Adaptive media streaming in vehicles — pre-fetch or adapt bitrate based on predicted throughput dips.</a:t>
            </a:r>
          </a:p>
          <a:p>
            <a:pPr marL="342900" indent="-342900" fontAlgn="base">
              <a:spcBef>
                <a:spcPts val="20"/>
              </a:spcBef>
              <a:spcAft>
                <a:spcPts val="0"/>
              </a:spcAft>
              <a:buChar char="•"/>
            </a:pPr>
            <a:r>
              <a:rPr lang="en-US" sz="1200" dirty="0"/>
              <a:t>Fleet/logistics route optimization — compare QoS forecasts across alternative routes.</a:t>
            </a:r>
          </a:p>
          <a:p>
            <a:pPr marL="342900" indent="-342900" fontAlgn="base">
              <a:spcBef>
                <a:spcPts val="20"/>
              </a:spcBef>
              <a:spcAft>
                <a:spcPts val="0"/>
              </a:spcAft>
              <a:buChar char="•"/>
            </a:pPr>
            <a:r>
              <a:rPr lang="en-US" sz="1200" dirty="0"/>
              <a:t>Drone corridor management — validate connectivity before authorizing a flight path.</a:t>
            </a:r>
          </a:p>
          <a:p>
            <a:pPr marL="101600" indent="0">
              <a:spcBef>
                <a:spcPts val="0"/>
              </a:spcBef>
              <a:buNone/>
            </a:pPr>
            <a:endParaRPr lang="en-US" dirty="0"/>
          </a:p>
        </p:txBody>
      </p:sp>
      <p:sp>
        <p:nvSpPr>
          <p:cNvPr id="10" name="SlideNum"/>
          <p:cNvSpPr txBox="1">
            <a:spLocks noGrp="1"/>
          </p:cNvSpPr>
          <p:nvPr>
            <p:ph type="sldNum" idx="12"/>
          </p:nvPr>
        </p:nvSpPr>
        <p:spPr>
          <a:xfrm>
            <a:off x="693038" y="6330223"/>
            <a:ext cx="27432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fld id="{00000000-1234-1234-1234-000000000004}" type="slidenum">
              <a:rPr lang="en-US">
                <a:latin typeface="+mn-lt"/>
              </a:rPr>
              <a:t>4</a:t>
            </a:fld>
            <a:endParaRPr lang="en-US">
              <a:latin typeface="+mn-l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Group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8763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/>
              <a:t>API Operations</a:t>
            </a:r>
          </a:p>
        </p:txBody>
      </p:sp>
      <p:sp>
        <p:nvSpPr>
          <p:cNvPr id="20" name="TextBox"/>
          <p:cNvSpPr txBox="1">
            <a:spLocks noGrp="1"/>
          </p:cNvSpPr>
          <p:nvPr/>
        </p:nvSpPr>
        <p:spPr>
          <a:xfrm>
            <a:off x="838200" y="1220000"/>
            <a:ext cx="60000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indent="0" fontAlgn="base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>
                <a:solidFill>
                  <a:srgbClr val="242852"/>
                </a:solidFill>
              </a:rPr>
              <a:t>Resource: /route-qos-prediction</a:t>
            </a:r>
          </a:p>
        </p:txBody>
      </p:sp>
      <p:graphicFrame>
        <p:nvGraphicFramePr>
          <p:cNvPr id="50" name="Table"/>
          <p:cNvGraphicFramePr>
            <a:graphicFrameLocks noGrp="1"/>
          </p:cNvGraphicFramePr>
          <p:nvPr/>
        </p:nvGraphicFramePr>
        <p:xfrm>
          <a:off x="838200" y="1500000"/>
          <a:ext cx="10515600" cy="181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0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15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</a:rPr>
                        <a:t>Operation</a:t>
                      </a:r>
                    </a:p>
                  </a:txBody>
                  <a:tcPr>
                    <a:solidFill>
                      <a:srgbClr val="24285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</a:rPr>
                        <a:t>Method</a:t>
                      </a:r>
                    </a:p>
                  </a:txBody>
                  <a:tcPr>
                    <a:solidFill>
                      <a:srgbClr val="24285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</a:rPr>
                        <a:t>Purpose</a:t>
                      </a:r>
                    </a:p>
                  </a:txBody>
                  <a:tcPr>
                    <a:solidFill>
                      <a:srgbClr val="24285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</a:rPr>
                        <a:t>Key Inputs</a:t>
                      </a:r>
                    </a:p>
                  </a:txBody>
                  <a:tcPr>
                    <a:solidFill>
                      <a:srgbClr val="24285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</a:rPr>
                        <a:t>Key Outputs</a:t>
                      </a:r>
                    </a:p>
                  </a:txBody>
                  <a:tcPr>
                    <a:solidFill>
                      <a:srgbClr val="2428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en-US" sz="1100" b="1"/>
                        <a:t>Create Prediction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en-US" sz="1100" b="0"/>
                        <a:t>POST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en-US" sz="1100" b="0"/>
                        <a:t>Submit route → per-segment QoS forecast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en-US" sz="1100" b="0"/>
                        <a:t>deviceId, route[], qosMetrics, predictionHorizon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en-US" sz="1100" b="0"/>
                        <a:t>predictionId, segments[]{latencyMs, throughputMbps, reliabilityScore, confidenceLevel}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en-US" sz="1100" b="1"/>
                        <a:t>Get Prediction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en-US" sz="1100" b="0"/>
                        <a:t>GET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en-US" sz="1100" b="0"/>
                        <a:t>Retrieve a previously computed prediction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en-US" sz="1100" b="0"/>
                        <a:t>predictionId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en-US" sz="1100" b="0"/>
                        <a:t>Full prediction object (same schema as POST response)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en-US" sz="1100" b="1"/>
                        <a:t>Delete Prediction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en-US" sz="1100" b="0"/>
                        <a:t>DELETE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en-US" sz="1100" b="0"/>
                        <a:t>Cancel and release prediction resource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en-US" sz="1100" b="0"/>
                        <a:t>predictionId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en-US" sz="1100" b="0"/>
                        <a:t>HTTP 204 No Content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" name="TextBox"/>
          <p:cNvSpPr txBox="1">
            <a:spLocks noGrp="1"/>
          </p:cNvSpPr>
          <p:nvPr/>
        </p:nvSpPr>
        <p:spPr>
          <a:xfrm>
            <a:off x="838200" y="3950000"/>
            <a:ext cx="70000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indent="0" fontAlgn="base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>
                <a:solidFill>
                  <a:srgbClr val="5AA2AE"/>
                </a:solidFill>
              </a:rPr>
              <a:t>Resource: /route-qos-prediction/subscriptions</a:t>
            </a:r>
          </a:p>
        </p:txBody>
      </p:sp>
      <p:graphicFrame>
        <p:nvGraphicFramePr>
          <p:cNvPr id="4" name="Table"/>
          <p:cNvGraphicFramePr>
            <a:graphicFrameLocks noGrp="1"/>
          </p:cNvGraphicFramePr>
          <p:nvPr/>
        </p:nvGraphicFramePr>
        <p:xfrm>
          <a:off x="838200" y="4200000"/>
          <a:ext cx="10515600" cy="116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0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15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</a:rPr>
                        <a:t>Operation</a:t>
                      </a:r>
                    </a:p>
                  </a:txBody>
                  <a:tcPr>
                    <a:solidFill>
                      <a:srgbClr val="5AA2A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</a:rPr>
                        <a:t>Method</a:t>
                      </a:r>
                    </a:p>
                  </a:txBody>
                  <a:tcPr>
                    <a:solidFill>
                      <a:srgbClr val="5AA2A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</a:rPr>
                        <a:t>Purpose</a:t>
                      </a:r>
                    </a:p>
                  </a:txBody>
                  <a:tcPr>
                    <a:solidFill>
                      <a:srgbClr val="5AA2A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</a:rPr>
                        <a:t>Key Inputs</a:t>
                      </a:r>
                    </a:p>
                  </a:txBody>
                  <a:tcPr>
                    <a:solidFill>
                      <a:srgbClr val="5AA2A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</a:rPr>
                        <a:t>Key Outputs</a:t>
                      </a:r>
                    </a:p>
                  </a:txBody>
                  <a:tcPr>
                    <a:solidFill>
                      <a:srgbClr val="5AA2A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en-US" sz="1100" b="1"/>
                        <a:t>Create Subscription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en-US" sz="1100" b="0"/>
                        <a:t>POST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en-US" sz="1100" b="0"/>
                        <a:t>Subscribe to QoS forecast change events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en-US" sz="1100" b="0"/>
                        <a:t>predictionId, notificationUrl, eventTypes[]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en-US" sz="1100" b="0"/>
                        <a:t>subscriptionId, expiresAt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en-US" sz="1100" b="1"/>
                        <a:t>Delete Subscription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en-US" sz="1100" b="0"/>
                        <a:t>DELETE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en-US" sz="1100" b="0"/>
                        <a:t>Cancel an existing subscription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en-US" sz="1100" b="0"/>
                        <a:t>subscriptionId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en-US" sz="1100" b="0"/>
                        <a:t>HTTP 204 No Content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" name="SlideNum"/>
          <p:cNvSpPr txBox="1">
            <a:spLocks noGrp="1"/>
          </p:cNvSpPr>
          <p:nvPr>
            <p:ph type="sldNum" idx="12"/>
          </p:nvPr>
        </p:nvSpPr>
        <p:spPr>
          <a:xfrm>
            <a:off x="693038" y="6330223"/>
            <a:ext cx="27432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fld id="{00000000-1234-1234-1234-000000000005}" type="slidenum">
              <a:rPr lang="en-US">
                <a:latin typeface="+mn-lt"/>
              </a:rPr>
              <a:t>5</a:t>
            </a:fld>
            <a:endParaRPr lang="en-US">
              <a:latin typeface="+mn-l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Group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8763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/>
              <a:t>Subscription / Event Model</a:t>
            </a:r>
          </a:p>
        </p:txBody>
      </p:sp>
      <p:graphicFrame>
        <p:nvGraphicFramePr>
          <p:cNvPr id="50" name="Table"/>
          <p:cNvGraphicFramePr>
            <a:graphicFrameLocks noGrp="1"/>
          </p:cNvGraphicFramePr>
          <p:nvPr/>
        </p:nvGraphicFramePr>
        <p:xfrm>
          <a:off x="838200" y="1420000"/>
          <a:ext cx="10515600" cy="1569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15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</a:rPr>
                        <a:t>Event Type</a:t>
                      </a:r>
                    </a:p>
                  </a:txBody>
                  <a:tcPr>
                    <a:solidFill>
                      <a:srgbClr val="24285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</a:rPr>
                        <a:t>Trigger Description</a:t>
                      </a:r>
                    </a:p>
                  </a:txBody>
                  <a:tcPr>
                    <a:solidFill>
                      <a:srgbClr val="2428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en-US" sz="1200" b="1">
                          <a:solidFill>
                            <a:srgbClr val="0466AF"/>
                          </a:solidFill>
                        </a:rPr>
                        <a:t>QOS_DEGRADATION_FORECAST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en-US" sz="1200" b="0"/>
                        <a:t>Predicted QoS will fall below threshold on a route segment within the horizon window. Developer should trigger CAMARA QoD API to pre-configure the session.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en-US" sz="1200" b="1">
                          <a:solidFill>
                            <a:srgbClr val="0466AF"/>
                          </a:solidFill>
                        </a:rPr>
                        <a:t>QOS_RECOVERY_FORECAST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en-US" sz="1200" b="0"/>
                        <a:t>A previously degraded segment is predicted to recover. Developer may release the prioritised QoD session.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en-US" sz="1200" b="1">
                          <a:solidFill>
                            <a:srgbClr val="0466AF"/>
                          </a:solidFill>
                        </a:rPr>
                        <a:t>PREDICTION_EXPIRED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en-US" sz="1200" b="0"/>
                        <a:t>The prediction resource has reached its validity window and should be refreshed with a new POST request.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0" name="TextBox"/>
          <p:cNvSpPr txBox="1">
            <a:spLocks noGrp="1"/>
          </p:cNvSpPr>
          <p:nvPr/>
        </p:nvSpPr>
        <p:spPr>
          <a:xfrm>
            <a:off x="838200" y="3250000"/>
            <a:ext cx="105156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indent="0" fontAlgn="base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rgbClr val="5AA2AE"/>
                </a:solidFill>
              </a:rPr>
              <a:t>Sample Notification Payload (JSON)</a:t>
            </a:r>
          </a:p>
          <a:p>
            <a:pPr marL="0" indent="0" fontAlgn="base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rgbClr val="242852"/>
                </a:solidFill>
              </a:rPr>
              <a:t>{</a:t>
            </a:r>
          </a:p>
          <a:p>
            <a:pPr marL="0" indent="0" fontAlgn="base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rgbClr val="242852"/>
                </a:solidFill>
              </a:rPr>
              <a:t>  "</a:t>
            </a:r>
            <a:r>
              <a:rPr lang="en-US" sz="1200" dirty="0" err="1">
                <a:solidFill>
                  <a:srgbClr val="242852"/>
                </a:solidFill>
              </a:rPr>
              <a:t>subscriptionId</a:t>
            </a:r>
            <a:r>
              <a:rPr lang="en-US" sz="1200" dirty="0">
                <a:solidFill>
                  <a:srgbClr val="242852"/>
                </a:solidFill>
              </a:rPr>
              <a:t>":    "sub-abc-123",</a:t>
            </a:r>
          </a:p>
          <a:p>
            <a:pPr marL="0" indent="0" fontAlgn="base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rgbClr val="242852"/>
                </a:solidFill>
              </a:rPr>
              <a:t>  "</a:t>
            </a:r>
            <a:r>
              <a:rPr lang="en-US" sz="1200" dirty="0" err="1">
                <a:solidFill>
                  <a:srgbClr val="242852"/>
                </a:solidFill>
              </a:rPr>
              <a:t>eventType</a:t>
            </a:r>
            <a:r>
              <a:rPr lang="en-US" sz="1200" dirty="0">
                <a:solidFill>
                  <a:srgbClr val="242852"/>
                </a:solidFill>
              </a:rPr>
              <a:t>":         "QOS_DEGRADATION_FORECAST",</a:t>
            </a:r>
          </a:p>
          <a:p>
            <a:pPr marL="0" indent="0" fontAlgn="base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rgbClr val="242852"/>
                </a:solidFill>
              </a:rPr>
              <a:t>  "</a:t>
            </a:r>
            <a:r>
              <a:rPr lang="en-US" sz="1200" dirty="0" err="1">
                <a:solidFill>
                  <a:srgbClr val="242852"/>
                </a:solidFill>
              </a:rPr>
              <a:t>segmentId</a:t>
            </a:r>
            <a:r>
              <a:rPr lang="en-US" sz="1200" dirty="0">
                <a:solidFill>
                  <a:srgbClr val="242852"/>
                </a:solidFill>
              </a:rPr>
              <a:t>":         "seg-007",</a:t>
            </a:r>
          </a:p>
          <a:p>
            <a:pPr marL="0" indent="0" fontAlgn="base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rgbClr val="242852"/>
                </a:solidFill>
              </a:rPr>
              <a:t>  "location":          { "</a:t>
            </a:r>
            <a:r>
              <a:rPr lang="en-US" sz="1200" dirty="0" err="1">
                <a:solidFill>
                  <a:srgbClr val="242852"/>
                </a:solidFill>
              </a:rPr>
              <a:t>lat</a:t>
            </a:r>
            <a:r>
              <a:rPr lang="en-US" sz="1200" dirty="0">
                <a:solidFill>
                  <a:srgbClr val="242852"/>
                </a:solidFill>
              </a:rPr>
              <a:t>": 45.071, "</a:t>
            </a:r>
            <a:r>
              <a:rPr lang="en-US" sz="1200" dirty="0" err="1">
                <a:solidFill>
                  <a:srgbClr val="242852"/>
                </a:solidFill>
              </a:rPr>
              <a:t>lon</a:t>
            </a:r>
            <a:r>
              <a:rPr lang="en-US" sz="1200" dirty="0">
                <a:solidFill>
                  <a:srgbClr val="242852"/>
                </a:solidFill>
              </a:rPr>
              <a:t>": 7.682 },</a:t>
            </a:r>
          </a:p>
          <a:p>
            <a:pPr marL="0" indent="0" fontAlgn="base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rgbClr val="242852"/>
                </a:solidFill>
              </a:rPr>
              <a:t>  "</a:t>
            </a:r>
            <a:r>
              <a:rPr lang="en-US" sz="1200" dirty="0" err="1">
                <a:solidFill>
                  <a:srgbClr val="242852"/>
                </a:solidFill>
              </a:rPr>
              <a:t>predictedLatencyMs</a:t>
            </a:r>
            <a:r>
              <a:rPr lang="en-US" sz="1200" dirty="0">
                <a:solidFill>
                  <a:srgbClr val="242852"/>
                </a:solidFill>
              </a:rPr>
              <a:t>": 180,</a:t>
            </a:r>
          </a:p>
          <a:p>
            <a:pPr marL="0" indent="0" fontAlgn="base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rgbClr val="242852"/>
                </a:solidFill>
              </a:rPr>
              <a:t>  "</a:t>
            </a:r>
            <a:r>
              <a:rPr lang="en-US" sz="1200" dirty="0" err="1">
                <a:solidFill>
                  <a:srgbClr val="242852"/>
                </a:solidFill>
              </a:rPr>
              <a:t>confidenceLevel</a:t>
            </a:r>
            <a:r>
              <a:rPr lang="en-US" sz="1200" dirty="0">
                <a:solidFill>
                  <a:srgbClr val="242852"/>
                </a:solidFill>
              </a:rPr>
              <a:t>":   0.85,</a:t>
            </a:r>
          </a:p>
          <a:p>
            <a:pPr marL="0" indent="0" fontAlgn="base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rgbClr val="242852"/>
                </a:solidFill>
              </a:rPr>
              <a:t>  "</a:t>
            </a:r>
            <a:r>
              <a:rPr lang="en-US" sz="1200" dirty="0" err="1">
                <a:solidFill>
                  <a:srgbClr val="242852"/>
                </a:solidFill>
              </a:rPr>
              <a:t>expectedAt</a:t>
            </a:r>
            <a:r>
              <a:rPr lang="en-US" sz="1200" dirty="0">
                <a:solidFill>
                  <a:srgbClr val="242852"/>
                </a:solidFill>
              </a:rPr>
              <a:t>":        "2026-04-16T14:32:00Z"</a:t>
            </a:r>
          </a:p>
          <a:p>
            <a:pPr marL="0" indent="0" fontAlgn="base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rgbClr val="242852"/>
                </a:solidFill>
              </a:rPr>
              <a:t>}</a:t>
            </a:r>
          </a:p>
        </p:txBody>
      </p:sp>
      <p:sp>
        <p:nvSpPr>
          <p:cNvPr id="10" name="SlideNum"/>
          <p:cNvSpPr txBox="1">
            <a:spLocks noGrp="1"/>
          </p:cNvSpPr>
          <p:nvPr>
            <p:ph type="sldNum" idx="12"/>
          </p:nvPr>
        </p:nvSpPr>
        <p:spPr>
          <a:xfrm>
            <a:off x="693038" y="6330223"/>
            <a:ext cx="27432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fld id="{00000000-1234-1234-1234-000000000006}" type="slidenum">
              <a:rPr lang="en-US">
                <a:latin typeface="+mn-lt"/>
              </a:rPr>
              <a:t>6</a:t>
            </a:fld>
            <a:endParaRPr lang="en-US">
              <a:latin typeface="+mn-l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Group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8763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/>
              <a:t>Gap / Overlap Analysis — vs. Existing CAMARA Portfolio</a:t>
            </a:r>
          </a:p>
        </p:txBody>
      </p:sp>
      <p:graphicFrame>
        <p:nvGraphicFramePr>
          <p:cNvPr id="50" name="Table"/>
          <p:cNvGraphicFramePr>
            <a:graphicFrameLocks noGrp="1"/>
          </p:cNvGraphicFramePr>
          <p:nvPr/>
        </p:nvGraphicFramePr>
        <p:xfrm>
          <a:off x="838200" y="1420000"/>
          <a:ext cx="10515600" cy="3378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28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28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28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289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</a:rPr>
                        <a:t>Capability</a:t>
                      </a:r>
                    </a:p>
                  </a:txBody>
                  <a:tcPr>
                    <a:solidFill>
                      <a:srgbClr val="24285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en-US" sz="1050" b="1">
                          <a:solidFill>
                            <a:srgbClr val="FFFFFF"/>
                          </a:solidFill>
                        </a:rPr>
                        <a:t>QoD API</a:t>
                      </a:r>
                    </a:p>
                  </a:txBody>
                  <a:tcPr>
                    <a:solidFill>
                      <a:srgbClr val="24285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en-US" sz="1050" b="1">
                          <a:solidFill>
                            <a:srgbClr val="FFFFFF"/>
                          </a:solidFill>
                        </a:rPr>
                        <a:t>Predictive Connectivity</a:t>
                      </a:r>
                    </a:p>
                  </a:txBody>
                  <a:tcPr>
                    <a:solidFill>
                      <a:srgbClr val="24285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en-US" sz="1050" b="1">
                          <a:solidFill>
                            <a:srgbClr val="FFFFFF"/>
                          </a:solidFill>
                        </a:rPr>
                        <a:t>Device Location</a:t>
                      </a:r>
                    </a:p>
                  </a:txBody>
                  <a:tcPr>
                    <a:solidFill>
                      <a:srgbClr val="24285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en-US" sz="1050" b="1">
                          <a:solidFill>
                            <a:srgbClr val="FFFFFF"/>
                          </a:solidFill>
                        </a:rPr>
                        <a:t>Route QoS Prediction (NEW)</a:t>
                      </a:r>
                    </a:p>
                  </a:txBody>
                  <a:tcPr>
                    <a:solidFill>
                      <a:srgbClr val="2428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en-US" sz="1100" b="0"/>
                        <a:t>Set network QoS for a session NOW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en-US" sz="1100" b="0">
                          <a:solidFill>
                            <a:srgbClr val="217346"/>
                          </a:solidFill>
                        </a:rPr>
                        <a:t>✅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en-US" sz="1100" b="0">
                          <a:solidFill>
                            <a:srgbClr val="C00000"/>
                          </a:solidFill>
                        </a:rPr>
                        <a:t>❌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en-US" sz="1100" b="0">
                          <a:solidFill>
                            <a:srgbClr val="C00000"/>
                          </a:solidFill>
                        </a:rPr>
                        <a:t>❌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en-US" sz="1100" b="0">
                          <a:solidFill>
                            <a:srgbClr val="C00000"/>
                          </a:solidFill>
                        </a:rPr>
                        <a:t>❌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en-US" sz="1100" b="0"/>
                        <a:t>Predict QoS for a geographic region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en-US" sz="1100" b="0">
                          <a:solidFill>
                            <a:srgbClr val="C00000"/>
                          </a:solidFill>
                        </a:rPr>
                        <a:t>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en-US" sz="1100" b="0">
                          <a:solidFill>
                            <a:srgbClr val="E26B0A"/>
                          </a:solidFill>
                        </a:rPr>
                        <a:t>⚠️ Sandbox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en-US" sz="1100" b="0">
                          <a:solidFill>
                            <a:srgbClr val="C00000"/>
                          </a:solidFill>
                        </a:rPr>
                        <a:t>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en-US" sz="1100" b="0">
                          <a:solidFill>
                            <a:srgbClr val="C00000"/>
                          </a:solidFill>
                        </a:rPr>
                        <a:t>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en-US" sz="1100" b="0"/>
                        <a:t>Predict QoS along a planned route/trajectory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en-US" sz="1100" b="0">
                          <a:solidFill>
                            <a:srgbClr val="C00000"/>
                          </a:solidFill>
                        </a:rPr>
                        <a:t>❌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en-US" sz="1100" b="1">
                          <a:solidFill>
                            <a:srgbClr val="E26B0A"/>
                          </a:solidFill>
                        </a:rPr>
                        <a:t>⚠️ Overlap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en-US" sz="1100" b="0">
                          <a:solidFill>
                            <a:srgbClr val="C00000"/>
                          </a:solidFill>
                        </a:rPr>
                        <a:t>❌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en-US" sz="1100" b="0">
                          <a:solidFill>
                            <a:srgbClr val="217346"/>
                          </a:solidFill>
                        </a:rPr>
                        <a:t>✅ NEW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en-US" sz="1100" b="0"/>
                        <a:t>Per-segment granularity (waypoint level)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en-US" sz="1100" b="0">
                          <a:solidFill>
                            <a:srgbClr val="C00000"/>
                          </a:solidFill>
                        </a:rPr>
                        <a:t>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en-US" sz="1100" b="0">
                          <a:solidFill>
                            <a:srgbClr val="C00000"/>
                          </a:solidFill>
                        </a:rPr>
                        <a:t>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en-US" sz="1100" b="0">
                          <a:solidFill>
                            <a:srgbClr val="C00000"/>
                          </a:solidFill>
                        </a:rPr>
                        <a:t>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en-US" sz="1100" b="0">
                          <a:solidFill>
                            <a:srgbClr val="217346"/>
                          </a:solidFill>
                        </a:rPr>
                        <a:t>✅ NEW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en-US" sz="1100" b="0"/>
                        <a:t>Subscribe to forecast change events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en-US" sz="1100" b="0">
                          <a:solidFill>
                            <a:srgbClr val="C00000"/>
                          </a:solidFill>
                        </a:rPr>
                        <a:t>❌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en-US" sz="1100" b="0">
                          <a:solidFill>
                            <a:srgbClr val="C00000"/>
                          </a:solidFill>
                        </a:rPr>
                        <a:t>❌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en-US" sz="1100" b="0">
                          <a:solidFill>
                            <a:srgbClr val="C00000"/>
                          </a:solidFill>
                        </a:rPr>
                        <a:t>❌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en-US" sz="1100" b="0">
                          <a:solidFill>
                            <a:srgbClr val="217346"/>
                          </a:solidFill>
                        </a:rPr>
                        <a:t>✅ NEW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en-US" sz="1100" b="0"/>
                        <a:t>Device location tracking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en-US" sz="1100" b="0">
                          <a:solidFill>
                            <a:srgbClr val="C00000"/>
                          </a:solidFill>
                        </a:rPr>
                        <a:t>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en-US" sz="1100" b="0">
                          <a:solidFill>
                            <a:srgbClr val="C00000"/>
                          </a:solidFill>
                        </a:rPr>
                        <a:t>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en-US" sz="1100" b="0">
                          <a:solidFill>
                            <a:srgbClr val="217346"/>
                          </a:solidFill>
                        </a:rPr>
                        <a:t>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en-US" sz="1100" b="0">
                          <a:solidFill>
                            <a:srgbClr val="C00000"/>
                          </a:solidFill>
                        </a:rPr>
                        <a:t>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en-US" sz="1100" b="0"/>
                        <a:t>Moving / V2X device oriented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en-US" sz="1100" b="0">
                          <a:solidFill>
                            <a:srgbClr val="C00000"/>
                          </a:solidFill>
                        </a:rPr>
                        <a:t>❌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en-US" sz="1100" b="0">
                          <a:solidFill>
                            <a:srgbClr val="C00000"/>
                          </a:solidFill>
                        </a:rPr>
                        <a:t>❌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en-US" sz="1100" b="0">
                          <a:solidFill>
                            <a:srgbClr val="C00000"/>
                          </a:solidFill>
                        </a:rPr>
                        <a:t>❌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en-US" sz="1100" b="0">
                          <a:solidFill>
                            <a:srgbClr val="217346"/>
                          </a:solidFill>
                        </a:rPr>
                        <a:t>✅ NEW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en-US" sz="1100" b="0"/>
                        <a:t>Production-ready (not sandbox)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en-US" sz="1100" b="0">
                          <a:solidFill>
                            <a:srgbClr val="217346"/>
                          </a:solidFill>
                        </a:rPr>
                        <a:t>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en-US" sz="1100" b="0">
                          <a:solidFill>
                            <a:srgbClr val="C00000"/>
                          </a:solidFill>
                        </a:rPr>
                        <a:t>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en-US" sz="1100" b="0">
                          <a:solidFill>
                            <a:srgbClr val="217346"/>
                          </a:solidFill>
                        </a:rPr>
                        <a:t>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en-US" sz="1100" b="0">
                          <a:solidFill>
                            <a:srgbClr val="888888"/>
                          </a:solidFill>
                        </a:rPr>
                        <a:t>TBD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0" name="TextBox"/>
          <p:cNvSpPr txBox="1">
            <a:spLocks noGrp="1"/>
          </p:cNvSpPr>
          <p:nvPr/>
        </p:nvSpPr>
        <p:spPr>
          <a:xfrm>
            <a:off x="838200" y="5820000"/>
            <a:ext cx="10515600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indent="0" fontAlgn="base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rgbClr val="217346"/>
                </a:solidFill>
              </a:rPr>
              <a:t>✅ Covered  </a:t>
            </a:r>
            <a:r>
              <a:rPr lang="en-US" sz="1200" b="1">
                <a:solidFill>
                  <a:srgbClr val="C00000"/>
                </a:solidFill>
              </a:rPr>
              <a:t>❌ Not covered  </a:t>
            </a:r>
            <a:r>
              <a:rPr lang="en-US" sz="1200" b="1">
                <a:solidFill>
                  <a:srgbClr val="E26B0A"/>
                </a:solidFill>
              </a:rPr>
              <a:t>⚠️ Partial / Sandbox    ★ If significant overlap with Predictive Connectivity is confirmed, Route QoS Prediction may be co-developed as a trajectory-aware extension rather than a standalone new API.</a:t>
            </a:r>
          </a:p>
        </p:txBody>
      </p:sp>
      <p:sp>
        <p:nvSpPr>
          <p:cNvPr id="10" name="SlideNum"/>
          <p:cNvSpPr txBox="1">
            <a:spLocks noGrp="1"/>
          </p:cNvSpPr>
          <p:nvPr>
            <p:ph type="sldNum" idx="12"/>
          </p:nvPr>
        </p:nvSpPr>
        <p:spPr>
          <a:xfrm>
            <a:off x="693038" y="6330223"/>
            <a:ext cx="27432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fld id="{00000000-1234-1234-1234-000000000007}" type="slidenum">
              <a:rPr lang="en-US">
                <a:latin typeface="+mn-lt"/>
              </a:rPr>
              <a:t>7</a:t>
            </a:fld>
            <a:endParaRPr lang="en-US">
              <a:latin typeface="+mn-l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Group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8763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/>
              <a:t>End-to-End Architecture</a:t>
            </a:r>
          </a:p>
        </p:txBody>
      </p:sp>
      <p:sp>
        <p:nvSpPr>
          <p:cNvPr id="3" name="Body"/>
          <p:cNvSpPr>
            <a:spLocks noGrp="1"/>
          </p:cNvSpPr>
          <p:nvPr>
            <p:ph type="body" idx="1"/>
          </p:nvPr>
        </p:nvSpPr>
        <p:spPr>
          <a:xfrm>
            <a:off x="838200" y="1310000"/>
            <a:ext cx="10515600" cy="4017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spcBef>
                <a:spcPts val="0"/>
              </a:spcBef>
            </a:pPr>
            <a:endParaRPr lang="en-US" dirty="0"/>
          </a:p>
          <a:p>
            <a:pPr marL="0" indent="0" fontAlgn="base">
              <a:spcBef>
                <a:spcPts val="18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rgbClr val="242852"/>
                </a:solidFill>
              </a:rPr>
              <a:t>Application Layer</a:t>
            </a:r>
          </a:p>
          <a:p>
            <a:pPr marL="342900" indent="-342900" fontAlgn="base">
              <a:spcBef>
                <a:spcPts val="40"/>
              </a:spcBef>
              <a:spcAft>
                <a:spcPts val="0"/>
              </a:spcAft>
            </a:pPr>
            <a:r>
              <a:rPr lang="en-US" sz="1300" dirty="0">
                <a:solidFill>
                  <a:srgbClr val="000000"/>
                </a:solidFill>
              </a:rPr>
              <a:t>App (Ambulance)  |  Fleet Operator App  |  Hospital Dashboard  |  3rd-Party Developer App</a:t>
            </a:r>
          </a:p>
          <a:p>
            <a:pPr>
              <a:spcBef>
                <a:spcPts val="0"/>
              </a:spcBef>
            </a:pPr>
            <a:endParaRPr lang="en-US" dirty="0"/>
          </a:p>
          <a:p>
            <a:pPr marL="0" indent="0" fontAlgn="base">
              <a:spcBef>
                <a:spcPts val="18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rgbClr val="0466AF"/>
                </a:solidFill>
              </a:rPr>
              <a:t>CAMARA Northbound Interface (NBI)</a:t>
            </a:r>
          </a:p>
          <a:p>
            <a:pPr marL="342900" indent="-342900" fontAlgn="base">
              <a:spcBef>
                <a:spcPts val="40"/>
              </a:spcBef>
              <a:spcAft>
                <a:spcPts val="0"/>
              </a:spcAft>
            </a:pPr>
            <a:r>
              <a:rPr lang="en-US" sz="1300" dirty="0">
                <a:solidFill>
                  <a:srgbClr val="000000"/>
                </a:solidFill>
              </a:rPr>
              <a:t>Route QoS Prediction API ★ NEW   |   QoD API   |   Device Location API</a:t>
            </a:r>
          </a:p>
          <a:p>
            <a:pPr>
              <a:spcBef>
                <a:spcPts val="0"/>
              </a:spcBef>
            </a:pPr>
            <a:endParaRPr lang="en-US" dirty="0"/>
          </a:p>
          <a:p>
            <a:pPr marL="0" indent="0" fontAlgn="base">
              <a:spcBef>
                <a:spcPts val="18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rgbClr val="5AA2AE"/>
                </a:solidFill>
              </a:rPr>
              <a:t>Operator Exposure &amp; Network Analytics</a:t>
            </a:r>
          </a:p>
          <a:p>
            <a:pPr marL="342900" indent="-342900" fontAlgn="base">
              <a:spcBef>
                <a:spcPts val="40"/>
              </a:spcBef>
              <a:spcAft>
                <a:spcPts val="0"/>
              </a:spcAft>
            </a:pPr>
            <a:r>
              <a:rPr lang="en-US" sz="1300" dirty="0">
                <a:solidFill>
                  <a:srgbClr val="000000"/>
                </a:solidFill>
              </a:rPr>
              <a:t>Exposure Gateway   |   NWDAF / Network Analytics   |   ETSI MEC V2X Info Service</a:t>
            </a:r>
          </a:p>
          <a:p>
            <a:pPr>
              <a:spcBef>
                <a:spcPts val="0"/>
              </a:spcBef>
            </a:pPr>
            <a:endParaRPr lang="en-US" dirty="0"/>
          </a:p>
          <a:p>
            <a:pPr marL="0" indent="0" fontAlgn="base">
              <a:spcBef>
                <a:spcPts val="18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rgbClr val="595959"/>
                </a:solidFill>
              </a:rPr>
              <a:t>Physical Network</a:t>
            </a:r>
          </a:p>
          <a:p>
            <a:pPr marL="342900" indent="-342900" fontAlgn="base">
              <a:spcBef>
                <a:spcPts val="40"/>
              </a:spcBef>
              <a:spcAft>
                <a:spcPts val="0"/>
              </a:spcAft>
            </a:pPr>
            <a:r>
              <a:rPr lang="en-US" sz="1300" dirty="0">
                <a:solidFill>
                  <a:srgbClr val="000000"/>
                </a:solidFill>
              </a:rPr>
              <a:t>5G RAN   |   Core Network   |   Edge Cloud (Turin PoC)</a:t>
            </a:r>
          </a:p>
          <a:p>
            <a:pPr>
              <a:spcBef>
                <a:spcPts val="0"/>
              </a:spcBef>
            </a:pPr>
            <a:endParaRPr lang="en-US" dirty="0"/>
          </a:p>
        </p:txBody>
      </p:sp>
      <p:sp>
        <p:nvSpPr>
          <p:cNvPr id="10" name="SlideNum"/>
          <p:cNvSpPr txBox="1">
            <a:spLocks noGrp="1"/>
          </p:cNvSpPr>
          <p:nvPr>
            <p:ph type="sldNum" idx="12"/>
          </p:nvPr>
        </p:nvSpPr>
        <p:spPr>
          <a:xfrm>
            <a:off x="693038" y="6330223"/>
            <a:ext cx="27432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fld id="{00000000-1234-1234-1234-000000000008}" type="slidenum">
              <a:rPr lang="en-US">
                <a:latin typeface="+mn-lt"/>
              </a:rPr>
              <a:t>8</a:t>
            </a:fld>
            <a:endParaRPr lang="en-US">
              <a:latin typeface="+mn-l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Group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8763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/>
              <a:t>Interaction Diagram — Emergency Vehicle Route Planning</a:t>
            </a:r>
          </a:p>
        </p:txBody>
      </p:sp>
      <p:sp>
        <p:nvSpPr>
          <p:cNvPr id="3" name="Body"/>
          <p:cNvSpPr>
            <a:spLocks noGrp="1"/>
          </p:cNvSpPr>
          <p:nvPr>
            <p:ph type="body" idx="1"/>
          </p:nvPr>
        </p:nvSpPr>
        <p:spPr>
          <a:xfrm>
            <a:off x="838200" y="1310000"/>
            <a:ext cx="10515600" cy="5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indent="0" fontAlgn="base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rgbClr val="242852"/>
                </a:solidFill>
              </a:rPr>
              <a:t>[wi.CARE+ App]  [CAMARA Route QoS API]  [CAMARA QoD API]  [Operator Exposure GW]  [NWDAF / Edge Analytics]</a:t>
            </a:r>
          </a:p>
          <a:p>
            <a:pPr>
              <a:spcBef>
                <a:spcPts val="0"/>
              </a:spcBef>
            </a:pPr>
            <a:endParaRPr lang="en-US"/>
          </a:p>
          <a:p>
            <a:pPr>
              <a:spcBef>
                <a:spcPts val="0"/>
              </a:spcBef>
            </a:pPr>
            <a:endParaRPr lang="en-US"/>
          </a:p>
          <a:p>
            <a:pPr marL="0" indent="0" fontAlgn="base"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300" b="1">
                <a:solidFill>
                  <a:srgbClr val="0466AF"/>
                </a:solidFill>
              </a:rPr>
              <a:t>→  </a:t>
            </a:r>
            <a:r>
              <a:rPr lang="en-US" sz="1300"/>
              <a:t>POST /route-qos-prediction { route[], deviceId, qosMetrics }</a:t>
            </a:r>
          </a:p>
          <a:p>
            <a:pPr marL="0" indent="0" fontAlgn="base"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300" b="1">
                <a:solidFill>
                  <a:srgbClr val="0466AF"/>
                </a:solidFill>
              </a:rPr>
              <a:t>→→  </a:t>
            </a:r>
            <a:r>
              <a:rPr lang="en-US" sz="1300"/>
              <a:t>Query network analytics for route segments</a:t>
            </a:r>
          </a:p>
          <a:p>
            <a:pPr marL="0" indent="0" fontAlgn="base"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300" b="1">
                <a:solidFill>
                  <a:srgbClr val="0466AF"/>
                </a:solidFill>
              </a:rPr>
              <a:t>←←  </a:t>
            </a:r>
            <a:r>
              <a:rPr lang="en-US" sz="1300"/>
              <a:t>Per-segment QoS data returned</a:t>
            </a:r>
          </a:p>
          <a:p>
            <a:pPr marL="0" indent="0" fontAlgn="base"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300" b="1">
                <a:solidFill>
                  <a:srgbClr val="0466AF"/>
                </a:solidFill>
              </a:rPr>
              <a:t>←  </a:t>
            </a:r>
            <a:r>
              <a:rPr lang="en-US" sz="1300"/>
              <a:t>201 Created: predictionId + segment forecast</a:t>
            </a:r>
          </a:p>
          <a:p>
            <a:pPr marL="0" indent="0" fontAlgn="base"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300" b="1">
                <a:solidFill>
                  <a:srgbClr val="0466AF"/>
                </a:solidFill>
              </a:rPr>
              <a:t>→  </a:t>
            </a:r>
            <a:r>
              <a:rPr lang="en-US" sz="1300"/>
              <a:t>POST /subscriptions { QOS_DEGRADATION_FORECAST }</a:t>
            </a:r>
          </a:p>
          <a:p>
            <a:pPr marL="0" indent="0" fontAlgn="base"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300" b="1">
                <a:solidFill>
                  <a:srgbClr val="0466AF"/>
                </a:solidFill>
              </a:rPr>
              <a:t>←  </a:t>
            </a:r>
            <a:r>
              <a:rPr lang="en-US" sz="1300"/>
              <a:t>201 Created: subscriptionId</a:t>
            </a:r>
          </a:p>
          <a:p>
            <a:pPr marL="0" indent="0" fontAlgn="base"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300" b="1">
                <a:solidFill>
                  <a:srgbClr val="0466AF"/>
                </a:solidFill>
              </a:rPr>
              <a:t>→→  </a:t>
            </a:r>
            <a:r>
              <a:rPr lang="en-US" sz="1300"/>
              <a:t>POST /sessions (QoD) — prioritise session on low-QoS segment</a:t>
            </a:r>
          </a:p>
          <a:p>
            <a:pPr marL="0" indent="0" fontAlgn="base"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300" b="1">
                <a:solidFill>
                  <a:srgbClr val="0466AF"/>
                </a:solidFill>
              </a:rPr>
              <a:t>←←  </a:t>
            </a:r>
            <a:r>
              <a:rPr lang="en-US" sz="1300"/>
              <a:t>200 OK — QoD session confirmed</a:t>
            </a:r>
          </a:p>
          <a:p>
            <a:pPr marL="0" indent="0" fontAlgn="base"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300" b="1">
                <a:solidFill>
                  <a:srgbClr val="0466AF"/>
                </a:solidFill>
              </a:rPr>
              <a:t>←  </a:t>
            </a:r>
            <a:r>
              <a:rPr lang="en-US" sz="1300"/>
              <a:t>Webhook: QOS_DEGRADATION_FORECAST { segmentId, expectedAt, latencyMs }</a:t>
            </a:r>
          </a:p>
        </p:txBody>
      </p:sp>
      <p:sp>
        <p:nvSpPr>
          <p:cNvPr id="10" name="SlideNum"/>
          <p:cNvSpPr txBox="1">
            <a:spLocks noGrp="1"/>
          </p:cNvSpPr>
          <p:nvPr>
            <p:ph type="sldNum" idx="12"/>
          </p:nvPr>
        </p:nvSpPr>
        <p:spPr>
          <a:xfrm>
            <a:off x="693038" y="6330223"/>
            <a:ext cx="27432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fld id="{00000000-1234-1234-1234-000000000009}" type="slidenum">
              <a:rPr lang="en-US">
                <a:latin typeface="+mn-lt"/>
              </a:rPr>
              <a:t>9</a:t>
            </a:fld>
            <a:endParaRPr lang="en-US">
              <a:latin typeface="+mn-l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Group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8763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/>
              <a:t>User Stories — Additional Use Cases</a:t>
            </a:r>
          </a:p>
        </p:txBody>
      </p:sp>
      <p:graphicFrame>
        <p:nvGraphicFramePr>
          <p:cNvPr id="50" name="Table"/>
          <p:cNvGraphicFramePr>
            <a:graphicFrameLocks noGrp="1"/>
          </p:cNvGraphicFramePr>
          <p:nvPr/>
        </p:nvGraphicFramePr>
        <p:xfrm>
          <a:off x="838200" y="1310000"/>
          <a:ext cx="10515600" cy="53949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15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00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en-US" sz="1300" b="1">
                          <a:solidFill>
                            <a:srgbClr val="FFFFFF"/>
                          </a:solidFill>
                        </a:rPr>
                        <a:t>Use case A: Collision Risk Detection &amp; Safe Routing for Emergency Vehicles</a:t>
                      </a:r>
                    </a:p>
                  </a:txBody>
                  <a:tcPr>
                    <a:solidFill>
                      <a:srgbClr val="0466A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0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en-US" sz="1100" b="1">
                          <a:solidFill>
                            <a:srgbClr val="242852"/>
                          </a:solidFill>
                        </a:rPr>
                        <a:t>Summary</a:t>
                      </a:r>
                    </a:p>
                  </a:txBody>
                  <a:tcPr>
                    <a:solidFill>
                      <a:srgbClr val="D0E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spcBef>
                          <a:spcPts val="0"/>
                        </a:spcBef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</a:rPr>
                        <a:t>As an emergency vehicle operator, I want to query the predicted QoS along my planned route so that I can identify low-QoS segments in advance and select the safest, best-connected corridor before departure — reducing response time in dense areas or during mass events.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0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en-US" sz="1100" b="1">
                          <a:solidFill>
                            <a:srgbClr val="242852"/>
                          </a:solidFill>
                        </a:rPr>
                        <a:t>API Usage</a:t>
                      </a:r>
                    </a:p>
                  </a:txBody>
                  <a:tcPr>
                    <a:solidFill>
                      <a:srgbClr val="D0E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spcBef>
                          <a:spcPts val="0"/>
                        </a:spcBef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</a:rPr>
                        <a:t>1. POST /route-qos-prediction with the planned emergency route and required QoS metrics.</a:t>
                      </a:r>
                    </a:p>
                    <a:p>
                      <a:pPr marL="0" indent="0">
                        <a:spcBef>
                          <a:spcPts val="60"/>
                        </a:spcBef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</a:rPr>
                        <a:t>2. Inspect per-segment predictions (latency, throughput, reliability) to identify degraded corridors.</a:t>
                      </a:r>
                    </a:p>
                    <a:p>
                      <a:pPr marL="0" indent="0">
                        <a:spcBef>
                          <a:spcPts val="60"/>
                        </a:spcBef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</a:rPr>
                        <a:t>3. Compare alternative route forecasts and select the segment with highest reliability score.</a:t>
                      </a:r>
                    </a:p>
                    <a:p>
                      <a:pPr marL="0" indent="0">
                        <a:spcBef>
                          <a:spcPts val="60"/>
                        </a:spcBef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</a:rPr>
                        <a:t>4. Subscribe to QOS_DEGRADATION_FORECAST events to receive alerts if the selected route degrades.</a:t>
                      </a:r>
                    </a:p>
                    <a:p>
                      <a:pPr marL="0" indent="0">
                        <a:spcBef>
                          <a:spcPts val="60"/>
                        </a:spcBef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</a:rPr>
                        <a:t>5. On degradation event, trigger CAMARA QoD API to pre-establish a prioritised session.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0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en-US" sz="1100" b="1">
                          <a:solidFill>
                            <a:srgbClr val="242852"/>
                          </a:solidFill>
                        </a:rPr>
                        <a:t>Acceptance Criteria</a:t>
                      </a:r>
                    </a:p>
                  </a:txBody>
                  <a:tcPr>
                    <a:solidFill>
                      <a:srgbClr val="D0E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spcBef>
                          <a:spcPts val="0"/>
                        </a:spcBef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</a:rPr>
                        <a:t>• Per-segment QoS forecast returned within 2 s for routes of up to 50 waypoints.</a:t>
                      </a:r>
                    </a:p>
                    <a:p>
                      <a:pPr marL="0" indent="0">
                        <a:spcBef>
                          <a:spcPts val="60"/>
                        </a:spcBef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</a:rPr>
                        <a:t>• Confidence level included in every segment response to support route-selection decisions.</a:t>
                      </a:r>
                    </a:p>
                    <a:p>
                      <a:pPr marL="0" indent="0">
                        <a:spcBef>
                          <a:spcPts val="60"/>
                        </a:spcBef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</a:rPr>
                        <a:t>• QOS_DEGRADATION_FORECAST webhook delivered within 30 s of a forecast change.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en-US" sz="1300" b="1">
                          <a:solidFill>
                            <a:srgbClr val="FFFFFF"/>
                          </a:solidFill>
                        </a:rPr>
                        <a:t>Use case B: Real-Time Remote Triage &amp; Diagnostics</a:t>
                      </a:r>
                    </a:p>
                  </a:txBody>
                  <a:tcPr>
                    <a:solidFill>
                      <a:srgbClr val="5AA2AE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0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en-US" sz="1100" b="1">
                          <a:solidFill>
                            <a:srgbClr val="242852"/>
                          </a:solidFill>
                        </a:rPr>
                        <a:t>Summary</a:t>
                      </a:r>
                    </a:p>
                  </a:txBody>
                  <a:tcPr>
                    <a:solidFill>
                      <a:srgbClr val="D0E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spcBef>
                          <a:spcPts val="0"/>
                        </a:spcBef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</a:rPr>
                        <a:t>As an ambulance crew member, I want to query the predicted network throughput along the route to the hospital so that I can ensure sufficient bandwidth for streaming patient vitals, ECGs, and HD video — and pre-configure a prioritised session on any segment below threshold.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0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en-US" sz="1100" b="1">
                          <a:solidFill>
                            <a:srgbClr val="242852"/>
                          </a:solidFill>
                        </a:rPr>
                        <a:t>API Usage</a:t>
                      </a:r>
                    </a:p>
                  </a:txBody>
                  <a:tcPr>
                    <a:solidFill>
                      <a:srgbClr val="D0E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spcBef>
                          <a:spcPts val="0"/>
                        </a:spcBef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</a:rPr>
                        <a:t>1. POST /route-qos-prediction with the ambulance route and throughput/latency QoS metrics.</a:t>
                      </a:r>
                    </a:p>
                    <a:p>
                      <a:pPr marL="0" indent="0">
                        <a:spcBef>
                          <a:spcPts val="60"/>
                        </a:spcBef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</a:rPr>
                        <a:t>2. Identify segments where predicted throughput falls below the HD-video minimum (e.g. 8 Mbps).</a:t>
                      </a:r>
                    </a:p>
                    <a:p>
                      <a:pPr marL="0" indent="0">
                        <a:spcBef>
                          <a:spcPts val="60"/>
                        </a:spcBef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</a:rPr>
                        <a:t>3. Trigger CAMARA QoD API on flagged segments before the vehicle arrives, ensuring a prioritised session.</a:t>
                      </a:r>
                    </a:p>
                    <a:p>
                      <a:pPr marL="0" indent="0">
                        <a:spcBef>
                          <a:spcPts val="60"/>
                        </a:spcBef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</a:rPr>
                        <a:t>4. Subscribe to QOS_DEGRADATION_FORECAST; switch to compressed-stream fallback if forecast worsens.</a:t>
                      </a:r>
                    </a:p>
                    <a:p>
                      <a:pPr marL="0" indent="0">
                        <a:spcBef>
                          <a:spcPts val="60"/>
                        </a:spcBef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</a:rPr>
                        <a:t>5. DELETE prediction and subscription when the ambulance reaches the hospital.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0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buNone/>
                      </a:pPr>
                      <a:r>
                        <a:rPr lang="en-US" sz="1100" b="1">
                          <a:solidFill>
                            <a:srgbClr val="242852"/>
                          </a:solidFill>
                        </a:rPr>
                        <a:t>Acceptance Criteria</a:t>
                      </a:r>
                    </a:p>
                  </a:txBody>
                  <a:tcPr>
                    <a:solidFill>
                      <a:srgbClr val="D0E4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spcBef>
                          <a:spcPts val="0"/>
                        </a:spcBef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</a:rPr>
                        <a:t>• Throughput and latency forecast per segment returned within 2 s of route submission.</a:t>
                      </a:r>
                    </a:p>
                    <a:p>
                      <a:pPr marL="0" indent="0">
                        <a:spcBef>
                          <a:spcPts val="60"/>
                        </a:spcBef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</a:rPr>
                        <a:t>• QoD session pre-established on low-QoS segments at least 30 s before vehicle arrival.</a:t>
                      </a:r>
                    </a:p>
                    <a:p>
                      <a:pPr marL="0" indent="0">
                        <a:spcBef>
                          <a:spcPts val="60"/>
                        </a:spcBef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</a:rPr>
                        <a:t>• QOS_DEGRADATION_FORECAST webhook delivered within 30 s to trigger adaptive bitrate fallback.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0" name="SlideNum"/>
          <p:cNvSpPr txBox="1">
            <a:spLocks noGrp="1"/>
          </p:cNvSpPr>
          <p:nvPr>
            <p:ph type="sldNum" idx="12"/>
          </p:nvPr>
        </p:nvSpPr>
        <p:spPr>
          <a:xfrm>
            <a:off x="693038" y="6330223"/>
            <a:ext cx="27432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fld id="{00000000-1234-1234-1234-000000000013}" type="slidenum">
              <a:rPr lang="en-US">
                <a:latin typeface="+mn-lt"/>
              </a:rPr>
              <a:t>10</a:t>
            </a:fld>
            <a:endParaRPr lang="en-US">
              <a:latin typeface="+mn-l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Group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87630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l">
              <a:buNone/>
            </a:pPr>
            <a:r>
              <a:rPr lang="en-US"/>
              <a:t>Thank You</a:t>
            </a:r>
          </a:p>
        </p:txBody>
      </p:sp>
      <p:sp>
        <p:nvSpPr>
          <p:cNvPr id="3" name="Body"/>
          <p:cNvSpPr>
            <a:spLocks noGrp="1"/>
          </p:cNvSpPr>
          <p:nvPr>
            <p:ph type="body" idx="1"/>
          </p:nvPr>
        </p:nvSpPr>
        <p:spPr>
          <a:xfrm>
            <a:off x="838200" y="3249073"/>
            <a:ext cx="10515600" cy="1301854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ctr">
            <a:spAutoFit/>
          </a:bodyPr>
          <a:lstStyle/>
          <a:p>
            <a:pPr>
              <a:spcBef>
                <a:spcPts val="0"/>
              </a:spcBef>
              <a:buNone/>
            </a:pPr>
            <a:r>
              <a:rPr lang="en-US" sz="2800" b="1">
                <a:solidFill>
                  <a:srgbClr val="242852"/>
                </a:solidFill>
              </a:rPr>
              <a:t>Thank You</a:t>
            </a:r>
            <a:endParaRPr lang="en-US" sz="2800" b="1" dirty="0">
              <a:solidFill>
                <a:srgbClr val="242852"/>
              </a:solidFill>
            </a:endParaRPr>
          </a:p>
          <a:p>
            <a:pPr>
              <a:spcBef>
                <a:spcPts val="200"/>
              </a:spcBef>
              <a:buNone/>
            </a:pPr>
            <a:r>
              <a:rPr lang="en-US">
                <a:solidFill>
                  <a:srgbClr val="242852"/>
                </a:solidFill>
              </a:rPr>
              <a:t>ali.iqbal@xflowresearch.com</a:t>
            </a:r>
            <a:endParaRPr lang="en-US" sz="2000">
              <a:solidFill>
                <a:srgbClr val="242852"/>
              </a:solidFill>
            </a:endParaRPr>
          </a:p>
          <a:p>
            <a:pPr algn="l">
              <a:spcBef>
                <a:spcPts val="400"/>
              </a:spcBef>
              <a:buNone/>
            </a:pPr>
            <a:endParaRPr lang="en-US" sz="1600" dirty="0">
              <a:solidFill>
                <a:srgbClr val="0466AF"/>
              </a:solidFill>
            </a:endParaRPr>
          </a:p>
        </p:txBody>
      </p:sp>
      <p:sp>
        <p:nvSpPr>
          <p:cNvPr id="10" name="SlideNum"/>
          <p:cNvSpPr txBox="1">
            <a:spLocks noGrp="1"/>
          </p:cNvSpPr>
          <p:nvPr>
            <p:ph type="sldNum" idx="12"/>
          </p:nvPr>
        </p:nvSpPr>
        <p:spPr>
          <a:xfrm>
            <a:off x="693038" y="6330223"/>
            <a:ext cx="2743200" cy="36510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l">
              <a:buNone/>
            </a:pPr>
            <a:fld id="{00000000-1234-1234-1234-000000000012}" type="slidenum">
              <a:rPr lang="en-US">
                <a:latin typeface="+mn-lt"/>
              </a:rPr>
              <a:t>11</a:t>
            </a:fld>
            <a:endParaRPr lang="en-US">
              <a:latin typeface="+mn-l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xFlow Final Theme">
  <a:themeElements>
    <a:clrScheme name="Blue Warm">
      <a:dk1>
        <a:srgbClr val="000000"/>
      </a:dk1>
      <a:lt1>
        <a:srgbClr val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xFlow Presentation Template v1.0.pptx" id="{1C7D5386-3F18-402F-A095-63A1DD0A3C38}" vid="{7E2A2836-4192-442B-AF3C-D7F1806813C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3E1AC770D1D97418AC82E0659D6C760" ma:contentTypeVersion="8" ma:contentTypeDescription="Create a new document." ma:contentTypeScope="" ma:versionID="63a9805cc5e0d9f92daa0672bd6a911d">
  <xsd:schema xmlns:xsd="http://www.w3.org/2001/XMLSchema" xmlns:xs="http://www.w3.org/2001/XMLSchema" xmlns:p="http://schemas.microsoft.com/office/2006/metadata/properties" xmlns:ns2="7ce5ed93-ca22-4a54-bcd3-0c0a9117d157" targetNamespace="http://schemas.microsoft.com/office/2006/metadata/properties" ma:root="true" ma:fieldsID="b3e5a52c48d66d42d12e4adfd97f6bb5" ns2:_="">
    <xsd:import namespace="7ce5ed93-ca22-4a54-bcd3-0c0a9117d15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ce5ed93-ca22-4a54-bcd3-0c0a9117d15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15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664CE401-DDF3-42E7-BCB3-324B0A3D78B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65DF7FE-E367-4E1F-B5D8-37A3E6BE5B76}">
  <ds:schemaRefs>
    <ds:schemaRef ds:uri="7ce5ed93-ca22-4a54-bcd3-0c0a9117d157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07A7F635-029A-4549-B1A2-EDE6DA082F51}">
  <ds:schemaRefs>
    <ds:schemaRef ds:uri="e555bfeb-bb73-42e8-9e87-14b7f2be6b34"/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xFlow Presentation Template v1.0</Template>
  <TotalTime>36</TotalTime>
  <Words>1356</Words>
  <Application>Microsoft Office PowerPoint</Application>
  <PresentationFormat>Widescreen</PresentationFormat>
  <Paragraphs>215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Quattrocento Sans</vt:lpstr>
      <vt:lpstr>Arial</vt:lpstr>
      <vt:lpstr>Times New Roman</vt:lpstr>
      <vt:lpstr>Calibri</vt:lpstr>
      <vt:lpstr>Noto Sans Symbols</vt:lpstr>
      <vt:lpstr>xFlow Final Theme</vt:lpstr>
      <vt:lpstr>Route QoS Prediction API</vt:lpstr>
      <vt:lpstr>Contents</vt:lpstr>
      <vt:lpstr>Background &amp; Motivation</vt:lpstr>
      <vt:lpstr>API Overview</vt:lpstr>
      <vt:lpstr>API Operations</vt:lpstr>
      <vt:lpstr>Subscription / Event Model</vt:lpstr>
      <vt:lpstr>Gap / Overlap Analysis — vs. Existing CAMARA Portfolio</vt:lpstr>
      <vt:lpstr>End-to-End Architecture</vt:lpstr>
      <vt:lpstr>Interaction Diagram — Emergency Vehicle Route Planning</vt:lpstr>
      <vt:lpstr>User Stories — Additional Use Cases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Ayesha Ayub</dc:creator>
  <cp:lastModifiedBy>Ali Iqbal</cp:lastModifiedBy>
  <cp:revision>48</cp:revision>
  <dcterms:created xsi:type="dcterms:W3CDTF">2026-03-10T05:24:18Z</dcterms:created>
  <dcterms:modified xsi:type="dcterms:W3CDTF">2026-04-30T05:42:33Z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0x01010063E1AC770D1D97418AC82E0659D6C760</vt:lpwstr>
  </property>
</Properties>
</file>