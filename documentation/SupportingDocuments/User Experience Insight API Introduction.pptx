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272" r:id="rId4"/>
    <p:sldId id="370" r:id="rId6"/>
    <p:sldId id="372" r:id="rId7"/>
    <p:sldId id="341" r:id="rId8"/>
    <p:sldId id="373" r:id="rId9"/>
    <p:sldId id="368" r:id="rId10"/>
    <p:sldId id="321" r:id="rId11"/>
    <p:sldId id="299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xudan-XD" initials="XD" lastIdx="1" clrIdx="0"/>
  <p:cmAuthor id="2" name="Administrator" initials="l" lastIdx="1" clrIdx="1"/>
  <p:cmAuthor id="3" name="作者" initials="A" lastIdx="0" clrIdx="2"/>
  <p:cmAuthor id="4" name="HP" initials="H" lastIdx="4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ASUS" initials="A" lastIdx="28" clrIdx="4"/>
  <p:cmAuthor id="10" name="lenovo" initials="l" lastIdx="6" clrIdx="2"/>
  <p:cmAuthor id="11" name="xiedk" initials="x" lastIdx="2" clrIdx="10"/>
  <p:cmAuthor id="12" name="未知用户1" initials="未知用户1" lastIdx="2" clrIdx="11"/>
  <p:cmAuthor id="13" name="马云飞10014438" initials="马" lastIdx="4" clrIdx="0"/>
  <p:cmAuthor id="14" name="10077969" initials="10077969" lastIdx="2" clrIdx="13"/>
  <p:cmAuthor id="15" name="康浩杰|hnkanghaojie" initials="A" lastIdx="1" clrIdx="14"/>
  <p:cmAuthor id="16" name="孟伟伟" initials="孟" lastIdx="1" clrIdx="15"/>
  <p:cmAuthor id="17" name="dongrp" initials="d" lastIdx="1" clrIdx="16"/>
  <p:cmAuthor id="18" name="hc" initials="h" lastIdx="1" clrIdx="17"/>
  <p:cmAuthor id="19" name="Saku Uchikawa" initials="S" lastIdx="11" clrIdx="0"/>
  <p:cmAuthor id="20" name="00065088" initials="0" lastIdx="2" clrIdx="19"/>
  <p:cmAuthor id="21" name="10066351" initials="1" lastIdx="2" clrIdx="0"/>
  <p:cmAuthor id="22" name="蔡建楠" initials="caijianna" lastIdx="15" clrIdx="17"/>
  <p:cmAuthor id="23" name="赵诚荣10027092" initials="赵" lastIdx="2" clrIdx="25"/>
  <p:cmAuthor id="24" name="李蕾00009994" initials="李" lastIdx="6" clrIdx="17"/>
  <p:cmAuthor id="25" name="wyz" initials="w" lastIdx="1" clrIdx="24"/>
  <p:cmAuthor id="26" name="10270945" initials="1" lastIdx="1" clrIdx="25"/>
  <p:cmAuthor id="27" name="10295142" initials="1" lastIdx="1" clrIdx="26"/>
  <p:cmAuthor id="28" name="Hou Yingfeng" initials="H" lastIdx="10" clrIdx="23"/>
  <p:cmAuthor id="30" name="10056791" initials="ZTE" lastIdx="1" clrIdx="29"/>
  <p:cmAuthor id="31" name="Author" initials="A" lastIdx="0" clrIdx="30"/>
  <p:cmAuthor id="32" name="李楠10047711" initials="李楠10047711" lastIdx="2" clrIdx="31"/>
  <p:cmAuthor id="76" name="许 志军" initials="许" lastIdx="1" clrIdx="25"/>
  <p:cmAuthor id="33" name="610007" initials="6" lastIdx="0" clrIdx="32"/>
  <p:cmAuthor id="77" name="欧 志芳" initials="欧" lastIdx="1" clrIdx="26"/>
  <p:cmAuthor id="34" name="Jason" initials="J" lastIdx="18" clrIdx="33"/>
  <p:cmAuthor id="35" name="stephen" initials="s" lastIdx="1" clrIdx="3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A6D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7" autoAdjust="0"/>
    <p:restoredTop sz="94682" autoAdjust="0"/>
  </p:normalViewPr>
  <p:slideViewPr>
    <p:cSldViewPr snapToGrid="0">
      <p:cViewPr varScale="1">
        <p:scale>
          <a:sx n="152" d="100"/>
          <a:sy n="152" d="100"/>
        </p:scale>
        <p:origin x="888" y="15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7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79B6-DFB9-465D-BCF7-63C3CDB22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DE9C1-3A93-4484-ADD9-54060A054C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17DD0-38E7-46ED-A2FE-994A5C249761}" type="slidenum">
              <a:rPr lang="de-DE" smtClean="0"/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制造业替换成公共事业</a:t>
            </a:r>
            <a:endParaRPr lang="zh-CN" altLang="en-US" dirty="0"/>
          </a:p>
          <a:p>
            <a:r>
              <a:rPr lang="zh-CN" altLang="en-US" dirty="0"/>
              <a:t>智慧农业</a:t>
            </a:r>
            <a:r>
              <a:rPr lang="en-US" altLang="zh-CN" dirty="0"/>
              <a:t> - </a:t>
            </a:r>
            <a:r>
              <a:rPr lang="zh-CN" altLang="en-US" dirty="0"/>
              <a:t>智慧零售</a:t>
            </a:r>
            <a:r>
              <a:rPr lang="en-US" altLang="zh-CN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物联网卡设备</a:t>
            </a:r>
            <a:r>
              <a:rPr lang="en-US" altLang="zh-CN" dirty="0"/>
              <a:t> </a:t>
            </a:r>
            <a:r>
              <a:rPr lang="zh-CN" altLang="en-US" dirty="0"/>
              <a:t>确保物联网设备的</a:t>
            </a:r>
            <a:r>
              <a:rPr lang="en-US" altLang="zh-CN" dirty="0"/>
              <a:t>  </a:t>
            </a:r>
            <a:r>
              <a:rPr lang="zh-CN" altLang="en-US" dirty="0"/>
              <a:t>被合理使用</a:t>
            </a:r>
            <a:r>
              <a:rPr lang="en-US" altLang="zh-CN" dirty="0"/>
              <a:t>  </a:t>
            </a:r>
            <a:r>
              <a:rPr lang="zh-CN" altLang="en-US" dirty="0"/>
              <a:t>机卡绑定</a:t>
            </a:r>
            <a:r>
              <a:rPr lang="en-US" altLang="zh-CN" dirty="0"/>
              <a:t> </a:t>
            </a:r>
            <a:r>
              <a:rPr lang="zh-CN" altLang="en-US" dirty="0"/>
              <a:t>区域限制</a:t>
            </a:r>
            <a:r>
              <a:rPr lang="en-US" altLang="zh-CN" dirty="0"/>
              <a:t> </a:t>
            </a:r>
            <a:r>
              <a:rPr lang="zh-CN" altLang="en-US" dirty="0"/>
              <a:t>并在一起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DDE9C1-3A93-4484-ADD9-54060A054C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只提供查询能力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只提供查询能力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只提供查询能力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只提供查询能力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image" Target="../media/image2.png"/><Relationship Id="rId6" Type="http://schemas.openxmlformats.org/officeDocument/2006/relationships/image" Target="../media/image5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Relationship Id="rId3" Type="http://schemas.openxmlformats.org/officeDocument/2006/relationships/tags" Target="../tags/tag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Relationship Id="rId3" Type="http://schemas.openxmlformats.org/officeDocument/2006/relationships/tags" Target="../tags/tag3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681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" name="think-cell Folie" r:id="rId3" imgW="12700" imgH="12700" progId="TCLayout.ActiveDocument.1">
                  <p:embed/>
                </p:oleObj>
              </mc:Choice>
              <mc:Fallback>
                <p:oleObj name="think-cell Folie" r:id="rId3" imgW="12700" imgH="12700" progId="TCLayout.ActiveDocument.1">
                  <p:embed/>
                  <p:pic>
                    <p:nvPicPr>
                      <p:cNvPr id="0" name="图片 1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28916" y="497258"/>
            <a:ext cx="3684694" cy="7089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0"/>
            <a:ext cx="8382468" cy="178665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70211" y="436920"/>
            <a:ext cx="11580552" cy="829647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540" dirty="0">
                <a:solidFill>
                  <a:schemeClr val="bg1"/>
                </a:solidFill>
              </a:rPr>
              <a:t>Slide</a:t>
            </a:r>
            <a:br>
              <a:rPr lang="en-US" sz="2540" dirty="0">
                <a:solidFill>
                  <a:schemeClr val="bg1"/>
                </a:solidFill>
              </a:rPr>
            </a:br>
            <a:r>
              <a:rPr lang="en-US" sz="2540" dirty="0">
                <a:solidFill>
                  <a:schemeClr val="bg1"/>
                </a:solidFill>
              </a:rPr>
              <a:t>Title</a:t>
            </a:r>
            <a:endParaRPr lang="en-US" sz="2540" dirty="0">
              <a:solidFill>
                <a:schemeClr val="bg1"/>
              </a:solidFill>
            </a:endParaRPr>
          </a:p>
        </p:txBody>
      </p:sp>
      <p:sp>
        <p:nvSpPr>
          <p:cNvPr id="20" name="Content Placeholder 17"/>
          <p:cNvSpPr>
            <a:spLocks noGrp="1"/>
          </p:cNvSpPr>
          <p:nvPr>
            <p:ph sz="quarter" idx="10" hasCustomPrompt="1"/>
          </p:nvPr>
        </p:nvSpPr>
        <p:spPr>
          <a:xfrm>
            <a:off x="470211" y="1999093"/>
            <a:ext cx="11580552" cy="4361648"/>
          </a:xfrm>
        </p:spPr>
        <p:txBody>
          <a:bodyPr/>
          <a:lstStyle>
            <a:lvl1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Blu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"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0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2998047"/>
            <a:ext cx="9403181" cy="234528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/>
              <a:t>Montserrat Light</a:t>
            </a:r>
            <a:br>
              <a:rPr lang="de-DE" dirty="0"/>
            </a:br>
            <a:r>
              <a:rPr lang="de-DE" dirty="0"/>
              <a:t>Maximum 3 </a:t>
            </a:r>
            <a:r>
              <a:rPr lang="de-DE" dirty="0" err="1"/>
              <a:t>lines</a:t>
            </a:r>
            <a:br>
              <a:rPr lang="de-DE" dirty="0"/>
            </a:br>
            <a:r>
              <a:rPr lang="de-DE" dirty="0"/>
              <a:t>44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401303" y="5800211"/>
            <a:ext cx="9403181" cy="31668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11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dirty="0" err="1"/>
              <a:t>Subheading</a:t>
            </a:r>
            <a:r>
              <a:rPr lang="de-DE" dirty="0"/>
              <a:t> Montserrat Light, 20 </a:t>
            </a:r>
            <a:r>
              <a:rPr lang="de-DE" dirty="0" err="1"/>
              <a:t>pt</a:t>
            </a:r>
            <a:endParaRPr lang="de-DE" dirty="0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/>
          <p:cNvSpPr/>
          <p:nvPr userDrawn="1"/>
        </p:nvSpPr>
        <p:spPr>
          <a:xfrm>
            <a:off x="0" y="0"/>
            <a:ext cx="12192000" cy="1551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5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" y="782104"/>
            <a:ext cx="12192000" cy="1551928"/>
          </a:xfrm>
          <a:prstGeom prst="rect">
            <a:avLst/>
          </a:prstGeom>
        </p:spPr>
      </p:pic>
      <p:pic>
        <p:nvPicPr>
          <p:cNvPr id="3" name="Grafik 2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4745" y="432740"/>
            <a:ext cx="5402508" cy="10395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 Blu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2"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0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1243683"/>
            <a:ext cx="9456935" cy="434371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 err="1"/>
              <a:t>Section</a:t>
            </a:r>
            <a:r>
              <a:rPr lang="de-DE" dirty="0"/>
              <a:t> Title</a:t>
            </a:r>
            <a:endParaRPr lang="de-DE" dirty="0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RAN25A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033" y="233498"/>
            <a:ext cx="11524889" cy="4980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RAN 25A 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115" indent="-398145">
              <a:lnSpc>
                <a:spcPct val="150000"/>
              </a:lnSpc>
              <a:buFont typeface="+mj-lt"/>
              <a:buAutoNum type="arabicPeriod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115" indent="-39814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7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kumimoji="1" lang="zh-CN" altLang="en-US" sz="36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6.tiff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070F3-CE90-48C4-9164-61E1D26924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6AC9C-B0EC-4E8B-9E2D-F71F05C002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736725" y="2502535"/>
            <a:ext cx="10041890" cy="2345055"/>
          </a:xfrm>
        </p:spPr>
        <p:txBody>
          <a:bodyPr anchor="ctr"/>
          <a:lstStyle/>
          <a:p>
            <a:pPr marL="0" indent="0">
              <a:buNone/>
            </a:pPr>
            <a:r>
              <a:rPr lang="en-US" dirty="0"/>
              <a:t>U</a:t>
            </a:r>
            <a:r>
              <a:rPr lang="en-US" altLang="zh-CN" dirty="0"/>
              <a:t>ser Experience Insights </a:t>
            </a:r>
            <a:r>
              <a:rPr lang="en-US" dirty="0"/>
              <a:t>API Proposal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136" y="380405"/>
            <a:ext cx="11580552" cy="829647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Use Cases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266430" y="1610728"/>
            <a:ext cx="11580552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Reason :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In the current mobile ecosystem, application developers often treat the underlying telecommunications network as a "black box." While apps can monitor signal bars or local latency on the device, they lack access to the carrier-grade network intelligence residing in the 5G Core.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The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User Experience Insights API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is designed to expose this internal network "vision." By leveraging real-time data from network elements, it provides developers with high-fidelity Quality of Experience 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QoE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 scores and predictive network trends. This shifts the paradigm from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reactive error-handling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on the device to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proactive business adaptation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based on network-side intelligence.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61" y="4248024"/>
            <a:ext cx="2952488" cy="2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文本框 38"/>
          <p:cNvSpPr txBox="1"/>
          <p:nvPr/>
        </p:nvSpPr>
        <p:spPr>
          <a:xfrm>
            <a:off x="358061" y="3812953"/>
            <a:ext cx="566286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Scenario 1: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Closed-loop Adaptation for Hyper-sensory Services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303610" y="4120397"/>
            <a:ext cx="2877412" cy="2351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Perceptual Feedback: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Cloud gaming or XR platforms establish a high-frequency feedback loop based on 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the API</a:t>
            </a:r>
            <a:endParaRPr kumimoji="0" lang="en-US" altLang="zh-CN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Fine-grained Adjustment: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Based on the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score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and bandwidth headroom returned by the UXI, the application layer fine-tunes the rendering engine's output parameters (such as frame rate and resolution) in real time.</a:t>
            </a:r>
            <a:endParaRPr kumimoji="0" lang="zh-CN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6266047" y="4248024"/>
            <a:ext cx="2877412" cy="2152776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6220065" y="3812620"/>
            <a:ext cx="566286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Scenario 2: </a:t>
            </a:r>
            <a:r>
              <a:rPr kumimoji="0" lang="it-IT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Quality-Guaranteed Premium Ad-Insertion (OTT)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9143459" y="4151301"/>
            <a:ext cx="2877412" cy="2346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Smart Asset Selection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: The OTT Ad-Server uses the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API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to assess the </a:t>
            </a:r>
            <a:r>
              <a:rPr kumimoji="0" lang="zh-CN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Real-time Experience Score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 just before the ad-break.</a:t>
            </a:r>
            <a:endParaRPr kumimoji="0" lang="zh-CN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Dynamic Delivery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: High-value 4K ads are only served when UXI confirms a high-quality connection; otherwise, a lighter version is used to ensure uninterrupted playback.</a:t>
            </a:r>
            <a:endParaRPr kumimoji="0" lang="zh-CN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911" y="227244"/>
            <a:ext cx="7587933" cy="829647"/>
          </a:xfrm>
        </p:spPr>
        <p:txBody>
          <a:bodyPr>
            <a:normAutofit fontScale="90000"/>
          </a:bodyPr>
          <a:lstStyle/>
          <a:p>
            <a:r>
              <a:rPr lang="en-US" altLang="zh-CN" sz="3555" dirty="0">
                <a:sym typeface="+mn-ea"/>
              </a:rPr>
              <a:t>The API definition proposal(flow chart)</a:t>
            </a:r>
            <a:endParaRPr lang="zh-CN" altLang="en-US" sz="3555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837" y="1839307"/>
            <a:ext cx="9623434" cy="49269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911" y="227244"/>
            <a:ext cx="7929673" cy="829647"/>
          </a:xfrm>
        </p:spPr>
        <p:txBody>
          <a:bodyPr>
            <a:normAutofit fontScale="90000"/>
          </a:bodyPr>
          <a:lstStyle/>
          <a:p>
            <a:r>
              <a:rPr lang="en-US" altLang="zh-CN" sz="3555" dirty="0">
                <a:sym typeface="+mn-ea"/>
              </a:rPr>
              <a:t>The API definition proposal(subscribe)</a:t>
            </a:r>
            <a:endParaRPr lang="zh-CN" altLang="en-US" sz="3555" dirty="0"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5911" y="1785140"/>
          <a:ext cx="10957365" cy="4634321"/>
        </p:xfrm>
        <a:graphic>
          <a:graphicData uri="http://schemas.openxmlformats.org/drawingml/2006/table">
            <a:tbl>
              <a:tblPr firstRow="1" bandRow="1"/>
              <a:tblGrid>
                <a:gridCol w="2620485"/>
                <a:gridCol w="8336880"/>
              </a:tblGrid>
              <a:tr h="502615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API Name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User Experience Insights Subscriptions API</a:t>
                      </a:r>
                      <a:endParaRPr lang="en-US" sz="14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646219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Description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This interface is used to subscribe to the latest detailed usage statistics of the application and the network experience score data in roaming areas.</a:t>
                      </a:r>
                      <a:endParaRPr lang="en-US" altLang="zh-CN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15117">
                <a:tc rowSpan="6"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Input Parameters</a:t>
                      </a:r>
                      <a:endParaRPr lang="zh-CN" alt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device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(Device)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The developer can choose to provide the below specified device identifiers: ipv4Address, ipv6Address, phoneNumber,networkAccessIdentifier.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36677">
                <a:tc vMerge="1">
                  <a:tcPr/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kern="1200" spc="-10" dirty="0" err="1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+mn-ea"/>
                          <a:cs typeface="Arial" panose="020B0604020202020204" pitchFamily="34" charset="0"/>
                        </a:rPr>
                        <a:t>appcationType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emum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Indicates the Application type. Negotiated by the carrier and application vendor and configured on the carrier network. 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Enum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video/game/Live-Video.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Note: Configure mainstream applications on the carrier's network.</a:t>
                      </a:r>
                      <a:endParaRPr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835">
                <a:tc vMerge="1">
                  <a:tcP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kern="1200" spc="-10" dirty="0" err="1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+mn-ea"/>
                          <a:cs typeface="Arial" panose="020B0604020202020204" pitchFamily="34" charset="0"/>
                        </a:rPr>
                        <a:t>subscriptionExpireTime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(string)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The subscription expiration time (in date-time format) requested. 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194">
                <a:tc vMerge="1">
                  <a:tcPr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12192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kern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+mn-ea"/>
                          <a:cs typeface="Arial" panose="020B0604020202020204" pitchFamily="34" charset="0"/>
                          <a:sym typeface="+mn-ea"/>
                        </a:rPr>
                        <a:t>datatype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emum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：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Data 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reporting type. The system can report poor network quality in real time or periodically.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194">
                <a:tc vMerge="1"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kern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</a:rPr>
                        <a:t>sink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(string)</a:t>
                      </a: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：The address to which events shall be delivered using the selected protocol.</a:t>
                      </a:r>
                      <a:endPara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15117">
                <a:tc vMerge="1"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sinkCredential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(SinkCredential)</a:t>
                      </a: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：A sink credential provides authentication or authorization information necessary to enable delivery of events to a target.</a:t>
                      </a:r>
                      <a:endPara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353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Return Results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result (object):  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Subscriptions</a:t>
                      </a:r>
                      <a:r>
                        <a:rPr lang="zh-CN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operation status, success or fail</a:t>
                      </a:r>
                      <a:endParaRPr lang="zh-CN" altLang="zh-CN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911" y="227244"/>
            <a:ext cx="7587933" cy="829647"/>
          </a:xfrm>
        </p:spPr>
        <p:txBody>
          <a:bodyPr>
            <a:normAutofit fontScale="90000"/>
          </a:bodyPr>
          <a:lstStyle/>
          <a:p>
            <a:r>
              <a:rPr lang="en-US" altLang="zh-CN" sz="3555" dirty="0">
                <a:sym typeface="+mn-ea"/>
              </a:rPr>
              <a:t>The API definition proposal</a:t>
            </a:r>
            <a:r>
              <a:rPr lang="en-US" altLang="zh-CN" sz="3555">
                <a:sym typeface="+mn-ea"/>
              </a:rPr>
              <a:t>(Report)</a:t>
            </a:r>
            <a:endParaRPr lang="zh-CN" altLang="en-US" sz="3555" dirty="0"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1185" y="1934430"/>
          <a:ext cx="10493375" cy="3495168"/>
        </p:xfrm>
        <a:graphic>
          <a:graphicData uri="http://schemas.openxmlformats.org/drawingml/2006/table">
            <a:tbl>
              <a:tblPr firstRow="1" bandRow="1"/>
              <a:tblGrid>
                <a:gridCol w="2509520"/>
                <a:gridCol w="7983855"/>
              </a:tblGrid>
              <a:tr h="497840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API Name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User Experience Insights 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Subscribe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Notify Report</a:t>
                      </a:r>
                      <a:endParaRPr lang="en-US" altLang="zh-CN" sz="14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Description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The API is used to notify event information.</a:t>
                      </a:r>
                      <a:endParaRPr lang="en-US" altLang="zh-CN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8620">
                <a:tc rowSpan="4"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Report</a:t>
                      </a:r>
                      <a:endParaRPr lang="zh-CN" alt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spc="-10" dirty="0" err="1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areaData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(Object)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General location information of the application. It include city and administrative district.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9270">
                <a:tc vMerge="1">
                  <a:tcPr/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kern="1200" spc="-10" dirty="0" err="1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+mn-ea"/>
                          <a:cs typeface="Arial" panose="020B0604020202020204" pitchFamily="34" charset="0"/>
                        </a:rPr>
                        <a:t>appSignalingData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Object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Network signaling information. It i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nclude </a:t>
                      </a:r>
                      <a:r>
                        <a:rPr lang="en-US" altLang="zh-CN" sz="12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dnn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/qciOr5qi and net access type.   </a:t>
                      </a:r>
                      <a:endParaRPr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430">
                <a:tc vMerge="1">
                  <a:tcPr anchor="ctr"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kern="1200" spc="-10" dirty="0" err="1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</a:rPr>
                        <a:t>applicationIndicatorStatistics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(Object)</a:t>
                      </a: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：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Basic statistical data within the application period. It includes uplink and downlink statistics, maximum uplink and downlink rates, total application access traffic, total uplink traffic, and total downlink traffic.</a:t>
                      </a:r>
                      <a:endPara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3065">
                <a:tc vMerge="1">
                  <a:tcPr anchor="ctr"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spc="-10" dirty="0" err="1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applicationExperienceAnalysis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(Object)</a:t>
                      </a: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：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Network experience analysis report. It includes information such as the application's bit rate, maximum bit rate, average bit rate, duration, latency, jitter, and ultimately provides a network quality score. </a:t>
                      </a:r>
                      <a:endPara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911" y="227244"/>
            <a:ext cx="7587933" cy="829647"/>
          </a:xfrm>
        </p:spPr>
        <p:txBody>
          <a:bodyPr>
            <a:normAutofit fontScale="90000"/>
          </a:bodyPr>
          <a:lstStyle/>
          <a:p>
            <a:r>
              <a:rPr lang="en-US" altLang="zh-CN" sz="3555" dirty="0">
                <a:sym typeface="+mn-ea"/>
              </a:rPr>
              <a:t>The API definition proposal(query)</a:t>
            </a:r>
            <a:endParaRPr lang="zh-CN" altLang="en-US" sz="3555" dirty="0"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1185" y="1934430"/>
          <a:ext cx="10493375" cy="4109785"/>
        </p:xfrm>
        <a:graphic>
          <a:graphicData uri="http://schemas.openxmlformats.org/drawingml/2006/table">
            <a:tbl>
              <a:tblPr firstRow="1" bandRow="1"/>
              <a:tblGrid>
                <a:gridCol w="2509520"/>
                <a:gridCol w="7983855"/>
              </a:tblGrid>
              <a:tr h="497840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API Name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User Experience Insights Query API</a:t>
                      </a:r>
                      <a:endParaRPr lang="en-US" altLang="zh-CN" sz="14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Description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This API allows you to obtain the latest detailed usage statistics of applications as well as network experience rating data for roaming areas.</a:t>
                      </a:r>
                      <a:endParaRPr lang="en-US" altLang="zh-CN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8620">
                <a:tc rowSpan="4"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Input Parameters</a:t>
                      </a:r>
                      <a:endParaRPr lang="zh-CN" alt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device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(Device)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The developer can choose to provide the below specified device identifiers: ipv4Address, ipv6Address, phoneNumber,networkAccessIdentifier.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9270">
                <a:tc vMerge="1">
                  <a:tcPr/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kern="1200" spc="-10" dirty="0" err="1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+mn-ea"/>
                          <a:cs typeface="Arial" panose="020B0604020202020204" pitchFamily="34" charset="0"/>
                        </a:rPr>
                        <a:t>appcationType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emum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Indicates the Application type. Negotiated by the carrier and application vendor and configured on the carrier network. 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Enum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video/game/Live-Video.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Note: Configure mainstream applications on the carrier's network.</a:t>
                      </a:r>
                      <a:endParaRPr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430">
                <a:tc vMerge="1">
                  <a:tcPr anchor="ctr"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kern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</a:rPr>
                        <a:t>sink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(string)</a:t>
                      </a: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：The address to which events shall be delivered using the selected protocol.</a:t>
                      </a:r>
                      <a:endPara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3065">
                <a:tc vMerge="1">
                  <a:tcPr anchor="ctr"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sinkCredential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(SinkCredential)</a:t>
                      </a: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：A sink credential provides authentication or authorization information necessary to enable delivery of events to a target.</a:t>
                      </a:r>
                      <a:endPara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29310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Return Results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result (object):  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Query</a:t>
                      </a:r>
                      <a:r>
                        <a:rPr lang="zh-CN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operation status, success or fail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.</a:t>
                      </a: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Success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return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User Experience Insights report list. Application report. For details, see </a:t>
                      </a:r>
                      <a:r>
                        <a:rPr lang="en-US" altLang="zh-CN" sz="1200" kern="1200" spc="-1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+mn-ea"/>
                          <a:cs typeface="Arial" panose="020B0604020202020204" pitchFamily="34" charset="0"/>
                        </a:rPr>
                        <a:t>subscribe notify.</a:t>
                      </a:r>
                      <a:endParaRPr lang="zh-CN" altLang="zh-CN" sz="1200" kern="1200" spc="-1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+mn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91" y="335320"/>
            <a:ext cx="7694225" cy="829647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Comparison with Connectivity-Insight </a:t>
            </a:r>
            <a:r>
              <a:rPr lang="en-US" altLang="zh-CN" sz="2800" dirty="0"/>
              <a:t>API</a:t>
            </a:r>
            <a:br>
              <a:rPr lang="en-US" altLang="zh-CN" sz="2800" dirty="0"/>
            </a:br>
            <a:r>
              <a:rPr lang="en-US" altLang="zh-CN" sz="2800" dirty="0"/>
              <a:t>and Session-Insight API</a:t>
            </a:r>
            <a:endParaRPr lang="en-GB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82227" y="1747305"/>
          <a:ext cx="11643329" cy="5062627"/>
        </p:xfrm>
        <a:graphic>
          <a:graphicData uri="http://schemas.openxmlformats.org/drawingml/2006/table">
            <a:tbl>
              <a:tblPr firstRow="1" bandRow="1"/>
              <a:tblGrid>
                <a:gridCol w="1022259"/>
                <a:gridCol w="3015475"/>
                <a:gridCol w="2749252"/>
                <a:gridCol w="4856343"/>
              </a:tblGrid>
              <a:tr h="219656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API Name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8288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24384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3048000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36569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42665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4876165" algn="l" defTabSz="1219200" rtl="0" eaLnBrk="1" latinLnBrk="0" hangingPunct="1">
                        <a:defRPr sz="24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GB" altLang="zh-CN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Connectivity-Insight API</a:t>
                      </a:r>
                      <a:endParaRPr lang="en-GB" altLang="zh-CN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Session-Insight API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User-Experience-Insight API</a:t>
                      </a:r>
                      <a:endParaRPr lang="en-US" altLang="zh-CN" sz="12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1080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11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Function</a:t>
                      </a:r>
                      <a:endParaRPr lang="en-GB" altLang="zh-CN" sz="1100" b="1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zh-CN" altLang="en-US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Layer QoS Assessment: 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 network quality check </a:t>
                      </a:r>
                      <a:r>
                        <a:rPr lang="en-US" altLang="zh-CN" sz="105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againt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application profile for specific user sessions.</a:t>
                      </a:r>
                      <a:endParaRPr lang="en-US" altLang="zh-CN" sz="10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QoS not Meet Notifications: 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subscriptions to </a:t>
                      </a:r>
                      <a:r>
                        <a:rPr lang="en-US" altLang="zh-CN" sz="105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recieve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notifications if the network is not able to meet the application's requirements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Application Layer QoS Monitoring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Allows an application developer to create a session with a network operator. The application can then share Key Performance Indicators (KPIs) such as: Latency, jitter, packet loss, bitrate.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Application Layer </a:t>
                      </a:r>
                      <a:r>
                        <a:rPr lang="en-US" altLang="zh-CN" sz="1050" b="1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QoE</a:t>
                      </a: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Insight: 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Provides high-dimensional semantic data (</a:t>
                      </a:r>
                      <a:r>
                        <a:rPr lang="en-US" altLang="zh-CN" sz="1050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avgQoe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050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StallSec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Max Resolution, </a:t>
                      </a:r>
                      <a:r>
                        <a:rPr lang="en-US" altLang="zh-CN" sz="1050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etc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to quantify the actual quality of the user's experience. The report  includes specific application network data and AI-driven experience analysis. Also this quantifies the actual experience for the user, making the operator's value-based operations measurable and auditable.</a:t>
                      </a:r>
                      <a:endParaRPr lang="en-US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GB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Poor </a:t>
                      </a:r>
                      <a:r>
                        <a:rPr lang="en-GB" altLang="zh-CN" sz="1050" b="1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QoE</a:t>
                      </a:r>
                      <a:r>
                        <a:rPr lang="en-GB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Notification: 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Users utilize user-experience-insights-subscription to receive periodic reports. When the system perceives a deterioration in user experience quality, it proactively pushes an uplink report.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5716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11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Usage of the API</a:t>
                      </a:r>
                      <a:endParaRPr lang="en-GB" altLang="zh-CN" sz="1100" b="1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zh-CN" altLang="en-US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Applications Insight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Applications(e.g. streaming platforms, online gaming, industrial robots, drones, automated vehicles, AI-powered surveillance, real-time video analytics) utilize connectivity insights to monitor network performance, ensure safeguard and alerts. </a:t>
                      </a:r>
                      <a:endParaRPr lang="en-US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Network Quality Monitoring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Checking if the network quality meets the application’s requirements for a given user session.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Wi-Fi Congestion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Wi-Fi congestion at a service site is affecting video conferencing performance, reflecting lower Session Insights scores and poor video quality. </a:t>
                      </a:r>
                      <a:endParaRPr lang="en-US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Network Impairments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Issues in the operator’s network can lead to degradation in latency, jitter, packet loss, and bitrate, reflecting lower Session Insights scores and poor video quality.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Applications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en-US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238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User-Experience-Insight to monitor the quality of experience(</a:t>
                      </a:r>
                      <a:r>
                        <a:rPr lang="en-US" altLang="zh-CN" sz="1050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QoE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of applications. When detect a poor experience or experience downtrend, operator/agent can timely adopt operational support strategy.</a:t>
                      </a:r>
                      <a:endParaRPr lang="en-US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238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User-Experience-Insight to get detailed network-side experience data (experience insight report) as a reference for application-level optimization.</a:t>
                      </a:r>
                      <a:endParaRPr lang="en-US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050" b="1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Extend cases: </a:t>
                      </a:r>
                      <a:r>
                        <a:rPr lang="en-US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Media and entertainment applications (e.g. video, game, live video) recommendations, potential user analysis, premium package promotions, and regional deployment optimization. Especially in the case of AI + API to form an intelligent agent targeting a specific customer group like Delivery Express, it can enable the monetization of the intelligent agent or its retention through skill-based methods for customer's Agent. 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09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Level of data/privacy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GB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Device network data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GB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Application network data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spcAft>
                          <a:spcPts val="800"/>
                        </a:spcAft>
                        <a:buFont typeface="Wingdings" panose="05000000000000000000" pitchFamily="2" charset="2"/>
                        <a:buChar char="l"/>
                      </a:pPr>
                      <a:r>
                        <a:rPr lang="en-GB" altLang="zh-CN" sz="10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Device network data + Application network data + user experience data</a:t>
                      </a:r>
                      <a:endParaRPr lang="en-GB" altLang="zh-CN" sz="105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Thank you</a:t>
            </a:r>
            <a:endParaRPr lang="zh-CN" altLang="en-US" b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ABLE_ENDDRAG_ORIGIN_RECT" val="826*339"/>
  <p:tag name="TABLE_ENDDRAG_RECT" val="37*133*826*339"/>
</p:tagLst>
</file>

<file path=ppt/tags/tag5.xml><?xml version="1.0" encoding="utf-8"?>
<p:tagLst xmlns:p="http://schemas.openxmlformats.org/presentationml/2006/main">
  <p:tag name="TABLE_ENDDRAG_ORIGIN_RECT" val="826*339"/>
  <p:tag name="TABLE_ENDDRAG_RECT" val="37*133*826*339"/>
</p:tagLst>
</file>

<file path=ppt/tags/tag6.xml><?xml version="1.0" encoding="utf-8"?>
<p:tagLst xmlns:p="http://schemas.openxmlformats.org/presentationml/2006/main">
  <p:tag name="TABLE_ENDDRAG_ORIGIN_RECT" val="826*339"/>
  <p:tag name="TABLE_ENDDRAG_RECT" val="37*133*826*339"/>
</p:tagLst>
</file>

<file path=ppt/tags/tag7.xml><?xml version="1.0" encoding="utf-8"?>
<p:tagLst xmlns:p="http://schemas.openxmlformats.org/presentationml/2006/main">
  <p:tag name="KSO_WPP_MARK_KEY" val="57c7f136-5fe9-46ac-88f0-c360e5a39059"/>
  <p:tag name="COMMONDATA" val="eyJoZGlkIjoiZmQzZGJkOTU0MGQxNzZjNTk5NWQ0YzNjNDYyMGQzYz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kumimoji="1" sz="14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7656</Words>
  <Application>WPS 演示</Application>
  <PresentationFormat>宽屏</PresentationFormat>
  <Paragraphs>160</Paragraphs>
  <Slides>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Montserrat Light</vt:lpstr>
      <vt:lpstr>Segoe Print</vt:lpstr>
      <vt:lpstr>微软雅黑</vt:lpstr>
      <vt:lpstr>等线</vt:lpstr>
      <vt:lpstr>Calibri</vt:lpstr>
      <vt:lpstr>Arial Unicode MS</vt:lpstr>
      <vt:lpstr>Calibri Light</vt:lpstr>
      <vt:lpstr>Office 主题</vt:lpstr>
      <vt:lpstr>4_章节页</vt:lpstr>
      <vt:lpstr>TCLayout.ActiveDocument.1</vt:lpstr>
      <vt:lpstr>TCLayout.ActiveDocument.1</vt:lpstr>
      <vt:lpstr>TCLayout.ActiveDocument.1</vt:lpstr>
      <vt:lpstr>PowerPoint 演示文稿</vt:lpstr>
      <vt:lpstr>Use Cases</vt:lpstr>
      <vt:lpstr>The API definition proposal(flow chart)</vt:lpstr>
      <vt:lpstr>The API definition proposal(subscribe)</vt:lpstr>
      <vt:lpstr>The API definition proposal(Report)</vt:lpstr>
      <vt:lpstr>The API definition proposal(query)</vt:lpstr>
      <vt:lpstr>Comparison with Connectivity-Insight API and Session-Insight API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Provisioning API</dc:title>
  <dc:creator>Chenchuanyu</dc:creator>
  <cp:lastModifiedBy>杨勋利</cp:lastModifiedBy>
  <cp:revision>359</cp:revision>
  <dcterms:created xsi:type="dcterms:W3CDTF">2023-05-18T03:52:00Z</dcterms:created>
  <dcterms:modified xsi:type="dcterms:W3CDTF">2026-05-14T09:20:43Z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(3)VKJ685MrsuiAxFDhx/puXXXMknv6M3B6T9vlmjjHNtCLqqmpkeglFRM7x30assp8UxKNIH5g
O8peo2qcURpXh7afISBIWO+ujLE+sxPW327+HkFHfxpTc3u+lb0LoRfh6kywl2LdmaWyWTrp
BtFt7ztNVY1gewLQSs1oagO95DWeIiEj5AWxVllW4VByGa+RFStRB90Cu7YCKCzlqE1oBb3Y
Uao3ZdnsqGy58Voj31</vt:lpwstr>
  </property>
  <property fmtid="{D5CDD505-2E9C-101B-9397-08002B2CF9AE}" pid="3" name="_2015_ms_pID_7253431">
    <vt:lpwstr>6Z4I0RcychlaUNh3CEa4cPhD9vP+VKqysl0Rot/ru7QxwqDDj2KSNs
rJVvj1TIpdw5IR/85iaj66oUCxInEC6UPks9mFrEdM+khnIL5wKGd92+VOxv7loYU2CFij0T
eERmbVDhJguc83JQiAqk3EJTsiqGLVtJbiQ51yjdXQVbYyTI2I4+vNHzmWtzsSOT/9UkByFv
bWK6Lz8ayfDwp2FkkVSM0pMFHAs9z042Ibh9</vt:lpwstr>
  </property>
  <property fmtid="{D5CDD505-2E9C-101B-9397-08002B2CF9AE}" pid="4" name="ICV">
    <vt:lpwstr>DA2646D5366343A78692A0DCBADA7D32</vt:lpwstr>
  </property>
  <property fmtid="{D5CDD505-2E9C-101B-9397-08002B2CF9AE}" pid="5" name="KSOProductBuildVer">
    <vt:lpwstr>2052-12.1.0.21541</vt:lpwstr>
  </property>
  <property fmtid="{D5CDD505-2E9C-101B-9397-08002B2CF9AE}" pid="6" name="_2015_ms_pID_7253432">
    <vt:lpwstr>kw==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1702965753</vt:lpwstr>
  </property>
</Properties>
</file>