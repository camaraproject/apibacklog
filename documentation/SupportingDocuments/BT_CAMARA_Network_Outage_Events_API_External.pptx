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514B4"/>
          </a:solidFill>
          <a:ln w="12700">
            <a:solidFill>
              <a:srgbClr val="551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5720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514B4"/>
                </a:solidFill>
              </a:rPr>
              <a:t>BT Group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12648" y="14173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6007E"/>
                </a:solidFill>
              </a:rPr>
              <a:t>CAMARA API PROPOSAL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847088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</a:rPr>
              <a:t>Network Outage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22222"/>
                </a:solidFill>
              </a:rPr>
              <a:t>Events API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21792" y="340156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06060"/>
                </a:solidFill>
              </a:rPr>
              <a:t>A common way for applications to understand known network outages and planned maintenance across operators.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92240" y="1417320"/>
            <a:ext cx="4846320" cy="4114800"/>
          </a:xfrm>
          <a:prstGeom prst="roundRect">
            <a:avLst/>
          </a:prstGeom>
          <a:solidFill>
            <a:srgbClr val="F5F3F7"/>
          </a:solidFill>
          <a:ln w="12700">
            <a:solidFill>
              <a:srgbClr val="DDD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2057400"/>
            <a:ext cx="1097280" cy="1097280"/>
          </a:xfrm>
          <a:prstGeom prst="ellipse">
            <a:avLst/>
          </a:prstGeom>
          <a:solidFill>
            <a:srgbClr val="5514B4"/>
          </a:solidFill>
          <a:ln w="12700">
            <a:solidFill>
              <a:srgbClr val="551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0" y="24963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MNO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326880" y="2057400"/>
            <a:ext cx="1097280" cy="109728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64040" y="24963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MNO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39328" y="388620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51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6488" y="432511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14B4"/>
                </a:solidFill>
              </a:rPr>
              <a:t>API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09560" y="3154680"/>
            <a:ext cx="960120" cy="731520"/>
          </a:xfrm>
          <a:prstGeom prst="line">
            <a:avLst/>
          </a:prstGeom>
          <a:noFill/>
          <a:ln w="25400">
            <a:solidFill>
              <a:srgbClr val="5514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8915400" y="3154680"/>
            <a:ext cx="960120" cy="731520"/>
          </a:xfrm>
          <a:prstGeom prst="line">
            <a:avLst/>
          </a:prstGeom>
          <a:noFill/>
          <a:ln w="25400">
            <a:solidFill>
              <a:srgbClr val="E600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52360" y="51206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514B4"/>
                </a:solidFill>
              </a:rPr>
              <a:t>One consistent developer contract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6172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6060"/>
                </a:solidFill>
              </a:rPr>
              <a:t>BT Group  |  August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645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5514B4"/>
                </a:solidFill>
              </a:rPr>
              <a:t>NETWORK APIs  |  CAMARA PROPOSAL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87000" y="1188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514B4"/>
                </a:solidFill>
              </a:rPr>
              <a:t>BT Group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" y="448056"/>
            <a:ext cx="11265408" cy="0"/>
          </a:xfrm>
          <a:prstGeom prst="line">
            <a:avLst/>
          </a:prstGeom>
          <a:noFill/>
          <a:ln w="12700">
            <a:solidFill>
              <a:srgbClr val="DDD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65408" y="651052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6949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</a:rPr>
              <a:t>The problem and the proposition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6060"/>
                </a:solidFill>
              </a:rPr>
              <a:t>Applications can detect failed connectivity, but cannot consistently identify a known operator incident.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" y="1847088"/>
            <a:ext cx="3383280" cy="3182112"/>
          </a:xfrm>
          <a:prstGeom prst="roundRect">
            <a:avLst>
              <a:gd name="adj" fmla="val 1437"/>
            </a:avLst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1847088"/>
            <a:ext cx="54864" cy="3182112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201168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Today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2104" y="2414016"/>
            <a:ext cx="29626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Different operator interfaces and data models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Limited context for applications and devices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Generic error handling and unnecessary troubleshooting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07408" y="1847088"/>
            <a:ext cx="3383280" cy="3182112"/>
          </a:xfrm>
          <a:prstGeom prst="roundRect">
            <a:avLst>
              <a:gd name="adj" fmla="val 1437"/>
            </a:avLst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07408" y="1847088"/>
            <a:ext cx="54864" cy="3182112"/>
          </a:xfrm>
          <a:prstGeom prst="rect">
            <a:avLst/>
          </a:prstGeom>
          <a:solidFill>
            <a:srgbClr val="5514B4"/>
          </a:solidFill>
          <a:ln w="12700">
            <a:solidFill>
              <a:srgbClr val="551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01168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Proposed API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2414016"/>
            <a:ext cx="29626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Query known outages by a supported location or network area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Subscribe to new incidents and lifecycle updates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Return a simple, customer-safe event model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93024" y="1847088"/>
            <a:ext cx="3383280" cy="3182112"/>
          </a:xfrm>
          <a:prstGeom prst="roundRect">
            <a:avLst>
              <a:gd name="adj" fmla="val 1437"/>
            </a:avLst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93024" y="1847088"/>
            <a:ext cx="54864" cy="3182112"/>
          </a:xfrm>
          <a:prstGeom prst="rect">
            <a:avLst/>
          </a:prstGeom>
          <a:solidFill>
            <a:srgbClr val="008A68"/>
          </a:solidFill>
          <a:ln w="12700">
            <a:solidFill>
              <a:srgbClr val="008A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3336" y="2011680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Outcome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03336" y="2414016"/>
            <a:ext cx="29626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Clearer customer journeys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Consistent integration across participating MNOs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Operator systems remain abstracted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" y="5394960"/>
            <a:ext cx="10954512" cy="566928"/>
          </a:xfrm>
          <a:prstGeom prst="roundRect">
            <a:avLst/>
          </a:prstGeom>
          <a:solidFill>
            <a:srgbClr val="F5F3F7"/>
          </a:solidFill>
          <a:ln w="12700">
            <a:solidFill>
              <a:srgbClr val="DD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568696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514B4"/>
                </a:solidFill>
              </a:rPr>
              <a:t>A northbound Service Management API for developers, aggregators and OEMs.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645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5514B4"/>
                </a:solidFill>
              </a:rPr>
              <a:t>NETWORK APIs  |  CAMARA PROPOSAL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87000" y="1188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514B4"/>
                </a:solidFill>
              </a:rPr>
              <a:t>BT Group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" y="448056"/>
            <a:ext cx="11265408" cy="0"/>
          </a:xfrm>
          <a:prstGeom prst="line">
            <a:avLst/>
          </a:prstGeom>
          <a:noFill/>
          <a:ln w="12700">
            <a:solidFill>
              <a:srgbClr val="DDD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65408" y="651052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6949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</a:rPr>
              <a:t>A distinct, simple event model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6060"/>
                </a:solidFill>
              </a:rPr>
              <a:t>The API represents a verified incident and lifecycle, not device reachability or observed network performance.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0927080" cy="457200"/>
          </a:xfrm>
          <a:prstGeom prst="rect">
            <a:avLst/>
          </a:prstGeom>
          <a:solidFill>
            <a:srgbClr val="5514B4"/>
          </a:solidFill>
          <a:ln w="12700">
            <a:solidFill>
              <a:srgbClr val="551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29384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93008" y="1929384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Question answered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04888" y="192938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Primary semantic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240280"/>
            <a:ext cx="10927080" cy="694944"/>
          </a:xfrm>
          <a:prstGeom prst="rect">
            <a:avLst/>
          </a:prstGeom>
          <a:solidFill>
            <a:srgbClr val="FAF9FB"/>
          </a:solidFill>
          <a:ln w="8890">
            <a:solidFill>
              <a:srgbClr val="DD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441448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</a:rPr>
              <a:t>Device Reachability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93008" y="2423160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Is the device connected?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04888" y="2423160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Device state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935224"/>
            <a:ext cx="10927080" cy="694944"/>
          </a:xfrm>
          <a:prstGeom prst="rect">
            <a:avLst/>
          </a:prstGeom>
          <a:solidFill>
            <a:srgbClr val="FFFFFF"/>
          </a:solidFill>
          <a:ln w="8890">
            <a:solidFill>
              <a:srgbClr val="DD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136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</a:rPr>
              <a:t>Connectivity Insights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93008" y="311810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What quality is being observed?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104888" y="3118104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Diagnostic metrics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630168"/>
            <a:ext cx="10927080" cy="694944"/>
          </a:xfrm>
          <a:prstGeom prst="rect">
            <a:avLst/>
          </a:prstGeom>
          <a:solidFill>
            <a:srgbClr val="FAF9FB"/>
          </a:solidFill>
          <a:ln w="8890">
            <a:solidFill>
              <a:srgbClr val="DD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383133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2222"/>
                </a:solidFill>
              </a:rPr>
              <a:t>NetworkInsights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493008" y="3813048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What is the network condition?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04888" y="3813048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Assessment and traffic analysis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325112"/>
            <a:ext cx="10927080" cy="694944"/>
          </a:xfrm>
          <a:prstGeom prst="rect">
            <a:avLst/>
          </a:prstGeom>
          <a:solidFill>
            <a:srgbClr val="F1E9FA"/>
          </a:solidFill>
          <a:ln w="8890">
            <a:solidFill>
              <a:srgbClr val="DD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5262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514B4"/>
                </a:solidFill>
              </a:rPr>
              <a:t>Network Outage Events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493008" y="4507992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</a:rPr>
              <a:t>Is there a known incident here?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104888" y="4507992"/>
            <a:ext cx="3977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Incident, impact and resolution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285232"/>
            <a:ext cx="1975104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54315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14B4"/>
                </a:solidFill>
              </a:rPr>
              <a:t>Status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0664" y="564184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6060"/>
                </a:solidFill>
              </a:rPr>
              <a:t>in progress, resolved, closed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834640" y="5285232"/>
            <a:ext cx="1975104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53512" y="54315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14B4"/>
                </a:solidFill>
              </a:rPr>
              <a:t>Type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935224" y="564184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6060"/>
                </a:solidFill>
              </a:rPr>
              <a:t>planned or unplanned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5029200" y="5285232"/>
            <a:ext cx="1975104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54315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14B4"/>
                </a:solidFill>
              </a:rPr>
              <a:t>Impact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29784" y="564184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6060"/>
                </a:solidFill>
              </a:rPr>
              <a:t>affected services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7223760" y="5285232"/>
            <a:ext cx="1975104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42632" y="54315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14B4"/>
                </a:solidFill>
              </a:rPr>
              <a:t>Location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324344" y="564184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6060"/>
                </a:solidFill>
              </a:rPr>
              <a:t>supported area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9418320" y="5285232"/>
            <a:ext cx="1975104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37192" y="5431536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14B4"/>
                </a:solidFill>
              </a:rPr>
              <a:t>Timing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518904" y="564184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06060"/>
                </a:solidFill>
              </a:rPr>
              <a:t>where available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645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5514B4"/>
                </a:solidFill>
              </a:rPr>
              <a:t>NETWORK APIs  |  CAMARA PROPOSAL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87000" y="1188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514B4"/>
                </a:solidFill>
              </a:rPr>
              <a:t>BT Group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" y="448056"/>
            <a:ext cx="11265408" cy="0"/>
          </a:xfrm>
          <a:prstGeom prst="line">
            <a:avLst/>
          </a:prstGeom>
          <a:noFill/>
          <a:ln w="12700">
            <a:solidFill>
              <a:srgbClr val="DDD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65408" y="651052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6949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</a:rPr>
              <a:t>How the API works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6060"/>
                </a:solidFill>
              </a:rPr>
              <a:t>A simple, operator-neutral interaction that keeps network operations behind the operator boundary.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212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Application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26791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Requests outage context for a supported location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977640" y="2450592"/>
            <a:ext cx="347472" cy="530352"/>
          </a:xfrm>
          <a:prstGeom prst="chevron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938528"/>
            <a:ext cx="3063240" cy="1600200"/>
          </a:xfrm>
          <a:prstGeom prst="roundRect">
            <a:avLst/>
          </a:prstGeom>
          <a:solidFill>
            <a:srgbClr val="F1E9FA"/>
          </a:solidFill>
          <a:ln w="19050">
            <a:solidFill>
              <a:srgbClr val="5514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2212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14B4"/>
                </a:solidFill>
              </a:rPr>
              <a:t>CAMARA 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82312" y="26791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Applies a common request and response model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2450592"/>
            <a:ext cx="347472" cy="530352"/>
          </a:xfrm>
          <a:prstGeom prst="chevron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38528"/>
            <a:ext cx="30632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22208" y="2212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Participating MNO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77072" y="2679192"/>
            <a:ext cx="2542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Returns customer-safe status information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096512"/>
            <a:ext cx="324612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096512"/>
            <a:ext cx="54864" cy="1207008"/>
          </a:xfrm>
          <a:prstGeom prst="rect">
            <a:avLst/>
          </a:prstGeom>
          <a:solidFill>
            <a:srgbClr val="5514B4"/>
          </a:solidFill>
          <a:ln w="12700">
            <a:solidFill>
              <a:srgbClr val="551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4261104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Query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1832" y="4663440"/>
            <a:ext cx="2825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Check whether a known outage or planned event applies to a supported area.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462272" y="4096512"/>
            <a:ext cx="324612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62272" y="4096512"/>
            <a:ext cx="54864" cy="1207008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72584" y="4261104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Subscribe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672584" y="4663440"/>
            <a:ext cx="2825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Receive updates when an event is created or its status changes.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193024" y="4096512"/>
            <a:ext cx="324612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DDD8E4"/>
            </a:solidFill>
            <a:prstDash val="solid"/>
          </a:ln>
          <a:effectLst>
            <a:outerShdw sx="100000" sy="100000" kx="0" ky="0" algn="bl" rotWithShape="0" blurRad="10160" dist="381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193024" y="4096512"/>
            <a:ext cx="54864" cy="1207008"/>
          </a:xfrm>
          <a:prstGeom prst="rect">
            <a:avLst/>
          </a:prstGeom>
          <a:solidFill>
            <a:srgbClr val="008A68"/>
          </a:solidFill>
          <a:ln w="12700">
            <a:solidFill>
              <a:srgbClr val="008A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03336" y="4261104"/>
            <a:ext cx="2843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Respond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03336" y="4663440"/>
            <a:ext cx="2825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06060"/>
                </a:solidFill>
              </a:rPr>
              <a:t>Return consistent status, impact, timing and customer-safe messaging where available.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31520" y="5650992"/>
            <a:ext cx="10707624" cy="457200"/>
          </a:xfrm>
          <a:prstGeom prst="roundRect">
            <a:avLst/>
          </a:prstGeom>
          <a:solidFill>
            <a:srgbClr val="F5F3F7"/>
          </a:solidFill>
          <a:ln w="12700">
            <a:solidFill>
              <a:srgbClr val="DDD8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5797296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514B4"/>
                </a:solidFill>
              </a:rPr>
              <a:t>Operator-specific systems, processes and implementation choices are not exposed through the common API.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1645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10" kern="0" dirty="0">
                <a:solidFill>
                  <a:srgbClr val="5514B4"/>
                </a:solidFill>
              </a:rPr>
              <a:t>NETWORK APIs  |  CAMARA PROPOSAL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287000" y="11887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514B4"/>
                </a:solidFill>
              </a:rPr>
              <a:t>BT Group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38912" y="448056"/>
            <a:ext cx="11265408" cy="0"/>
          </a:xfrm>
          <a:prstGeom prst="line">
            <a:avLst/>
          </a:prstGeom>
          <a:noFill/>
          <a:ln w="12700">
            <a:solidFill>
              <a:srgbClr val="DDD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65408" y="651052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30352" y="694944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</a:rPr>
              <a:t>What we need from CAMARA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06060"/>
                </a:solidFill>
              </a:rPr>
              <a:t>Agreement on the API boundary and a route into Working Group development.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8368" y="1737360"/>
            <a:ext cx="502920" cy="502920"/>
          </a:xfrm>
          <a:prstGeom prst="ellipse">
            <a:avLst/>
          </a:prstGeom>
          <a:solidFill>
            <a:srgbClr val="E6007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90195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17556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Confirm API home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174650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060"/>
                </a:solidFill>
              </a:rPr>
              <a:t>A separate outage events API or a focused NetworkInsights enhancement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58368" y="2788920"/>
            <a:ext cx="502920" cy="502920"/>
          </a:xfrm>
          <a:prstGeom prst="ellipse">
            <a:avLst/>
          </a:prstGeom>
          <a:solidFill>
            <a:srgbClr val="5514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95351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28072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Agree minimum scope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279806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060"/>
                </a:solidFill>
              </a:rPr>
              <a:t>Query, subscriptions, lifecycle, impact, timing and location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" y="3840480"/>
            <a:ext cx="502920" cy="502920"/>
          </a:xfrm>
          <a:prstGeom prst="ellipse">
            <a:avLst/>
          </a:prstGeom>
          <a:solidFill>
            <a:srgbClr val="5514B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0507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38587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</a:rPr>
              <a:t>Confirm contributors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03320" y="3849624"/>
            <a:ext cx="7178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06060"/>
                </a:solidFill>
              </a:rPr>
              <a:t>MNO and implementer support for specification and validation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5120640"/>
            <a:ext cx="10881360" cy="758952"/>
          </a:xfrm>
          <a:prstGeom prst="roundRect">
            <a:avLst/>
          </a:prstGeom>
          <a:solidFill>
            <a:srgbClr val="5514B4"/>
          </a:solidFill>
          <a:ln w="12700">
            <a:solidFill>
              <a:srgbClr val="5514B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53766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BF5"/>
                </a:solidFill>
              </a:rPr>
              <a:t>Requested outcome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42032" y="531266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Progress the proposal and technical artefacts into Backlog Working Group discussion.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" y="62179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222"/>
                </a:solidFill>
              </a:rPr>
              <a:t>Network Outage Events API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104120" y="61996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514B4"/>
                </a:solidFill>
              </a:rPr>
              <a:t>BT Group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BT Group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Network Outage Events API</dc:title>
  <dc:subject>PptxGenJS Presentation</dc:subject>
  <dc:creator>Joel Douglas (NPHC R)</dc:creator>
  <lastModifiedBy>Joel Douglas (NPHC R)</lastModifiedBy>
  <revision>1</revision>
  <dcterms:created xsi:type="dcterms:W3CDTF">2026-08-05T17:32:34.6867290Z</dcterms:created>
  <dcterms:modified xsi:type="dcterms:W3CDTF">2026-08-05T17:32:34.6867290Z</dcterms:modified>
</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818d02-8d25-4bb9-b27c-e4db64670887_Enabled">
    <vt:lpwstr>true</vt:lpwstr>
  </property>
  <property fmtid="{D5CDD505-2E9C-101B-9397-08002B2CF9AE}" pid="3" name="MSIP_Label_55818d02-8d25-4bb9-b27c-e4db64670887_SetDate">
    <vt:lpwstr>2026-08-05T17:32:34Z</vt:lpwstr>
  </property>
  <property fmtid="{D5CDD505-2E9C-101B-9397-08002B2CF9AE}" pid="4" name="MSIP_Label_55818d02-8d25-4bb9-b27c-e4db64670887_Method">
    <vt:lpwstr>Standard</vt:lpwstr>
  </property>
  <property fmtid="{D5CDD505-2E9C-101B-9397-08002B2CF9AE}" pid="5" name="MSIP_Label_55818d02-8d25-4bb9-b27c-e4db64670887_Name">
    <vt:lpwstr>55818d02-8d25-4bb9-b27c-e4db64670887</vt:lpwstr>
  </property>
  <property fmtid="{D5CDD505-2E9C-101B-9397-08002B2CF9AE}" pid="6" name="MSIP_Label_55818d02-8d25-4bb9-b27c-e4db64670887_SiteId">
    <vt:lpwstr>a7f35688-9c00-4d5e-ba41-29f146377ab0</vt:lpwstr>
  </property>
  <property fmtid="{D5CDD505-2E9C-101B-9397-08002B2CF9AE}" pid="7" name="MSIP_Label_55818d02-8d25-4bb9-b27c-e4db64670887_ActionId">
    <vt:lpwstr>bfd66574-2500-4e98-8b45-271cf844f1d4</vt:lpwstr>
  </property>
  <property fmtid="{D5CDD505-2E9C-101B-9397-08002B2CF9AE}" pid="8" name="MSIP_Label_55818d02-8d25-4bb9-b27c-e4db64670887_ContentBits">
    <vt:lpwstr>0</vt:lpwstr>
  </property>
</Properties>
</file>