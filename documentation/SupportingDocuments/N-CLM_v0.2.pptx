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5"/>
  </p:notesMasterIdLst>
  <p:handoutMasterIdLst>
    <p:handoutMasterId r:id="rId16"/>
  </p:handoutMasterIdLst>
  <p:sldIdLst>
    <p:sldId id="256" r:id="rId5"/>
    <p:sldId id="258" r:id="rId6"/>
    <p:sldId id="259" r:id="rId7"/>
    <p:sldId id="264" r:id="rId8"/>
    <p:sldId id="265" r:id="rId9"/>
    <p:sldId id="260" r:id="rId10"/>
    <p:sldId id="261" r:id="rId11"/>
    <p:sldId id="262" r:id="rId12"/>
    <p:sldId id="263" r:id="rId13"/>
    <p:sldId id="267" r:id="rId14"/>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xudan-XD" initials="XD" lastIdx="1" clrIdx="0"/>
  <p:cmAuthor id="2" name="Administrator" initials="l" lastIdx="1" clrIdx="1"/>
  <p:cmAuthor id="3" name="作者" initials="A" lastIdx="0" clrIdx="2"/>
  <p:cmAuthor id="4" name="HP" initials="H" lastIdx="4" clrIdx="3"/>
  <p:cmAuthor id="5" name="宋洁然" initials="宋" lastIdx="2" clrIdx="1"/>
  <p:cmAuthor id="6" name="ming qiu" initials="m" lastIdx="17" clrIdx="1"/>
  <p:cmAuthor id="7" name="1206988966@qq.com" initials="1" lastIdx="1" clrIdx="2"/>
  <p:cmAuthor id="8" name="姜伟光" initials="姜" lastIdx="1" clrIdx="0"/>
  <p:cmAuthor id="9" name="ASUS" initials="A" lastIdx="28" clrIdx="4"/>
  <p:cmAuthor id="10" name="lenovo" initials="l" lastIdx="6" clrIdx="2"/>
  <p:cmAuthor id="11" name="xiedk" initials="x" lastIdx="2" clrIdx="10"/>
  <p:cmAuthor id="12" name="未知用户1" initials="未知用户1" lastIdx="2" clrIdx="11"/>
  <p:cmAuthor id="13" name="马云飞10014438" initials="马" lastIdx="4" clrIdx="0"/>
  <p:cmAuthor id="14" name="10077969" initials="10077969" lastIdx="2" clrIdx="13"/>
  <p:cmAuthor id="15" name="康浩杰|hnkanghaojie" initials="A" lastIdx="1" clrIdx="14"/>
  <p:cmAuthor id="16" name="孟伟伟" initials="孟" lastIdx="1" clrIdx="15"/>
  <p:cmAuthor id="17" name="dongrp" initials="d" lastIdx="1" clrIdx="16"/>
  <p:cmAuthor id="18" name="hc" initials="h" lastIdx="1" clrIdx="17"/>
  <p:cmAuthor id="19" name="Saku Uchikawa" initials="S" lastIdx="11" clrIdx="0"/>
  <p:cmAuthor id="20" name="00065088" initials="0" lastIdx="2" clrIdx="19"/>
  <p:cmAuthor id="21" name="10066351" initials="1" lastIdx="2" clrIdx="0"/>
  <p:cmAuthor id="22" name="蔡建楠" initials="caijianna" lastIdx="15" clrIdx="17"/>
  <p:cmAuthor id="23" name="赵诚荣10027092" initials="赵" lastIdx="2" clrIdx="25"/>
  <p:cmAuthor id="24" name="李蕾00009994" initials="李" lastIdx="6" clrIdx="17"/>
  <p:cmAuthor id="25" name="wyz" initials="w" lastIdx="1" clrIdx="24"/>
  <p:cmAuthor id="26" name="10270945" initials="1" lastIdx="1" clrIdx="25"/>
  <p:cmAuthor id="27" name="10295142" initials="1" lastIdx="1" clrIdx="26"/>
  <p:cmAuthor id="28" name="Hou Yingfeng" initials="H" lastIdx="10" clrIdx="23"/>
  <p:cmAuthor id="30" name="10056791" initials="ZTE" lastIdx="1" clrIdx="29"/>
  <p:cmAuthor id="31" name="Author" initials="A" lastIdx="0" clrIdx="30"/>
  <p:cmAuthor id="32" name="李楠10047711" initials="李楠10047711" lastIdx="2" clrIdx="31"/>
  <p:cmAuthor id="76" name="许 志军" initials="许" lastIdx="1" clrIdx="25"/>
  <p:cmAuthor id="33" name="610007" initials="6" lastIdx="0" clrIdx="32"/>
  <p:cmAuthor id="77" name="欧 志芳" initials="欧" lastIdx="1" clrIdx="26"/>
  <p:cmAuthor id="34" name="Jason" initials="J" lastIdx="18" clrIdx="33"/>
  <p:cmAuthor id="35" name="stephen" initials="s" lastIdx="1" clrIdx="34"/>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679B6-DFB9-465D-BCF7-63C3CDB22F53}" type="datetimeFigureOut">
              <a:rPr lang="zh-CN" altLang="en-US" smtClean="0"/>
              <a:t>2026/6/13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DE9C1-3A93-4484-ADD9-54060A054C8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1 Column">
    <p:bg>
      <p:bgRef idx="1001">
        <a:schemeClr val="bg1"/>
      </p:bgRef>
    </p:bg>
    <p:spTree>
      <p:nvGrpSpPr>
        <p:cNvPr id="1" name=""/>
        <p:cNvGrpSpPr/>
        <p:nvPr/>
      </p:nvGrpSpPr>
      <p:grpSpPr>
        <a:xfrm>
          <a:off x="0" y="0"/>
          <a:ext cx="0" cy="0"/>
          <a:chOff x="0" y="0"/>
          <a:chExt cx="0" cy="0"/>
        </a:xfrm>
      </p:grpSpPr>
      <p:graphicFrame>
        <p:nvGraphicFramePr>
          <p:cNvPr id="6" name="Objekt 5" hidden="1"/>
          <p:cNvGraphicFramePr>
            <a:graphicFrameLocks noChangeAspect="1"/>
          </p:cNvGraphicFramePr>
          <p:nvPr userDrawn="1">
            <p:custDataLst>
              <p:tags r:id="rId1"/>
            </p:custDataLst>
          </p:nvPr>
        </p:nvGraphicFramePr>
        <p:xfrm>
          <a:off x="1681" y="1682"/>
          <a:ext cx="1679" cy="1678"/>
        </p:xfrm>
        <a:graphic>
          <a:graphicData uri="http://schemas.openxmlformats.org/presentationml/2006/ole">
            <mc:AlternateContent xmlns:mc="http://schemas.openxmlformats.org/markup-compatibility/2006">
              <mc:Choice xmlns:v="urn:schemas-microsoft-com:vml" Requires="v">
                <p:oleObj name="think-cell Folie" r:id="rId3" imgW="12700" imgH="12700" progId="TCLayout.ActiveDocument.1">
                  <p:embed/>
                </p:oleObj>
              </mc:Choice>
              <mc:Fallback>
                <p:oleObj name="think-cell Folie" r:id="rId3" imgW="12700" imgH="12700" progId="TCLayout.ActiveDocument.1">
                  <p:embed/>
                  <p:pic>
                    <p:nvPicPr>
                      <p:cNvPr id="6" name="Objekt 5" hidden="1"/>
                      <p:cNvPicPr/>
                      <p:nvPr/>
                    </p:nvPicPr>
                    <p:blipFill>
                      <a:blip r:embed="rId4"/>
                      <a:stretch>
                        <a:fillRect/>
                      </a:stretch>
                    </p:blipFill>
                    <p:spPr>
                      <a:xfrm>
                        <a:off x="1681" y="1682"/>
                        <a:ext cx="1679" cy="1678"/>
                      </a:xfrm>
                      <a:prstGeom prst="rect">
                        <a:avLst/>
                      </a:prstGeom>
                    </p:spPr>
                  </p:pic>
                </p:oleObj>
              </mc:Fallback>
            </mc:AlternateContent>
          </a:graphicData>
        </a:graphic>
      </p:graphicFrame>
      <p:pic>
        <p:nvPicPr>
          <p:cNvPr id="4" name="Grafik 3"/>
          <p:cNvPicPr>
            <a:picLocks noChangeAspect="1"/>
          </p:cNvPicPr>
          <p:nvPr userDrawn="1"/>
        </p:nvPicPr>
        <p:blipFill>
          <a:blip r:embed="rId5"/>
          <a:stretch>
            <a:fillRect/>
          </a:stretch>
        </p:blipFill>
        <p:spPr>
          <a:xfrm>
            <a:off x="8228916" y="497258"/>
            <a:ext cx="3684694" cy="708970"/>
          </a:xfrm>
          <a:prstGeom prst="rect">
            <a:avLst/>
          </a:prstGeom>
        </p:spPr>
      </p:pic>
      <p:pic>
        <p:nvPicPr>
          <p:cNvPr id="11" name="Picture 10"/>
          <p:cNvPicPr>
            <a:picLocks noChangeAspect="1"/>
          </p:cNvPicPr>
          <p:nvPr userDrawn="1"/>
        </p:nvPicPr>
        <p:blipFill>
          <a:blip r:embed="rId6"/>
          <a:stretch>
            <a:fillRect/>
          </a:stretch>
        </p:blipFill>
        <p:spPr>
          <a:xfrm>
            <a:off x="1" y="0"/>
            <a:ext cx="8382468" cy="1786654"/>
          </a:xfrm>
          <a:prstGeom prst="rect">
            <a:avLst/>
          </a:prstGeom>
        </p:spPr>
      </p:pic>
      <p:sp>
        <p:nvSpPr>
          <p:cNvPr id="12" name="Title 1"/>
          <p:cNvSpPr>
            <a:spLocks noGrp="1"/>
          </p:cNvSpPr>
          <p:nvPr>
            <p:ph type="title" hasCustomPrompt="1"/>
          </p:nvPr>
        </p:nvSpPr>
        <p:spPr>
          <a:xfrm>
            <a:off x="470211" y="436920"/>
            <a:ext cx="11580552" cy="829647"/>
          </a:xfrm>
          <a:prstGeom prst="rect">
            <a:avLst/>
          </a:prstGeom>
        </p:spPr>
        <p:txBody>
          <a:bodyPr vert="horz"/>
          <a:lstStyle>
            <a:lvl1pPr>
              <a:defRPr b="0" i="0">
                <a:solidFill>
                  <a:schemeClr val="bg1"/>
                </a:solidFill>
                <a:latin typeface="Montserrat Light" pitchFamily="2" charset="77"/>
              </a:defRPr>
            </a:lvl1pPr>
          </a:lstStyle>
          <a:p>
            <a:r>
              <a:rPr lang="en-US" sz="2540">
                <a:solidFill>
                  <a:schemeClr val="bg1"/>
                </a:solidFill>
              </a:rPr>
              <a:t>Slide</a:t>
            </a:r>
            <a:br>
              <a:rPr lang="en-US" sz="2540">
                <a:solidFill>
                  <a:schemeClr val="bg1"/>
                </a:solidFill>
              </a:rPr>
            </a:br>
            <a:r>
              <a:rPr lang="en-US" sz="2540">
                <a:solidFill>
                  <a:schemeClr val="bg1"/>
                </a:solidFill>
              </a:rPr>
              <a:t>Title</a:t>
            </a:r>
          </a:p>
        </p:txBody>
      </p:sp>
      <p:sp>
        <p:nvSpPr>
          <p:cNvPr id="20" name="Content Placeholder 17"/>
          <p:cNvSpPr>
            <a:spLocks noGrp="1"/>
          </p:cNvSpPr>
          <p:nvPr>
            <p:ph sz="quarter" idx="10" hasCustomPrompt="1"/>
          </p:nvPr>
        </p:nvSpPr>
        <p:spPr>
          <a:xfrm>
            <a:off x="470211" y="1999093"/>
            <a:ext cx="11580552" cy="4361648"/>
          </a:xfrm>
        </p:spPr>
        <p:txBody>
          <a:bodyPr/>
          <a:lstStyle>
            <a:lvl1pPr>
              <a:defRPr sz="1585" b="0" i="0">
                <a:solidFill>
                  <a:schemeClr val="tx2"/>
                </a:solidFill>
                <a:latin typeface="Montserrat Light" pitchFamily="2" charset="77"/>
              </a:defRPr>
            </a:lvl1pPr>
            <a:lvl2pPr>
              <a:defRPr sz="1585" b="0" i="0">
                <a:solidFill>
                  <a:schemeClr val="tx2"/>
                </a:solidFill>
                <a:latin typeface="Montserrat Light" pitchFamily="2" charset="77"/>
              </a:defRPr>
            </a:lvl2pPr>
            <a:lvl3pPr>
              <a:defRPr sz="1585" b="0" i="0">
                <a:solidFill>
                  <a:schemeClr val="tx2"/>
                </a:solidFill>
                <a:latin typeface="Montserrat Light" pitchFamily="2" charset="77"/>
              </a:defRPr>
            </a:lvl3pPr>
            <a:lvl4pPr>
              <a:defRPr sz="1585" b="0" i="0">
                <a:solidFill>
                  <a:schemeClr val="tx2"/>
                </a:solidFill>
                <a:latin typeface="Montserrat Light" pitchFamily="2" charset="77"/>
              </a:defRPr>
            </a:lvl4pPr>
            <a:lvl5pPr>
              <a:defRPr sz="1585" b="0" i="0">
                <a:solidFill>
                  <a:schemeClr val="tx2"/>
                </a:solidFill>
                <a:latin typeface="Montserrat Light" pitchFamily="2" charset="77"/>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2998047"/>
            <a:ext cx="9403181" cy="2345288"/>
          </a:xfrm>
          <a:prstGeom prst="rect">
            <a:avLst/>
          </a:prstGeom>
        </p:spPr>
        <p:txBody>
          <a:bodyP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a:t>Montserrat Light</a:t>
            </a:r>
            <a:br>
              <a:rPr lang="de-DE"/>
            </a:br>
            <a:r>
              <a:rPr lang="de-DE"/>
              <a:t>Maximum 3 </a:t>
            </a:r>
            <a:r>
              <a:rPr lang="de-DE" err="1"/>
              <a:t>lines</a:t>
            </a:r>
            <a:br>
              <a:rPr lang="de-DE"/>
            </a:br>
            <a:r>
              <a:rPr lang="de-DE"/>
              <a:t>44 </a:t>
            </a:r>
            <a:r>
              <a:rPr lang="de-DE" err="1"/>
              <a:t>pt</a:t>
            </a:r>
            <a:endParaRPr lang="de-DE"/>
          </a:p>
        </p:txBody>
      </p:sp>
      <p:sp>
        <p:nvSpPr>
          <p:cNvPr id="6" name="Textplatzhalter 5"/>
          <p:cNvSpPr>
            <a:spLocks noGrp="1"/>
          </p:cNvSpPr>
          <p:nvPr>
            <p:ph type="body" sz="quarter" idx="13" hasCustomPrompt="1"/>
          </p:nvPr>
        </p:nvSpPr>
        <p:spPr>
          <a:xfrm>
            <a:off x="1401303" y="5800211"/>
            <a:ext cx="9403181" cy="316683"/>
          </a:xfrm>
          <a:prstGeom prst="rect">
            <a:avLst/>
          </a:prstGeom>
        </p:spPr>
        <p:txBody>
          <a:bodyPr wrap="square">
            <a:spAutoFit/>
          </a:bodyPr>
          <a:lstStyle>
            <a:lvl1pPr>
              <a:spcBef>
                <a:spcPts val="0"/>
              </a:spcBef>
              <a:defRPr sz="2115" b="0" i="0" baseline="0">
                <a:solidFill>
                  <a:schemeClr val="bg1"/>
                </a:solidFill>
                <a:latin typeface="Montserrat Light" pitchFamily="2" charset="77"/>
                <a:ea typeface="Montserrat Light" pitchFamily="2" charset="77"/>
              </a:defRPr>
            </a:lvl1pPr>
            <a:lvl5pPr>
              <a:defRPr/>
            </a:lvl5pPr>
          </a:lstStyle>
          <a:p>
            <a:pPr lvl="0"/>
            <a:r>
              <a:rPr lang="de-DE" err="1"/>
              <a:t>Subheading</a:t>
            </a:r>
            <a:r>
              <a:rPr lang="de-DE"/>
              <a:t> Montserrat Light, 20 </a:t>
            </a:r>
            <a:r>
              <a:rPr lang="de-DE" err="1"/>
              <a:t>pt</a:t>
            </a:r>
            <a:endParaRPr lang="de-DE"/>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Rectangle 1"/>
          <p:cNvSpPr/>
          <p:nvPr userDrawn="1"/>
        </p:nvSpPr>
        <p:spPr>
          <a:xfrm>
            <a:off x="0" y="0"/>
            <a:ext cx="12192000" cy="1551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5"/>
          </a:p>
        </p:txBody>
      </p:sp>
      <p:pic>
        <p:nvPicPr>
          <p:cNvPr id="7" name="Picture 6"/>
          <p:cNvPicPr>
            <a:picLocks noChangeAspect="1"/>
          </p:cNvPicPr>
          <p:nvPr userDrawn="1"/>
        </p:nvPicPr>
        <p:blipFill>
          <a:blip r:embed="rId6"/>
          <a:stretch>
            <a:fillRect/>
          </a:stretch>
        </p:blipFill>
        <p:spPr>
          <a:xfrm>
            <a:off x="-1" y="782104"/>
            <a:ext cx="12192000" cy="1551928"/>
          </a:xfrm>
          <a:prstGeom prst="rect">
            <a:avLst/>
          </a:prstGeom>
        </p:spPr>
      </p:pic>
      <p:pic>
        <p:nvPicPr>
          <p:cNvPr id="3" name="Grafik 21"/>
          <p:cNvPicPr>
            <a:picLocks noChangeAspect="1"/>
          </p:cNvPicPr>
          <p:nvPr userDrawn="1"/>
        </p:nvPicPr>
        <p:blipFill>
          <a:blip r:embed="rId7"/>
          <a:stretch>
            <a:fillRect/>
          </a:stretch>
        </p:blipFill>
        <p:spPr>
          <a:xfrm>
            <a:off x="304745" y="432740"/>
            <a:ext cx="5402508" cy="103954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1243683"/>
            <a:ext cx="9456935" cy="4343718"/>
          </a:xfrm>
          <a:prstGeom prst="rect">
            <a:avLst/>
          </a:prstGeom>
        </p:spPr>
        <p:txBody>
          <a:bodyPr anchor="ct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err="1"/>
              <a:t>Section</a:t>
            </a:r>
            <a:r>
              <a:rPr lang="de-DE"/>
              <a:t> Title</a:t>
            </a:r>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70F3-CE90-48C4-9164-61E1D2692451}" type="datetimeFigureOut">
              <a:rPr lang="zh-CN" altLang="en-US" smtClean="0"/>
              <a:t>2026/6/13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6AC9C-B0EC-4E8B-9E2D-F71F05C002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305878"/>
            <a:ext cx="12192000" cy="1015663"/>
          </a:xfrm>
          <a:prstGeom prst="rect">
            <a:avLst/>
          </a:prstGeom>
          <a:noFill/>
        </p:spPr>
        <p:txBody>
          <a:bodyPr wrap="square">
            <a:spAutoFit/>
          </a:bodyPr>
          <a:lstStyle/>
          <a:p>
            <a:r>
              <a:rPr sz="3200" b="1" i="0" dirty="0">
                <a:latin typeface="Aptos"/>
              </a:rPr>
              <a:t>Network Contract Lifecycle Management</a:t>
            </a:r>
          </a:p>
          <a:p>
            <a:r>
              <a:rPr sz="2800" b="1" i="0" dirty="0">
                <a:latin typeface="Aptos"/>
              </a:rPr>
              <a:t>(N‑CLM)</a:t>
            </a:r>
          </a:p>
        </p:txBody>
      </p:sp>
      <p:sp>
        <p:nvSpPr>
          <p:cNvPr id="5" name="TextBox 4"/>
          <p:cNvSpPr txBox="1"/>
          <p:nvPr/>
        </p:nvSpPr>
        <p:spPr>
          <a:xfrm>
            <a:off x="0" y="3833854"/>
            <a:ext cx="8961120" cy="1938992"/>
          </a:xfrm>
          <a:prstGeom prst="rect">
            <a:avLst/>
          </a:prstGeom>
          <a:noFill/>
        </p:spPr>
        <p:txBody>
          <a:bodyPr wrap="square">
            <a:spAutoFit/>
          </a:bodyPr>
          <a:lstStyle/>
          <a:p>
            <a:r>
              <a:rPr sz="3600" b="1" i="0" dirty="0">
                <a:solidFill>
                  <a:srgbClr val="FFFFFF"/>
                </a:solidFill>
                <a:latin typeface="Aptos"/>
              </a:rPr>
              <a:t>Infosys Limited</a:t>
            </a:r>
          </a:p>
          <a:p>
            <a:r>
              <a:rPr sz="2800" b="0" i="0" dirty="0">
                <a:solidFill>
                  <a:srgbClr val="FFFFFF"/>
                </a:solidFill>
                <a:latin typeface="Aptos"/>
              </a:rPr>
              <a:t>Contributors:  @abd-abhisek  |  @bishnu-infy  |  @vijaymurthyn  |  @hemantagogoi-infy</a:t>
            </a:r>
            <a:r>
              <a:rPr lang="en-US" sz="2800" b="0" i="0" dirty="0">
                <a:solidFill>
                  <a:srgbClr val="FFFFFF"/>
                </a:solidFill>
                <a:latin typeface="Aptos"/>
              </a:rPr>
              <a:t> |</a:t>
            </a:r>
            <a:endParaRPr lang="en-US" sz="2800" b="0" i="0" dirty="0">
              <a:solidFill>
                <a:srgbClr val="FFFFFF"/>
              </a:solidFill>
              <a:highlight>
                <a:srgbClr val="FFFF00"/>
              </a:highlight>
              <a:latin typeface="Aptos"/>
            </a:endParaRPr>
          </a:p>
          <a:p>
            <a:r>
              <a:rPr lang="en-US" sz="2800" dirty="0">
                <a:solidFill>
                  <a:schemeClr val="bg1"/>
                </a:solidFill>
                <a:latin typeface="Aptos"/>
              </a:rPr>
              <a:t>pawan.7.kumar@bt.com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a:latin typeface="Aptos"/>
              </a:rPr>
              <a:t>Background — Network Contract Lifecycle Management (N‑CLM)</a:t>
            </a:r>
          </a:p>
        </p:txBody>
      </p:sp>
      <p:sp>
        <p:nvSpPr>
          <p:cNvPr id="4" name="TextBox 3"/>
          <p:cNvSpPr txBox="1"/>
          <p:nvPr/>
        </p:nvSpPr>
        <p:spPr>
          <a:xfrm>
            <a:off x="470211" y="2057400"/>
            <a:ext cx="6583680" cy="3816429"/>
          </a:xfrm>
          <a:prstGeom prst="rect">
            <a:avLst/>
          </a:prstGeom>
          <a:noFill/>
        </p:spPr>
        <p:txBody>
          <a:bodyPr wrap="square">
            <a:spAutoFit/>
          </a:bodyPr>
          <a:lstStyle/>
          <a:p>
            <a:r>
              <a:rPr sz="1600" b="1" i="0" dirty="0">
                <a:solidFill>
                  <a:srgbClr val="002060"/>
                </a:solidFill>
                <a:latin typeface="Aptos"/>
              </a:rPr>
              <a:t>The Problem</a:t>
            </a:r>
          </a:p>
          <a:p>
            <a:r>
              <a:rPr sz="1400" dirty="0">
                <a:latin typeface="Aptos"/>
              </a:rPr>
              <a:t>–  SLA governance for network services today is manual, portal-driven, and operator-specific.</a:t>
            </a:r>
          </a:p>
          <a:p>
            <a:r>
              <a:rPr sz="1400" dirty="0">
                <a:latin typeface="Aptos"/>
              </a:rPr>
              <a:t>–  There is no standard API to bind SLA policies directly to live network service instances (QoD sessions, Dedicated Networks) and evaluate compliance in real time.</a:t>
            </a:r>
          </a:p>
          <a:p>
            <a:r>
              <a:rPr sz="1400" dirty="0">
                <a:latin typeface="Aptos"/>
              </a:rPr>
              <a:t>–  Developers have no programmatic way to know when a network service is violating its SLA — they rely on operator tickets or manual monitoring.</a:t>
            </a:r>
          </a:p>
          <a:p>
            <a:r>
              <a:rPr sz="1400" dirty="0">
                <a:latin typeface="Aptos"/>
              </a:rPr>
              <a:t>–  Contracts exist only as commercial agreements in BSS systems, with no developer-accessible lifecycle or event model.</a:t>
            </a:r>
          </a:p>
          <a:p>
            <a:endParaRPr sz="1400" dirty="0">
              <a:latin typeface="Aptos"/>
            </a:endParaRPr>
          </a:p>
          <a:p>
            <a:r>
              <a:rPr sz="1600" b="1" i="0" dirty="0">
                <a:solidFill>
                  <a:srgbClr val="002060"/>
                </a:solidFill>
                <a:latin typeface="Aptos"/>
              </a:rPr>
              <a:t>What N‑CLM Solves</a:t>
            </a:r>
          </a:p>
          <a:p>
            <a:r>
              <a:rPr sz="1400" dirty="0">
                <a:latin typeface="Aptos"/>
              </a:rPr>
              <a:t>–  A developer-facing API layer that binds measurable SLA policies to running CAMARA service instances.</a:t>
            </a:r>
          </a:p>
          <a:p>
            <a:r>
              <a:rPr sz="1400" dirty="0">
                <a:latin typeface="Aptos"/>
              </a:rPr>
              <a:t>–  Continuous real-time evaluation of network metrics against those policies.</a:t>
            </a:r>
          </a:p>
          <a:p>
            <a:r>
              <a:rPr sz="1400" dirty="0">
                <a:latin typeface="Aptos"/>
              </a:rPr>
              <a:t>–  Instant breach notification via </a:t>
            </a:r>
            <a:r>
              <a:rPr sz="1400" dirty="0" err="1">
                <a:latin typeface="Aptos"/>
              </a:rPr>
              <a:t>CloudEvents</a:t>
            </a:r>
            <a:r>
              <a:rPr sz="1400" dirty="0">
                <a:latin typeface="Aptos"/>
              </a:rPr>
              <a:t> — no polling, no manual intervention.</a:t>
            </a:r>
          </a:p>
          <a:p>
            <a:r>
              <a:rPr sz="1400" dirty="0">
                <a:latin typeface="Aptos"/>
              </a:rPr>
              <a:t>–  Programmatic policy lifecycle: bind, amend thresholds, close — all via REST.</a:t>
            </a:r>
          </a:p>
        </p:txBody>
      </p:sp>
      <p:sp>
        <p:nvSpPr>
          <p:cNvPr id="5" name="TextBox 4"/>
          <p:cNvSpPr txBox="1"/>
          <p:nvPr/>
        </p:nvSpPr>
        <p:spPr>
          <a:xfrm>
            <a:off x="7315200" y="2194560"/>
            <a:ext cx="4663440" cy="1415772"/>
          </a:xfrm>
          <a:prstGeom prst="rect">
            <a:avLst/>
          </a:prstGeom>
          <a:noFill/>
        </p:spPr>
        <p:txBody>
          <a:bodyPr wrap="square">
            <a:spAutoFit/>
          </a:bodyPr>
          <a:lstStyle/>
          <a:p>
            <a:r>
              <a:rPr sz="1600" b="1" i="0" dirty="0">
                <a:solidFill>
                  <a:srgbClr val="002060"/>
                </a:solidFill>
                <a:latin typeface="Aptos"/>
              </a:rPr>
              <a:t>Business Scenario</a:t>
            </a:r>
          </a:p>
          <a:p>
            <a:r>
              <a:rPr sz="1400" b="0" i="0" dirty="0">
                <a:latin typeface="Aptos"/>
              </a:rPr>
              <a:t>Critical enterprise applications — financial trading, healthcare telemetry, autonomous logistics — depend on guaranteed network parameters. Today those guarantees are invisible to the application layer. N‑CLM makes them programmable.</a:t>
            </a:r>
          </a:p>
        </p:txBody>
      </p:sp>
      <p:sp>
        <p:nvSpPr>
          <p:cNvPr id="6" name="TextBox 5"/>
          <p:cNvSpPr txBox="1"/>
          <p:nvPr/>
        </p:nvSpPr>
        <p:spPr>
          <a:xfrm>
            <a:off x="7315200" y="4685109"/>
            <a:ext cx="4663440" cy="984885"/>
          </a:xfrm>
          <a:prstGeom prst="rect">
            <a:avLst/>
          </a:prstGeom>
          <a:noFill/>
        </p:spPr>
        <p:txBody>
          <a:bodyPr wrap="square">
            <a:spAutoFit/>
          </a:bodyPr>
          <a:lstStyle/>
          <a:p>
            <a:r>
              <a:rPr sz="1600" b="1" i="0" dirty="0">
                <a:solidFill>
                  <a:srgbClr val="002060"/>
                </a:solidFill>
                <a:latin typeface="Aptos"/>
              </a:rPr>
              <a:t>Scope Clarification</a:t>
            </a:r>
          </a:p>
          <a:p>
            <a:r>
              <a:rPr sz="1400" b="0" i="0" dirty="0">
                <a:latin typeface="Aptos"/>
              </a:rPr>
              <a:t>N‑CLM is Service-Management, not BSS. It governs developer-visible SLA commitments on live service instances — not billing, pricing, or order-to-cash.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0" dirty="0">
                <a:latin typeface="Aptos"/>
              </a:rPr>
              <a:t>N‑CLM API: High Level Description</a:t>
            </a:r>
          </a:p>
        </p:txBody>
      </p:sp>
      <p:sp>
        <p:nvSpPr>
          <p:cNvPr id="4" name="TextBox 3"/>
          <p:cNvSpPr txBox="1"/>
          <p:nvPr/>
        </p:nvSpPr>
        <p:spPr>
          <a:xfrm>
            <a:off x="457200" y="1920902"/>
            <a:ext cx="7132320" cy="1077218"/>
          </a:xfrm>
          <a:prstGeom prst="rect">
            <a:avLst/>
          </a:prstGeom>
          <a:noFill/>
        </p:spPr>
        <p:txBody>
          <a:bodyPr wrap="square">
            <a:spAutoFit/>
          </a:bodyPr>
          <a:lstStyle/>
          <a:p>
            <a:r>
              <a:rPr sz="1600" b="0" i="0">
                <a:latin typeface="Aptos"/>
              </a:rPr>
              <a:t>N‑CLM is not traditional BSS contract management (billing, pricing, order-to-cash). It is a network-aware, real-time programmatic API that binds measurable SLA parameters directly to a live CAMARA service instance and evaluates compliance continuously.</a:t>
            </a:r>
          </a:p>
        </p:txBody>
      </p:sp>
      <p:sp>
        <p:nvSpPr>
          <p:cNvPr id="5" name="TextBox 4"/>
          <p:cNvSpPr txBox="1"/>
          <p:nvPr/>
        </p:nvSpPr>
        <p:spPr>
          <a:xfrm>
            <a:off x="457200" y="3047999"/>
            <a:ext cx="7132320" cy="2585323"/>
          </a:xfrm>
          <a:prstGeom prst="rect">
            <a:avLst/>
          </a:prstGeom>
          <a:noFill/>
        </p:spPr>
        <p:txBody>
          <a:bodyPr wrap="square">
            <a:spAutoFit/>
          </a:bodyPr>
          <a:lstStyle/>
          <a:p>
            <a:r>
              <a:rPr b="1" i="0" dirty="0">
                <a:solidFill>
                  <a:srgbClr val="002060"/>
                </a:solidFill>
                <a:latin typeface="Aptos"/>
              </a:rPr>
              <a:t>Core Capabilities</a:t>
            </a:r>
          </a:p>
          <a:p>
            <a:r>
              <a:rPr sz="1600" b="1" dirty="0">
                <a:solidFill>
                  <a:srgbClr val="002060"/>
                </a:solidFill>
                <a:latin typeface="Aptos"/>
              </a:rPr>
              <a:t>  Bind:  </a:t>
            </a:r>
            <a:r>
              <a:rPr sz="1600" dirty="0">
                <a:latin typeface="Aptos"/>
              </a:rPr>
              <a:t>Attach an SLA policy (latency, bandwidth, availability thresholds) to a specific CAMARA service resource via its resource ID.</a:t>
            </a:r>
          </a:p>
          <a:p>
            <a:r>
              <a:rPr sz="1600" b="1" dirty="0">
                <a:solidFill>
                  <a:srgbClr val="002060"/>
                </a:solidFill>
                <a:latin typeface="Aptos"/>
              </a:rPr>
              <a:t>  Evaluate:  </a:t>
            </a:r>
            <a:r>
              <a:rPr sz="1600" dirty="0">
                <a:latin typeface="Aptos"/>
              </a:rPr>
              <a:t>Continuously compare live network metrics against the bound policy in real time, using operator telemetry (e.g. CQM).</a:t>
            </a:r>
          </a:p>
          <a:p>
            <a:r>
              <a:rPr sz="1600" b="1" dirty="0">
                <a:solidFill>
                  <a:srgbClr val="002060"/>
                </a:solidFill>
                <a:latin typeface="Aptos"/>
              </a:rPr>
              <a:t>  Notify:  </a:t>
            </a:r>
            <a:r>
              <a:rPr sz="1600" dirty="0">
                <a:latin typeface="Aptos"/>
              </a:rPr>
              <a:t>Send an instant </a:t>
            </a:r>
            <a:r>
              <a:rPr sz="1600" dirty="0" err="1">
                <a:latin typeface="Aptos"/>
              </a:rPr>
              <a:t>CloudEvent</a:t>
            </a:r>
            <a:r>
              <a:rPr sz="1600" dirty="0">
                <a:latin typeface="Aptos"/>
              </a:rPr>
              <a:t> to the developer on breach — includes metric name, threshold, actual value, and timestamp.</a:t>
            </a:r>
          </a:p>
          <a:p>
            <a:r>
              <a:rPr sz="1600" b="1" dirty="0">
                <a:solidFill>
                  <a:srgbClr val="002060"/>
                </a:solidFill>
                <a:latin typeface="Aptos"/>
              </a:rPr>
              <a:t>  Amend:  </a:t>
            </a:r>
            <a:r>
              <a:rPr sz="1600" dirty="0">
                <a:latin typeface="Aptos"/>
              </a:rPr>
              <a:t>PATCH thresholds mid-term without re-provisioning the underlying service.</a:t>
            </a:r>
          </a:p>
          <a:p>
            <a:r>
              <a:rPr sz="1600" b="1" dirty="0">
                <a:solidFill>
                  <a:srgbClr val="002060"/>
                </a:solidFill>
                <a:latin typeface="Aptos"/>
              </a:rPr>
              <a:t>  Close:  </a:t>
            </a:r>
            <a:r>
              <a:rPr sz="1600" dirty="0">
                <a:latin typeface="Aptos"/>
              </a:rPr>
              <a:t>DELETE the policy when the SLA governance period ends.</a:t>
            </a:r>
          </a:p>
        </p:txBody>
      </p:sp>
      <p:sp>
        <p:nvSpPr>
          <p:cNvPr id="6" name="TextBox 5"/>
          <p:cNvSpPr txBox="1"/>
          <p:nvPr/>
        </p:nvSpPr>
        <p:spPr>
          <a:xfrm>
            <a:off x="7732644" y="1859279"/>
            <a:ext cx="4206240" cy="1631216"/>
          </a:xfrm>
          <a:prstGeom prst="rect">
            <a:avLst/>
          </a:prstGeom>
          <a:noFill/>
        </p:spPr>
        <p:txBody>
          <a:bodyPr wrap="square">
            <a:spAutoFit/>
          </a:bodyPr>
          <a:lstStyle/>
          <a:p>
            <a:r>
              <a:rPr sz="1600" b="1" i="0" dirty="0">
                <a:solidFill>
                  <a:srgbClr val="002060"/>
                </a:solidFill>
                <a:latin typeface="Aptos"/>
              </a:rPr>
              <a:t>What N‑CLM Is NOT</a:t>
            </a:r>
          </a:p>
          <a:p>
            <a:r>
              <a:rPr sz="1400" dirty="0">
                <a:latin typeface="Aptos"/>
              </a:rPr>
              <a:t>–  BSS/commercial contract management</a:t>
            </a:r>
          </a:p>
          <a:p>
            <a:r>
              <a:rPr sz="1400" dirty="0">
                <a:latin typeface="Aptos"/>
              </a:rPr>
              <a:t>–  Network assurance or telemetry collection</a:t>
            </a:r>
          </a:p>
          <a:p>
            <a:r>
              <a:rPr sz="1400" dirty="0">
                <a:latin typeface="Aptos"/>
              </a:rPr>
              <a:t>–  A </a:t>
            </a:r>
            <a:r>
              <a:rPr sz="1400" dirty="0" err="1">
                <a:latin typeface="Aptos"/>
              </a:rPr>
              <a:t>DeviceLocation</a:t>
            </a:r>
            <a:r>
              <a:rPr sz="1400" dirty="0">
                <a:latin typeface="Aptos"/>
              </a:rPr>
              <a:t> or QoS enhancement</a:t>
            </a:r>
          </a:p>
          <a:p>
            <a:r>
              <a:rPr sz="1400" dirty="0">
                <a:latin typeface="Aptos"/>
              </a:rPr>
              <a:t>–  A duplication of CQM — it consumes CQM metrics; it does not replace them</a:t>
            </a:r>
          </a:p>
          <a:p>
            <a:r>
              <a:rPr sz="1400" dirty="0">
                <a:latin typeface="Aptos"/>
              </a:rPr>
              <a:t>–  Free-floating contracts with no service binding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a:latin typeface="Aptos"/>
              </a:rPr>
              <a:t>User Story</a:t>
            </a:r>
          </a:p>
        </p:txBody>
      </p:sp>
      <p:sp>
        <p:nvSpPr>
          <p:cNvPr id="3" name="Content Placeholder 2"/>
          <p:cNvSpPr>
            <a:spLocks noGrp="1"/>
          </p:cNvSpPr>
          <p:nvPr>
            <p:ph sz="quarter" idx="10"/>
          </p:nvPr>
        </p:nvSpPr>
        <p:spPr/>
        <p:txBody>
          <a:bodyPr/>
          <a:lstStyle/>
          <a:p>
            <a:endParaRPr/>
          </a:p>
        </p:txBody>
      </p:sp>
      <p:graphicFrame>
        <p:nvGraphicFramePr>
          <p:cNvPr id="4" name="Table 3"/>
          <p:cNvGraphicFramePr>
            <a:graphicFrameLocks noGrp="1"/>
          </p:cNvGraphicFramePr>
          <p:nvPr/>
        </p:nvGraphicFramePr>
        <p:xfrm>
          <a:off x="457200" y="1417320"/>
          <a:ext cx="11430000" cy="50825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418320">
                  <a:extLst>
                    <a:ext uri="{9D8B030D-6E8A-4147-A177-3AD203B41FA5}">
                      <a16:colId xmlns:a16="http://schemas.microsoft.com/office/drawing/2014/main" val="20001"/>
                    </a:ext>
                  </a:extLst>
                </a:gridCol>
              </a:tblGrid>
              <a:tr h="1257300">
                <a:tc>
                  <a:txBody>
                    <a:bodyPr/>
                    <a:lstStyle/>
                    <a:p>
                      <a:r>
                        <a:rPr sz="1100" b="1">
                          <a:solidFill>
                            <a:srgbClr val="FFFFFF"/>
                          </a:solidFill>
                          <a:latin typeface="Aptos"/>
                        </a:rPr>
                        <a:t>Item</a:t>
                      </a:r>
                    </a:p>
                  </a:txBody>
                  <a:tcPr>
                    <a:solidFill>
                      <a:srgbClr val="002060"/>
                    </a:solidFill>
                  </a:tcPr>
                </a:tc>
                <a:tc>
                  <a:txBody>
                    <a:bodyPr/>
                    <a:lstStyle/>
                    <a:p>
                      <a:r>
                        <a:rPr sz="1100" b="1">
                          <a:solidFill>
                            <a:srgbClr val="FFFFFF"/>
                          </a:solidFill>
                          <a:latin typeface="Aptos"/>
                        </a:rPr>
                        <a:t>Details</a:t>
                      </a:r>
                    </a:p>
                  </a:txBody>
                  <a:tcPr>
                    <a:solidFill>
                      <a:srgbClr val="002060"/>
                    </a:solidFill>
                  </a:tcPr>
                </a:tc>
                <a:extLst>
                  <a:ext uri="{0D108BD9-81ED-4DB2-BD59-A6C34878D82A}">
                    <a16:rowId xmlns:a16="http://schemas.microsoft.com/office/drawing/2014/main" val="10000"/>
                  </a:ext>
                </a:extLst>
              </a:tr>
              <a:tr h="1257300">
                <a:tc>
                  <a:txBody>
                    <a:bodyPr/>
                    <a:lstStyle/>
                    <a:p>
                      <a:r>
                        <a:rPr sz="1000" b="0" dirty="0">
                          <a:latin typeface="Aptos"/>
                        </a:rPr>
                        <a:t>Summary</a:t>
                      </a:r>
                    </a:p>
                  </a:txBody>
                  <a:tcPr/>
                </a:tc>
                <a:tc>
                  <a:txBody>
                    <a:bodyPr/>
                    <a:lstStyle/>
                    <a:p>
                      <a:r>
                        <a:rPr sz="1000" b="0">
                          <a:latin typeface="Aptos"/>
                        </a:rPr>
                        <a:t>As an application developer or enterprise customer, I want to bind measurable SLA policies (latency, bandwidth, availability) to a live CAMARA network service instance — and receive an instant, programmatic notification when any parameter is breached — so that my application can react autonomously without manual monitoring or operator intervention.</a:t>
                      </a:r>
                    </a:p>
                  </a:txBody>
                  <a:tcPr/>
                </a:tc>
                <a:extLst>
                  <a:ext uri="{0D108BD9-81ED-4DB2-BD59-A6C34878D82A}">
                    <a16:rowId xmlns:a16="http://schemas.microsoft.com/office/drawing/2014/main" val="10001"/>
                  </a:ext>
                </a:extLst>
              </a:tr>
              <a:tr h="1257300">
                <a:tc>
                  <a:txBody>
                    <a:bodyPr/>
                    <a:lstStyle/>
                    <a:p>
                      <a:r>
                        <a:rPr sz="1000" b="0">
                          <a:latin typeface="Aptos"/>
                        </a:rPr>
                        <a:t>Roles, Actors and Scope</a:t>
                      </a:r>
                    </a:p>
                  </a:txBody>
                  <a:tcPr/>
                </a:tc>
                <a:tc>
                  <a:txBody>
                    <a:bodyPr/>
                    <a:lstStyle/>
                    <a:p>
                      <a:r>
                        <a:rPr sz="1000" b="0">
                          <a:latin typeface="Aptos"/>
                        </a:rPr>
                        <a:t>Roles:  Enterprise Customer, Application Developer
Actors:  Application developers, enterprise platform teams, network operations teams, industry customers (financial services, healthcare, autonomous logistics, critical infrastructure)
Scope:
  Policy bind  (POST /policies) — Attach a multi-metric SLA policy to a running CAMARA service instance (QoD session or Dedicated Network reservation)
  Breach notification  (CloudEvent webhook) — Receive SLA_BREACH events with metric, threshold, actual value, and timestamp
  Policy amend  (PATCH /policies/{policyId}) — Tighten or relax thresholds mid-term without re-provisioning the underlying service
  Policy close  (DELETE /policies/{policyId}) — Terminate the SLA governance period</a:t>
                      </a:r>
                    </a:p>
                  </a:txBody>
                  <a:tcPr/>
                </a:tc>
                <a:extLst>
                  <a:ext uri="{0D108BD9-81ED-4DB2-BD59-A6C34878D82A}">
                    <a16:rowId xmlns:a16="http://schemas.microsoft.com/office/drawing/2014/main" val="10002"/>
                  </a:ext>
                </a:extLst>
              </a:tr>
              <a:tr h="1257300">
                <a:tc>
                  <a:txBody>
                    <a:bodyPr/>
                    <a:lstStyle/>
                    <a:p>
                      <a:r>
                        <a:rPr sz="1000" b="0">
                          <a:latin typeface="Aptos"/>
                        </a:rPr>
                        <a:t>Activities / Steps</a:t>
                      </a:r>
                    </a:p>
                  </a:txBody>
                  <a:tcPr/>
                </a:tc>
                <a:tc>
                  <a:txBody>
                    <a:bodyPr/>
                    <a:lstStyle/>
                    <a:p>
                      <a:r>
                        <a:rPr sz="1000" b="0" dirty="0">
                          <a:latin typeface="Aptos"/>
                        </a:rPr>
                        <a:t>Starts when:  The developer application server makes a POST /policies request — including the CAMARA </a:t>
                      </a:r>
                      <a:r>
                        <a:rPr sz="1000" b="0" dirty="0" err="1">
                          <a:latin typeface="Aptos"/>
                        </a:rPr>
                        <a:t>serviceInstanceId</a:t>
                      </a:r>
                      <a:r>
                        <a:rPr sz="1000" b="0" dirty="0">
                          <a:latin typeface="Aptos"/>
                        </a:rPr>
                        <a:t>, one or more metric thresholds, and an optional webhook URL — to the N‑CLM API, which validates the service binding and activates continuous compliance evaluation.
During:  N‑CLM continuously compares live operator telemetry (via CQM) against the bound policy. On any threshold breach, it emits a </a:t>
                      </a:r>
                      <a:r>
                        <a:rPr sz="1000" b="0" dirty="0" err="1">
                          <a:latin typeface="Aptos"/>
                        </a:rPr>
                        <a:t>CloudEvent</a:t>
                      </a:r>
                      <a:r>
                        <a:rPr sz="1000" b="0" dirty="0">
                          <a:latin typeface="Aptos"/>
                        </a:rPr>
                        <a:t> SLA_BREACH to the registered webhook with full breach context.
Optionally:  The developer </a:t>
                      </a:r>
                      <a:r>
                        <a:rPr sz="1000" b="0" dirty="0" err="1">
                          <a:latin typeface="Aptos"/>
                        </a:rPr>
                        <a:t>PATCHes</a:t>
                      </a:r>
                      <a:r>
                        <a:rPr sz="1000" b="0" dirty="0">
                          <a:latin typeface="Aptos"/>
                        </a:rPr>
                        <a:t> the active policy to amend thresholds at any point in the policy lifecycle without service interruption.
Ends when:  The developer sends DELETE /policies/{</a:t>
                      </a:r>
                      <a:r>
                        <a:rPr sz="1000" b="0" dirty="0" err="1">
                          <a:latin typeface="Aptos"/>
                        </a:rPr>
                        <a:t>policyId</a:t>
                      </a:r>
                      <a:r>
                        <a:rPr sz="1000" b="0" dirty="0">
                          <a:latin typeface="Aptos"/>
                        </a:rPr>
                        <a:t>}, or the policy reaches its configured expiry time.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15ED-53E2-669A-C62F-F0B6BBF0E1CF}"/>
              </a:ext>
            </a:extLst>
          </p:cNvPr>
          <p:cNvSpPr>
            <a:spLocks noGrp="1"/>
          </p:cNvSpPr>
          <p:nvPr>
            <p:ph type="title"/>
          </p:nvPr>
        </p:nvSpPr>
        <p:spPr/>
        <p:txBody>
          <a:bodyPr>
            <a:normAutofit/>
          </a:bodyPr>
          <a:lstStyle/>
          <a:p>
            <a:r>
              <a:rPr lang="en-US" sz="3600" b="1" dirty="0">
                <a:solidFill>
                  <a:schemeClr val="tx1"/>
                </a:solidFill>
              </a:rPr>
              <a:t>Architecture</a:t>
            </a:r>
          </a:p>
        </p:txBody>
      </p:sp>
      <p:pic>
        <p:nvPicPr>
          <p:cNvPr id="5" name="Picture 4">
            <a:extLst>
              <a:ext uri="{FF2B5EF4-FFF2-40B4-BE49-F238E27FC236}">
                <a16:creationId xmlns:a16="http://schemas.microsoft.com/office/drawing/2014/main" id="{D3BB72C0-5806-C7C1-FA70-C05B5A3B7423}"/>
              </a:ext>
            </a:extLst>
          </p:cNvPr>
          <p:cNvPicPr>
            <a:picLocks noChangeAspect="1"/>
          </p:cNvPicPr>
          <p:nvPr/>
        </p:nvPicPr>
        <p:blipFill>
          <a:blip r:embed="rId2"/>
          <a:stretch>
            <a:fillRect/>
          </a:stretch>
        </p:blipFill>
        <p:spPr>
          <a:xfrm>
            <a:off x="1842052" y="1266567"/>
            <a:ext cx="8294774" cy="5340076"/>
          </a:xfrm>
          <a:prstGeom prst="rect">
            <a:avLst/>
          </a:prstGeom>
        </p:spPr>
      </p:pic>
    </p:spTree>
    <p:extLst>
      <p:ext uri="{BB962C8B-B14F-4D97-AF65-F5344CB8AC3E}">
        <p14:creationId xmlns:p14="http://schemas.microsoft.com/office/powerpoint/2010/main" val="110177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a:latin typeface="Aptos"/>
              </a:rPr>
              <a:t>Novelty Gap — N‑CLM vs Existing CAMARA APIs</a:t>
            </a:r>
          </a:p>
        </p:txBody>
      </p:sp>
      <p:sp>
        <p:nvSpPr>
          <p:cNvPr id="3" name="Content Placeholder 2"/>
          <p:cNvSpPr>
            <a:spLocks noGrp="1"/>
          </p:cNvSpPr>
          <p:nvPr>
            <p:ph sz="quarter" idx="10"/>
          </p:nvPr>
        </p:nvSpPr>
        <p:spPr/>
        <p:txBody>
          <a:bodyPr/>
          <a:lstStyle/>
          <a:p>
            <a:endParaRPr/>
          </a:p>
        </p:txBody>
      </p:sp>
      <p:sp>
        <p:nvSpPr>
          <p:cNvPr id="4" name="TextBox 3"/>
          <p:cNvSpPr txBox="1"/>
          <p:nvPr/>
        </p:nvSpPr>
        <p:spPr>
          <a:xfrm>
            <a:off x="457200" y="1417320"/>
            <a:ext cx="11430000" cy="411480"/>
          </a:xfrm>
          <a:prstGeom prst="rect">
            <a:avLst/>
          </a:prstGeom>
          <a:noFill/>
        </p:spPr>
        <p:txBody>
          <a:bodyPr wrap="square">
            <a:spAutoFit/>
          </a:bodyPr>
          <a:lstStyle/>
          <a:p>
            <a:r>
              <a:rPr sz="1300" b="1" i="0">
                <a:solidFill>
                  <a:srgbClr val="002060"/>
                </a:solidFill>
                <a:latin typeface="Aptos"/>
              </a:rPr>
              <a:t>QoD requests quality. CQM observes quality. N‑CLM governs quality.</a:t>
            </a:r>
          </a:p>
        </p:txBody>
      </p:sp>
      <p:graphicFrame>
        <p:nvGraphicFramePr>
          <p:cNvPr id="5" name="Table 4"/>
          <p:cNvGraphicFramePr>
            <a:graphicFrameLocks noGrp="1"/>
          </p:cNvGraphicFramePr>
          <p:nvPr/>
        </p:nvGraphicFramePr>
        <p:xfrm>
          <a:off x="457200" y="1920240"/>
          <a:ext cx="11429999" cy="3931920"/>
        </p:xfrm>
        <a:graphic>
          <a:graphicData uri="http://schemas.openxmlformats.org/drawingml/2006/table">
            <a:tbl>
              <a:tblPr firstRow="1" bandRow="1">
                <a:tableStyleId>{5C22544A-7EE6-4342-B048-85BDC9FD1C3A}</a:tableStyleId>
              </a:tblPr>
              <a:tblGrid>
                <a:gridCol w="42862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19074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91490">
                <a:tc>
                  <a:txBody>
                    <a:bodyPr/>
                    <a:lstStyle/>
                    <a:p>
                      <a:r>
                        <a:rPr sz="1000" b="1">
                          <a:solidFill>
                            <a:srgbClr val="FFFFFF"/>
                          </a:solidFill>
                          <a:latin typeface="Aptos"/>
                        </a:rPr>
                        <a:t>Capability</a:t>
                      </a:r>
                    </a:p>
                  </a:txBody>
                  <a:tcPr>
                    <a:solidFill>
                      <a:srgbClr val="002060"/>
                    </a:solidFill>
                  </a:tcPr>
                </a:tc>
                <a:tc>
                  <a:txBody>
                    <a:bodyPr/>
                    <a:lstStyle/>
                    <a:p>
                      <a:r>
                        <a:rPr sz="1000" b="1">
                          <a:solidFill>
                            <a:srgbClr val="FFFFFF"/>
                          </a:solidFill>
                          <a:latin typeface="Aptos"/>
                        </a:rPr>
                        <a:t>QoD / Dedicated Networks</a:t>
                      </a:r>
                    </a:p>
                  </a:txBody>
                  <a:tcPr>
                    <a:solidFill>
                      <a:srgbClr val="002060"/>
                    </a:solidFill>
                  </a:tcPr>
                </a:tc>
                <a:tc>
                  <a:txBody>
                    <a:bodyPr/>
                    <a:lstStyle/>
                    <a:p>
                      <a:r>
                        <a:rPr sz="1000" b="1">
                          <a:solidFill>
                            <a:srgbClr val="FFFFFF"/>
                          </a:solidFill>
                          <a:latin typeface="Aptos"/>
                        </a:rPr>
                        <a:t>CQM</a:t>
                      </a:r>
                    </a:p>
                  </a:txBody>
                  <a:tcPr>
                    <a:solidFill>
                      <a:srgbClr val="002060"/>
                    </a:solidFill>
                  </a:tcPr>
                </a:tc>
                <a:tc>
                  <a:txBody>
                    <a:bodyPr/>
                    <a:lstStyle/>
                    <a:p>
                      <a:r>
                        <a:rPr sz="1000" b="1">
                          <a:solidFill>
                            <a:srgbClr val="FFFFFF"/>
                          </a:solidFill>
                          <a:latin typeface="Aptos"/>
                        </a:rPr>
                        <a:t>N‑CLM</a:t>
                      </a:r>
                    </a:p>
                  </a:txBody>
                  <a:tcPr>
                    <a:solidFill>
                      <a:srgbClr val="002060"/>
                    </a:solidFill>
                  </a:tcPr>
                </a:tc>
                <a:extLst>
                  <a:ext uri="{0D108BD9-81ED-4DB2-BD59-A6C34878D82A}">
                    <a16:rowId xmlns:a16="http://schemas.microsoft.com/office/drawing/2014/main" val="10000"/>
                  </a:ext>
                </a:extLst>
              </a:tr>
              <a:tr h="491490">
                <a:tc>
                  <a:txBody>
                    <a:bodyPr/>
                    <a:lstStyle/>
                    <a:p>
                      <a:r>
                        <a:rPr sz="1000" b="0">
                          <a:latin typeface="Aptos"/>
                        </a:rPr>
                        <a:t>Request a QoS level for a session</a:t>
                      </a:r>
                    </a:p>
                  </a:txBody>
                  <a:tcPr/>
                </a:tc>
                <a:tc>
                  <a:txBody>
                    <a:bodyPr/>
                    <a:lstStyle/>
                    <a:p>
                      <a:r>
                        <a:rPr sz="1000" b="0">
                          <a:latin typeface="Aptos"/>
                        </a:rPr>
                        <a:t>Yes</a:t>
                      </a:r>
                    </a:p>
                  </a:txBody>
                  <a:tcPr/>
                </a:tc>
                <a:tc>
                  <a:txBody>
                    <a:bodyPr/>
                    <a:lstStyle/>
                    <a:p>
                      <a:r>
                        <a:rPr sz="1000" b="0">
                          <a:latin typeface="Aptos"/>
                        </a:rPr>
                        <a:t>No</a:t>
                      </a:r>
                    </a:p>
                  </a:txBody>
                  <a:tcPr/>
                </a:tc>
                <a:tc>
                  <a:txBody>
                    <a:bodyPr/>
                    <a:lstStyle/>
                    <a:p>
                      <a:r>
                        <a:rPr sz="1000" b="0">
                          <a:latin typeface="Aptos"/>
                        </a:rPr>
                        <a:t>No</a:t>
                      </a:r>
                    </a:p>
                  </a:txBody>
                  <a:tcPr/>
                </a:tc>
                <a:extLst>
                  <a:ext uri="{0D108BD9-81ED-4DB2-BD59-A6C34878D82A}">
                    <a16:rowId xmlns:a16="http://schemas.microsoft.com/office/drawing/2014/main" val="10001"/>
                  </a:ext>
                </a:extLst>
              </a:tr>
              <a:tr h="491490">
                <a:tc>
                  <a:txBody>
                    <a:bodyPr/>
                    <a:lstStyle/>
                    <a:p>
                      <a:r>
                        <a:rPr sz="1000" b="0">
                          <a:latin typeface="Aptos"/>
                        </a:rPr>
                        <a:t>Observe live network metrics / telemetry</a:t>
                      </a:r>
                    </a:p>
                  </a:txBody>
                  <a:tcPr>
                    <a:solidFill>
                      <a:srgbClr val="F2F2F2"/>
                    </a:solidFill>
                  </a:tcPr>
                </a:tc>
                <a:tc>
                  <a:txBody>
                    <a:bodyPr/>
                    <a:lstStyle/>
                    <a:p>
                      <a:r>
                        <a:rPr sz="1000" b="0">
                          <a:latin typeface="Aptos"/>
                        </a:rPr>
                        <a:t>No</a:t>
                      </a:r>
                    </a:p>
                  </a:txBody>
                  <a:tcPr>
                    <a:solidFill>
                      <a:srgbClr val="F2F2F2"/>
                    </a:solidFill>
                  </a:tcPr>
                </a:tc>
                <a:tc>
                  <a:txBody>
                    <a:bodyPr/>
                    <a:lstStyle/>
                    <a:p>
                      <a:r>
                        <a:rPr sz="1000" b="0">
                          <a:latin typeface="Aptos"/>
                        </a:rPr>
                        <a:t>Yes</a:t>
                      </a:r>
                    </a:p>
                  </a:txBody>
                  <a:tcPr>
                    <a:solidFill>
                      <a:srgbClr val="F2F2F2"/>
                    </a:solidFill>
                  </a:tcPr>
                </a:tc>
                <a:tc>
                  <a:txBody>
                    <a:bodyPr/>
                    <a:lstStyle/>
                    <a:p>
                      <a:r>
                        <a:rPr sz="1000" b="0">
                          <a:latin typeface="Aptos"/>
                        </a:rPr>
                        <a:t>Consumes only</a:t>
                      </a:r>
                    </a:p>
                  </a:txBody>
                  <a:tcPr>
                    <a:solidFill>
                      <a:srgbClr val="F2F2F2"/>
                    </a:solidFill>
                  </a:tcPr>
                </a:tc>
                <a:extLst>
                  <a:ext uri="{0D108BD9-81ED-4DB2-BD59-A6C34878D82A}">
                    <a16:rowId xmlns:a16="http://schemas.microsoft.com/office/drawing/2014/main" val="10002"/>
                  </a:ext>
                </a:extLst>
              </a:tr>
              <a:tr h="491490">
                <a:tc>
                  <a:txBody>
                    <a:bodyPr/>
                    <a:lstStyle/>
                    <a:p>
                      <a:r>
                        <a:rPr sz="1000" b="0">
                          <a:latin typeface="Aptos"/>
                        </a:rPr>
                        <a:t>Bind a multi-metric SLA policy to a service instance</a:t>
                      </a:r>
                    </a:p>
                  </a:txBody>
                  <a:tcPr/>
                </a:tc>
                <a:tc>
                  <a:txBody>
                    <a:bodyPr/>
                    <a:lstStyle/>
                    <a:p>
                      <a:r>
                        <a:rPr sz="1000" b="0">
                          <a:latin typeface="Aptos"/>
                        </a:rPr>
                        <a:t>No</a:t>
                      </a:r>
                    </a:p>
                  </a:txBody>
                  <a:tcPr/>
                </a:tc>
                <a:tc>
                  <a:txBody>
                    <a:bodyPr/>
                    <a:lstStyle/>
                    <a:p>
                      <a:r>
                        <a:rPr sz="1000" b="0">
                          <a:latin typeface="Aptos"/>
                        </a:rPr>
                        <a:t>No</a:t>
                      </a:r>
                    </a:p>
                  </a:txBody>
                  <a:tcPr/>
                </a:tc>
                <a:tc>
                  <a:txBody>
                    <a:bodyPr/>
                    <a:lstStyle/>
                    <a:p>
                      <a:r>
                        <a:rPr sz="1000" b="0">
                          <a:latin typeface="Aptos"/>
                        </a:rPr>
                        <a:t>Yes</a:t>
                      </a:r>
                    </a:p>
                  </a:txBody>
                  <a:tcPr/>
                </a:tc>
                <a:extLst>
                  <a:ext uri="{0D108BD9-81ED-4DB2-BD59-A6C34878D82A}">
                    <a16:rowId xmlns:a16="http://schemas.microsoft.com/office/drawing/2014/main" val="10003"/>
                  </a:ext>
                </a:extLst>
              </a:tr>
              <a:tr h="491490">
                <a:tc>
                  <a:txBody>
                    <a:bodyPr/>
                    <a:lstStyle/>
                    <a:p>
                      <a:r>
                        <a:rPr sz="1000" b="0">
                          <a:latin typeface="Aptos"/>
                        </a:rPr>
                        <a:t>Continuous compliance evaluation against that policy</a:t>
                      </a:r>
                    </a:p>
                  </a:txBody>
                  <a:tcPr>
                    <a:solidFill>
                      <a:srgbClr val="F2F2F2"/>
                    </a:solidFill>
                  </a:tcPr>
                </a:tc>
                <a:tc>
                  <a:txBody>
                    <a:bodyPr/>
                    <a:lstStyle/>
                    <a:p>
                      <a:r>
                        <a:rPr sz="1000" b="0">
                          <a:latin typeface="Aptos"/>
                        </a:rPr>
                        <a:t>No</a:t>
                      </a:r>
                    </a:p>
                  </a:txBody>
                  <a:tcPr>
                    <a:solidFill>
                      <a:srgbClr val="F2F2F2"/>
                    </a:solidFill>
                  </a:tcPr>
                </a:tc>
                <a:tc>
                  <a:txBody>
                    <a:bodyPr/>
                    <a:lstStyle/>
                    <a:p>
                      <a:r>
                        <a:rPr sz="1000" b="0">
                          <a:latin typeface="Aptos"/>
                        </a:rPr>
                        <a:t>No</a:t>
                      </a:r>
                    </a:p>
                  </a:txBody>
                  <a:tcPr>
                    <a:solidFill>
                      <a:srgbClr val="F2F2F2"/>
                    </a:solidFill>
                  </a:tcPr>
                </a:tc>
                <a:tc>
                  <a:txBody>
                    <a:bodyPr/>
                    <a:lstStyle/>
                    <a:p>
                      <a:r>
                        <a:rPr sz="1000" b="0">
                          <a:latin typeface="Aptos"/>
                        </a:rPr>
                        <a:t>Yes</a:t>
                      </a:r>
                    </a:p>
                  </a:txBody>
                  <a:tcPr>
                    <a:solidFill>
                      <a:srgbClr val="F2F2F2"/>
                    </a:solidFill>
                  </a:tcPr>
                </a:tc>
                <a:extLst>
                  <a:ext uri="{0D108BD9-81ED-4DB2-BD59-A6C34878D82A}">
                    <a16:rowId xmlns:a16="http://schemas.microsoft.com/office/drawing/2014/main" val="10004"/>
                  </a:ext>
                </a:extLst>
              </a:tr>
              <a:tr h="491490">
                <a:tc>
                  <a:txBody>
                    <a:bodyPr/>
                    <a:lstStyle/>
                    <a:p>
                      <a:r>
                        <a:rPr sz="1000" b="0">
                          <a:latin typeface="Aptos"/>
                        </a:rPr>
                        <a:t>Breach notification (metric + threshold + timestamp)</a:t>
                      </a:r>
                    </a:p>
                  </a:txBody>
                  <a:tcPr/>
                </a:tc>
                <a:tc>
                  <a:txBody>
                    <a:bodyPr/>
                    <a:lstStyle/>
                    <a:p>
                      <a:r>
                        <a:rPr sz="1000" b="0">
                          <a:latin typeface="Aptos"/>
                        </a:rPr>
                        <a:t>No — no SLA verdict</a:t>
                      </a:r>
                    </a:p>
                  </a:txBody>
                  <a:tcPr/>
                </a:tc>
                <a:tc>
                  <a:txBody>
                    <a:bodyPr/>
                    <a:lstStyle/>
                    <a:p>
                      <a:r>
                        <a:rPr sz="1000" b="0">
                          <a:latin typeface="Aptos"/>
                        </a:rPr>
                        <a:t>No — raw data, no policy</a:t>
                      </a:r>
                    </a:p>
                  </a:txBody>
                  <a:tcPr/>
                </a:tc>
                <a:tc>
                  <a:txBody>
                    <a:bodyPr/>
                    <a:lstStyle/>
                    <a:p>
                      <a:r>
                        <a:rPr sz="1000" b="0">
                          <a:latin typeface="Aptos"/>
                        </a:rPr>
                        <a:t>Yes — CloudEvent</a:t>
                      </a:r>
                    </a:p>
                  </a:txBody>
                  <a:tcPr/>
                </a:tc>
                <a:extLst>
                  <a:ext uri="{0D108BD9-81ED-4DB2-BD59-A6C34878D82A}">
                    <a16:rowId xmlns:a16="http://schemas.microsoft.com/office/drawing/2014/main" val="10005"/>
                  </a:ext>
                </a:extLst>
              </a:tr>
              <a:tr h="491490">
                <a:tc>
                  <a:txBody>
                    <a:bodyPr/>
                    <a:lstStyle/>
                    <a:p>
                      <a:r>
                        <a:rPr sz="1000" b="0">
                          <a:latin typeface="Aptos"/>
                        </a:rPr>
                        <a:t>Amend thresholds mid-term without re-provisioning</a:t>
                      </a:r>
                    </a:p>
                  </a:txBody>
                  <a:tcPr>
                    <a:solidFill>
                      <a:srgbClr val="F2F2F2"/>
                    </a:solidFill>
                  </a:tcPr>
                </a:tc>
                <a:tc>
                  <a:txBody>
                    <a:bodyPr/>
                    <a:lstStyle/>
                    <a:p>
                      <a:r>
                        <a:rPr sz="1000" b="0">
                          <a:latin typeface="Aptos"/>
                        </a:rPr>
                        <a:t>No — reprovision needed</a:t>
                      </a:r>
                    </a:p>
                  </a:txBody>
                  <a:tcPr>
                    <a:solidFill>
                      <a:srgbClr val="F2F2F2"/>
                    </a:solidFill>
                  </a:tcPr>
                </a:tc>
                <a:tc>
                  <a:txBody>
                    <a:bodyPr/>
                    <a:lstStyle/>
                    <a:p>
                      <a:r>
                        <a:rPr sz="1000" b="0">
                          <a:latin typeface="Aptos"/>
                        </a:rPr>
                        <a:t>Not applicable</a:t>
                      </a:r>
                    </a:p>
                  </a:txBody>
                  <a:tcPr>
                    <a:solidFill>
                      <a:srgbClr val="F2F2F2"/>
                    </a:solidFill>
                  </a:tcPr>
                </a:tc>
                <a:tc>
                  <a:txBody>
                    <a:bodyPr/>
                    <a:lstStyle/>
                    <a:p>
                      <a:r>
                        <a:rPr sz="1000" b="0">
                          <a:latin typeface="Aptos"/>
                        </a:rPr>
                        <a:t>Yes — PATCH</a:t>
                      </a:r>
                    </a:p>
                  </a:txBody>
                  <a:tcPr>
                    <a:solidFill>
                      <a:srgbClr val="F2F2F2"/>
                    </a:solidFill>
                  </a:tcPr>
                </a:tc>
                <a:extLst>
                  <a:ext uri="{0D108BD9-81ED-4DB2-BD59-A6C34878D82A}">
                    <a16:rowId xmlns:a16="http://schemas.microsoft.com/office/drawing/2014/main" val="10006"/>
                  </a:ext>
                </a:extLst>
              </a:tr>
              <a:tr h="491490">
                <a:tc>
                  <a:txBody>
                    <a:bodyPr/>
                    <a:lstStyle/>
                    <a:p>
                      <a:r>
                        <a:rPr sz="1000" b="0">
                          <a:latin typeface="Aptos"/>
                        </a:rPr>
                        <a:t>Cross-operator portable SLA definition</a:t>
                      </a:r>
                    </a:p>
                  </a:txBody>
                  <a:tcPr/>
                </a:tc>
                <a:tc>
                  <a:txBody>
                    <a:bodyPr/>
                    <a:lstStyle/>
                    <a:p>
                      <a:r>
                        <a:rPr sz="1000" b="0">
                          <a:latin typeface="Aptos"/>
                        </a:rPr>
                        <a:t>No — per-session, per-operator</a:t>
                      </a:r>
                    </a:p>
                  </a:txBody>
                  <a:tcPr/>
                </a:tc>
                <a:tc>
                  <a:txBody>
                    <a:bodyPr/>
                    <a:lstStyle/>
                    <a:p>
                      <a:r>
                        <a:rPr sz="1000" b="0">
                          <a:latin typeface="Aptos"/>
                        </a:rPr>
                        <a:t>No</a:t>
                      </a:r>
                    </a:p>
                  </a:txBody>
                  <a:tcPr/>
                </a:tc>
                <a:tc>
                  <a:txBody>
                    <a:bodyPr/>
                    <a:lstStyle/>
                    <a:p>
                      <a:r>
                        <a:rPr sz="1000" b="0">
                          <a:latin typeface="Aptos"/>
                        </a:rPr>
                        <a:t>Yes — normative model</a:t>
                      </a:r>
                    </a:p>
                  </a:txBody>
                  <a:tcPr/>
                </a:tc>
                <a:extLst>
                  <a:ext uri="{0D108BD9-81ED-4DB2-BD59-A6C34878D82A}">
                    <a16:rowId xmlns:a16="http://schemas.microsoft.com/office/drawing/2014/main" val="10007"/>
                  </a:ext>
                </a:extLst>
              </a:tr>
            </a:tbl>
          </a:graphicData>
        </a:graphic>
      </p:graphicFrame>
      <p:sp>
        <p:nvSpPr>
          <p:cNvPr id="6" name="TextBox 5"/>
          <p:cNvSpPr txBox="1"/>
          <p:nvPr/>
        </p:nvSpPr>
        <p:spPr>
          <a:xfrm>
            <a:off x="457200" y="5943600"/>
            <a:ext cx="11430000" cy="640080"/>
          </a:xfrm>
          <a:prstGeom prst="rect">
            <a:avLst/>
          </a:prstGeom>
          <a:noFill/>
        </p:spPr>
        <p:txBody>
          <a:bodyPr wrap="square">
            <a:spAutoFit/>
          </a:bodyPr>
          <a:lstStyle/>
          <a:p>
            <a:r>
              <a:rPr sz="1100" b="0" i="1">
                <a:latin typeface="Aptos"/>
              </a:rPr>
              <a:t>None of the existing APIs provide the closed-loop  policy  →  evaluate  →  notify  →  amend  cycle. N‑CLM is an orthogonal governance layer, not a replacement for any of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a:latin typeface="Aptos"/>
              </a:rPr>
              <a:t>Sequence Diagram</a:t>
            </a:r>
          </a:p>
        </p:txBody>
      </p:sp>
      <p:pic>
        <p:nvPicPr>
          <p:cNvPr id="7" name="Picture 6">
            <a:extLst>
              <a:ext uri="{FF2B5EF4-FFF2-40B4-BE49-F238E27FC236}">
                <a16:creationId xmlns:a16="http://schemas.microsoft.com/office/drawing/2014/main" id="{9F210D76-9EA5-5CBA-BAF7-649EEAEAC05E}"/>
              </a:ext>
            </a:extLst>
          </p:cNvPr>
          <p:cNvPicPr>
            <a:picLocks noChangeAspect="1"/>
          </p:cNvPicPr>
          <p:nvPr/>
        </p:nvPicPr>
        <p:blipFill>
          <a:blip r:embed="rId2"/>
          <a:stretch>
            <a:fillRect/>
          </a:stretch>
        </p:blipFill>
        <p:spPr>
          <a:xfrm>
            <a:off x="1431236" y="1266566"/>
            <a:ext cx="7911547" cy="55914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a:latin typeface="Aptos"/>
              </a:rPr>
              <a:t>Use Cases</a:t>
            </a:r>
          </a:p>
        </p:txBody>
      </p:sp>
      <p:sp>
        <p:nvSpPr>
          <p:cNvPr id="4" name="TextBox 3"/>
          <p:cNvSpPr txBox="1"/>
          <p:nvPr/>
        </p:nvSpPr>
        <p:spPr>
          <a:xfrm>
            <a:off x="545487" y="1828800"/>
            <a:ext cx="11430000" cy="5029200"/>
          </a:xfrm>
          <a:prstGeom prst="rect">
            <a:avLst/>
          </a:prstGeom>
          <a:noFill/>
        </p:spPr>
        <p:txBody>
          <a:bodyPr wrap="square">
            <a:spAutoFit/>
          </a:bodyPr>
          <a:lstStyle/>
          <a:p>
            <a:endParaRPr/>
          </a:p>
          <a:p>
            <a:r>
              <a:rPr sz="1300" b="1">
                <a:solidFill>
                  <a:srgbClr val="002060"/>
                </a:solidFill>
                <a:latin typeface="Aptos"/>
              </a:rPr>
              <a:t>UC1 — Latency SLA on a QoD Session</a:t>
            </a:r>
          </a:p>
          <a:p>
            <a:r>
              <a:rPr sz="1100">
                <a:latin typeface="Aptos"/>
              </a:rPr>
              <a:t>    A fintech application sets an SLA requiring latency &lt; 50 ms on an active QoD session.</a:t>
            </a:r>
          </a:p>
          <a:p>
            <a:r>
              <a:rPr sz="1100">
                <a:latin typeface="Aptos"/>
              </a:rPr>
              <a:t>    N‑CLM evaluates the latency metric continuously against the bound policy.</a:t>
            </a:r>
          </a:p>
          <a:p>
            <a:r>
              <a:rPr sz="1100">
                <a:latin typeface="Aptos"/>
              </a:rPr>
              <a:t>    When latency climbs to 73 ms, N‑CLM sends a CloudEvent (SLA_BREACH) to the app's webhook.</a:t>
            </a:r>
          </a:p>
          <a:p>
            <a:r>
              <a:rPr sz="1100">
                <a:latin typeface="Aptos"/>
              </a:rPr>
              <a:t>    The app receives {metric: latency, threshold: 50, actual: 73, timestamp} and immediately initiates a traffic failover — no manual monitoring needed.</a:t>
            </a:r>
          </a:p>
          <a:p>
            <a:endParaRPr sz="1100">
              <a:latin typeface="Aptos"/>
            </a:endParaRPr>
          </a:p>
          <a:p>
            <a:r>
              <a:rPr sz="1300" b="1">
                <a:solidFill>
                  <a:srgbClr val="002060"/>
                </a:solidFill>
                <a:latin typeface="Aptos"/>
              </a:rPr>
              <a:t>UC2 — Availability SLA on a Dedicated Network</a:t>
            </a:r>
          </a:p>
          <a:p>
            <a:r>
              <a:rPr sz="1100">
                <a:latin typeface="Aptos"/>
              </a:rPr>
              <a:t>    An enterprise binds an availability ≥ 99.95 % policy to a Dedicated Network reservation.</a:t>
            </a:r>
          </a:p>
          <a:p>
            <a:r>
              <a:rPr sz="1100">
                <a:latin typeface="Aptos"/>
              </a:rPr>
              <a:t>    Mid-term, after a network improvement, the enterprise tightens the threshold to 99.99 % via PATCH — without re-provisioning the underlying Dedicated Network.</a:t>
            </a:r>
          </a:p>
          <a:p>
            <a:r>
              <a:rPr sz="1100">
                <a:latin typeface="Aptos"/>
              </a:rPr>
              <a:t>    N‑CLM updates the active policy and continues evaluating against the new threshold immediately.</a:t>
            </a:r>
          </a:p>
          <a:p>
            <a:endParaRPr sz="1100">
              <a:latin typeface="Aptos"/>
            </a:endParaRPr>
          </a:p>
          <a:p>
            <a:r>
              <a:rPr sz="1300" b="1">
                <a:solidFill>
                  <a:srgbClr val="002060"/>
                </a:solidFill>
                <a:latin typeface="Aptos"/>
              </a:rPr>
              <a:t>UC3 — Multi-metric SLA for Autonomous Logistics</a:t>
            </a:r>
          </a:p>
          <a:p>
            <a:r>
              <a:rPr sz="1100">
                <a:latin typeface="Aptos"/>
              </a:rPr>
              <a:t>    A logistics platform binds a combined policy (latency &lt; 30 ms AND availability ≥ 99.9 % AND packet-loss &lt; 0.1 %) to a network slice.</a:t>
            </a:r>
          </a:p>
          <a:p>
            <a:r>
              <a:rPr sz="1100">
                <a:latin typeface="Aptos"/>
              </a:rPr>
              <a:t>    Any single metric breach triggers a CloudEvent. The platform uses the breach context to re-route vehicle telemetry to a backup slice.</a:t>
            </a:r>
          </a:p>
          <a:p>
            <a:endParaRPr sz="1100">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0" dirty="0">
                <a:latin typeface="Aptos"/>
              </a:rPr>
              <a:t>API Deliverables Status</a:t>
            </a:r>
          </a:p>
        </p:txBody>
      </p:sp>
      <p:graphicFrame>
        <p:nvGraphicFramePr>
          <p:cNvPr id="6" name="table 5">
            <a:extLst>
              <a:ext uri="{FF2B5EF4-FFF2-40B4-BE49-F238E27FC236}">
                <a16:creationId xmlns:a16="http://schemas.microsoft.com/office/drawing/2014/main" id="{759EA4E9-68D8-BDF1-9457-ED1409295657}"/>
              </a:ext>
            </a:extLst>
          </p:cNvPr>
          <p:cNvGraphicFramePr>
            <a:graphicFrameLocks noGrp="1"/>
          </p:cNvGraphicFramePr>
          <p:nvPr>
            <p:custDataLst>
              <p:tags r:id="rId1"/>
            </p:custDataLst>
            <p:extLst>
              <p:ext uri="{D42A27DB-BD31-4B8C-83A1-F6EECF244321}">
                <p14:modId xmlns:p14="http://schemas.microsoft.com/office/powerpoint/2010/main" val="3573795327"/>
              </p:ext>
            </p:extLst>
          </p:nvPr>
        </p:nvGraphicFramePr>
        <p:xfrm>
          <a:off x="855980" y="2093595"/>
          <a:ext cx="5605780" cy="3512820"/>
        </p:xfrm>
        <a:graphic>
          <a:graphicData uri="http://schemas.openxmlformats.org/drawingml/2006/table">
            <a:tbl>
              <a:tblPr>
                <a:effectLst/>
                <a:tableStyleId>{5940675A-B579-460E-94D1-54222C63F5DA}</a:tableStyleId>
              </a:tblPr>
              <a:tblGrid>
                <a:gridCol w="1908810">
                  <a:extLst>
                    <a:ext uri="{9D8B030D-6E8A-4147-A177-3AD203B41FA5}">
                      <a16:colId xmlns:a16="http://schemas.microsoft.com/office/drawing/2014/main" val="20000"/>
                    </a:ext>
                  </a:extLst>
                </a:gridCol>
                <a:gridCol w="1007745">
                  <a:extLst>
                    <a:ext uri="{9D8B030D-6E8A-4147-A177-3AD203B41FA5}">
                      <a16:colId xmlns:a16="http://schemas.microsoft.com/office/drawing/2014/main" val="20001"/>
                    </a:ext>
                  </a:extLst>
                </a:gridCol>
                <a:gridCol w="2689225">
                  <a:extLst>
                    <a:ext uri="{9D8B030D-6E8A-4147-A177-3AD203B41FA5}">
                      <a16:colId xmlns:a16="http://schemas.microsoft.com/office/drawing/2014/main" val="20002"/>
                    </a:ext>
                  </a:extLst>
                </a:gridCol>
              </a:tblGrid>
              <a:tr h="849630">
                <a:tc gridSpan="3">
                  <a:txBody>
                    <a:bodyPr/>
                    <a:lstStyle/>
                    <a:p>
                      <a:pPr algn="l" rtl="0" eaLnBrk="0">
                        <a:lnSpc>
                          <a:spcPct val="102000"/>
                        </a:lnSpc>
                      </a:pPr>
                      <a:endParaRPr lang="en-US" altLang="en-US" sz="500"/>
                    </a:p>
                    <a:p>
                      <a:pPr marL="94615" algn="l" rtl="0" eaLnBrk="0">
                        <a:lnSpc>
                          <a:spcPct val="91000"/>
                        </a:lnSpc>
                        <a:spcBef>
                          <a:spcPts val="0"/>
                        </a:spcBef>
                      </a:pPr>
                      <a:r>
                        <a:rPr sz="1400" b="1" i="1" spc="-30">
                          <a:solidFill>
                            <a:srgbClr val="000000">
                              <a:alpha val="100000"/>
                            </a:srgbClr>
                          </a:solidFill>
                          <a:latin typeface="Arial" panose="020B0604020202020204"/>
                          <a:ea typeface="Arial" panose="020B0604020202020204"/>
                          <a:cs typeface="Arial" panose="020B0604020202020204"/>
                        </a:rPr>
                        <a:t>Deliverable</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Required/Optional</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(R/O)</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C</a:t>
                      </a:r>
                      <a:r>
                        <a:rPr sz="1400" b="1" i="1" spc="0">
                          <a:solidFill>
                            <a:srgbClr val="000000">
                              <a:alpha val="100000"/>
                            </a:srgbClr>
                          </a:solidFill>
                          <a:latin typeface="Arial" panose="020B0604020202020204"/>
                          <a:ea typeface="Arial" panose="020B0604020202020204"/>
                          <a:cs typeface="Arial" panose="020B0604020202020204"/>
                        </a:rPr>
                        <a:t>urrent</a:t>
                      </a:r>
                      <a:r>
                        <a:rPr sz="1400" spc="-30">
                          <a:solidFill>
                            <a:srgbClr val="000000">
                              <a:alpha val="100000"/>
                            </a:srgbClr>
                          </a:solidFill>
                          <a:latin typeface="Arial" panose="020B0604020202020204"/>
                          <a:ea typeface="Arial" panose="020B0604020202020204"/>
                          <a:cs typeface="Arial" panose="020B0604020202020204"/>
                        </a:rPr>
                        <a:t> </a:t>
                      </a:r>
                      <a:r>
                        <a:rPr sz="1400" b="1" i="1" spc="0">
                          <a:solidFill>
                            <a:srgbClr val="000000">
                              <a:alpha val="100000"/>
                            </a:srgbClr>
                          </a:solidFill>
                          <a:latin typeface="Arial" panose="020B0604020202020204"/>
                          <a:ea typeface="Arial" panose="020B0604020202020204"/>
                          <a:cs typeface="Arial" panose="020B0604020202020204"/>
                        </a:rPr>
                        <a:t>status</a:t>
                      </a:r>
                      <a:endParaRPr lang="en-US" altLang="en-US" sz="1400">
                        <a:solidFill>
                          <a:srgbClr val="000000"/>
                        </a:solidFill>
                      </a:endParaRPr>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noFill/>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extLst>
                  <a:ext uri="{0D108BD9-81ED-4DB2-BD59-A6C34878D82A}">
                    <a16:rowId xmlns:a16="http://schemas.microsoft.com/office/drawing/2014/main" val="10000"/>
                  </a:ext>
                </a:extLst>
              </a:tr>
              <a:tr h="483870">
                <a:tc>
                  <a:txBody>
                    <a:bodyPr/>
                    <a:lstStyle/>
                    <a:p>
                      <a:pPr algn="l" rtl="0" eaLnBrk="0">
                        <a:lnSpc>
                          <a:spcPct val="11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ct val="99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API Spe</a:t>
                      </a:r>
                      <a:r>
                        <a:rPr lang="en-US" altLang="en-US" sz="1400" spc="0">
                          <a:solidFill>
                            <a:srgbClr val="000000"/>
                          </a:solidFill>
                          <a:latin typeface="微软雅黑" panose="020B0503020204020204" pitchFamily="34" charset="-122"/>
                          <a:ea typeface="微软雅黑" panose="020B0503020204020204" pitchFamily="34" charset="-122"/>
                        </a:rPr>
                        <a:t>cs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3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In Progress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extLst>
                  <a:ext uri="{0D108BD9-81ED-4DB2-BD59-A6C34878D82A}">
                    <a16:rowId xmlns:a16="http://schemas.microsoft.com/office/drawing/2014/main" val="10001"/>
                  </a:ext>
                </a:extLst>
              </a:tr>
              <a:tr h="701675">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ts val="1805"/>
                        </a:lnSpc>
                      </a:pPr>
                      <a:r>
                        <a:rPr lang="en-US" altLang="en-US" sz="1400">
                          <a:solidFill>
                            <a:srgbClr val="000000"/>
                          </a:solidFill>
                          <a:latin typeface="微软雅黑" panose="020B0503020204020204" pitchFamily="34" charset="-122"/>
                          <a:ea typeface="微软雅黑" panose="020B0503020204020204" pitchFamily="34" charset="-122"/>
                        </a:rPr>
                        <a:t>API documentation</a:t>
                      </a:r>
                    </a:p>
                  </a:txBody>
                  <a:tcPr marL="0" marR="0" marT="0" marB="0">
                    <a:lnL>
                      <a:noFill/>
                    </a:lnL>
                    <a:lnR>
                      <a:noFill/>
                    </a:lnR>
                    <a:lnT>
                      <a:noFill/>
                    </a:lnT>
                    <a:lnB>
                      <a:noFill/>
                    </a:lnB>
                    <a:noFill/>
                  </a:tcPr>
                </a:tc>
                <a:tc>
                  <a:txBody>
                    <a:bodyPr/>
                    <a:lstStyle/>
                    <a:p>
                      <a:pPr algn="l" rtl="0" eaLnBrk="0">
                        <a:lnSpc>
                          <a:spcPct val="11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5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pPr>
                      <a:r>
                        <a:rPr lang="en-US" altLang="en-US" sz="140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a:noFill/>
                    </a:lnB>
                    <a:noFill/>
                  </a:tcPr>
                </a:tc>
                <a:extLst>
                  <a:ext uri="{0D108BD9-81ED-4DB2-BD59-A6C34878D82A}">
                    <a16:rowId xmlns:a16="http://schemas.microsoft.com/office/drawing/2014/main" val="10002"/>
                  </a:ext>
                </a:extLst>
              </a:tr>
              <a:tr h="499110">
                <a:tc>
                  <a:txBody>
                    <a:bodyPr/>
                    <a:lstStyle/>
                    <a:p>
                      <a:pPr algn="l" rtl="0" eaLnBrk="0">
                        <a:lnSpc>
                          <a:spcPct val="10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5250" algn="l" rtl="0" eaLnBrk="0">
                        <a:lnSpc>
                          <a:spcPts val="1805"/>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User stories</a:t>
                      </a:r>
                    </a:p>
                  </a:txBody>
                  <a:tcPr marL="0" marR="0" marT="0" marB="0">
                    <a:lnL>
                      <a:noFill/>
                    </a:lnL>
                    <a:lnR>
                      <a:noFill/>
                    </a:lnR>
                    <a:lnT>
                      <a:noFill/>
                    </a:lnT>
                    <a:lnB>
                      <a:noFill/>
                    </a:lnB>
                    <a:solidFill>
                      <a:srgbClr val="EDF7FB"/>
                    </a:solidFill>
                  </a:tcPr>
                </a:tc>
                <a:tc>
                  <a:txBody>
                    <a:bodyPr/>
                    <a:lstStyle/>
                    <a:p>
                      <a:pPr algn="l" rtl="0" eaLnBrk="0">
                        <a:lnSpc>
                          <a:spcPct val="119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solidFill>
                      <a:srgbClr val="EDF7FB"/>
                    </a:solidFill>
                  </a:tcPr>
                </a:tc>
                <a:tc>
                  <a:txBody>
                    <a:bodyPr/>
                    <a:lstStyle/>
                    <a:p>
                      <a:pPr algn="l" rtl="0" eaLnBrk="0">
                        <a:lnSpc>
                          <a:spcPct val="101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Available</a:t>
                      </a:r>
                    </a:p>
                  </a:txBody>
                  <a:tcPr marL="0" marR="0" marT="0" marB="0">
                    <a:lnL>
                      <a:noFill/>
                    </a:lnL>
                    <a:lnR>
                      <a:noFill/>
                    </a:lnR>
                    <a:lnT>
                      <a:noFill/>
                    </a:lnT>
                    <a:lnB>
                      <a:noFill/>
                    </a:lnB>
                    <a:solidFill>
                      <a:srgbClr val="EDF7FB"/>
                    </a:solidFill>
                  </a:tcPr>
                </a:tc>
                <a:extLst>
                  <a:ext uri="{0D108BD9-81ED-4DB2-BD59-A6C34878D82A}">
                    <a16:rowId xmlns:a16="http://schemas.microsoft.com/office/drawing/2014/main" val="10003"/>
                  </a:ext>
                </a:extLst>
              </a:tr>
              <a:tr h="479425">
                <a:tc>
                  <a:txBody>
                    <a:bodyPr/>
                    <a:lstStyle/>
                    <a:p>
                      <a:pPr algn="l" rtl="0" eaLnBrk="0">
                        <a:lnSpc>
                          <a:spcPct val="111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84455" algn="l" rtl="0" eaLnBrk="0">
                        <a:lnSpc>
                          <a:spcPts val="1785"/>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Test ca</a:t>
                      </a:r>
                      <a:r>
                        <a:rPr lang="en-US" altLang="en-US" sz="1400" spc="0" dirty="0">
                          <a:solidFill>
                            <a:srgbClr val="000000"/>
                          </a:solidFill>
                          <a:latin typeface="微软雅黑" panose="020B0503020204020204" pitchFamily="34" charset="-122"/>
                          <a:ea typeface="微软雅黑" panose="020B0503020204020204" pitchFamily="34" charset="-122"/>
                        </a:rPr>
                        <a:t>ses</a:t>
                      </a:r>
                      <a:endParaRPr lang="en-US" altLang="en-US" sz="1400" dirty="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0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2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TBD</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extLst>
                  <a:ext uri="{0D108BD9-81ED-4DB2-BD59-A6C34878D82A}">
                    <a16:rowId xmlns:a16="http://schemas.microsoft.com/office/drawing/2014/main" val="10004"/>
                  </a:ext>
                </a:extLst>
              </a:tr>
              <a:tr h="499110">
                <a:tc>
                  <a:txBody>
                    <a:bodyPr/>
                    <a:lstStyle/>
                    <a:p>
                      <a:pPr algn="l" rtl="0" eaLnBrk="0">
                        <a:lnSpc>
                          <a:spcPct val="10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6520" algn="l" rtl="0" eaLnBrk="0">
                        <a:lnSpc>
                          <a:spcPct val="92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Implementation</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17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6455" algn="l" rtl="0" eaLnBrk="0">
                        <a:lnSpc>
                          <a:spcPct val="81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O</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00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sz="2200" b="1" dirty="0">
                <a:latin typeface="Aptos"/>
              </a:rPr>
              <a:t>Addressing Backlog Review Feedback</a:t>
            </a:r>
          </a:p>
        </p:txBody>
      </p:sp>
      <p:sp>
        <p:nvSpPr>
          <p:cNvPr id="3" name="Content Placeholder 2"/>
          <p:cNvSpPr>
            <a:spLocks noGrp="1"/>
          </p:cNvSpPr>
          <p:nvPr>
            <p:ph sz="quarter" idx="10"/>
          </p:nvPr>
        </p:nvSpPr>
        <p:spPr/>
        <p:txBody>
          <a:bodyPr/>
          <a:lstStyle/>
          <a:p>
            <a:endParaRPr/>
          </a:p>
        </p:txBody>
      </p:sp>
      <p:sp>
        <p:nvSpPr>
          <p:cNvPr id="4" name="TextBox 3"/>
          <p:cNvSpPr txBox="1"/>
          <p:nvPr/>
        </p:nvSpPr>
        <p:spPr>
          <a:xfrm>
            <a:off x="457200" y="1325880"/>
            <a:ext cx="11430000" cy="365760"/>
          </a:xfrm>
          <a:prstGeom prst="rect">
            <a:avLst/>
          </a:prstGeom>
          <a:noFill/>
        </p:spPr>
        <p:txBody>
          <a:bodyPr wrap="square">
            <a:spAutoFit/>
          </a:bodyPr>
          <a:lstStyle/>
          <a:p>
            <a:r>
              <a:rPr sz="1200" b="0" i="1">
                <a:solidFill>
                  <a:srgbClr val="002060"/>
                </a:solidFill>
                <a:latin typeface="Aptos"/>
              </a:rPr>
              <a:t>Responses to questions raised during backlog review (Feb 2026)</a:t>
            </a:r>
          </a:p>
        </p:txBody>
      </p:sp>
      <p:graphicFrame>
        <p:nvGraphicFramePr>
          <p:cNvPr id="5" name="Table 4"/>
          <p:cNvGraphicFramePr>
            <a:graphicFrameLocks noGrp="1"/>
          </p:cNvGraphicFramePr>
          <p:nvPr/>
        </p:nvGraphicFramePr>
        <p:xfrm>
          <a:off x="457200" y="1737360"/>
          <a:ext cx="11430000" cy="45720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914400">
                <a:tc>
                  <a:txBody>
                    <a:bodyPr/>
                    <a:lstStyle/>
                    <a:p>
                      <a:r>
                        <a:rPr sz="1000" b="1">
                          <a:solidFill>
                            <a:srgbClr val="FFFFFF"/>
                          </a:solidFill>
                          <a:latin typeface="Aptos"/>
                        </a:rPr>
                        <a:t>Question</a:t>
                      </a:r>
                    </a:p>
                  </a:txBody>
                  <a:tcPr>
                    <a:solidFill>
                      <a:srgbClr val="002060"/>
                    </a:solidFill>
                  </a:tcPr>
                </a:tc>
                <a:tc>
                  <a:txBody>
                    <a:bodyPr/>
                    <a:lstStyle/>
                    <a:p>
                      <a:r>
                        <a:rPr sz="1000" b="1">
                          <a:solidFill>
                            <a:srgbClr val="FFFFFF"/>
                          </a:solidFill>
                          <a:latin typeface="Aptos"/>
                        </a:rPr>
                        <a:t>Response</a:t>
                      </a:r>
                    </a:p>
                  </a:txBody>
                  <a:tcPr>
                    <a:solidFill>
                      <a:srgbClr val="002060"/>
                    </a:solidFill>
                  </a:tcPr>
                </a:tc>
                <a:extLst>
                  <a:ext uri="{0D108BD9-81ED-4DB2-BD59-A6C34878D82A}">
                    <a16:rowId xmlns:a16="http://schemas.microsoft.com/office/drawing/2014/main" val="10000"/>
                  </a:ext>
                </a:extLst>
              </a:tr>
              <a:tr h="914400">
                <a:tc>
                  <a:txBody>
                    <a:bodyPr/>
                    <a:lstStyle/>
                    <a:p>
                      <a:r>
                        <a:rPr sz="900" b="1" dirty="0">
                          <a:latin typeface="Aptos"/>
                        </a:rPr>
                        <a:t>Who produces the breach measurements?  Is this assurance/monitoring in disguise?</a:t>
                      </a:r>
                    </a:p>
                  </a:txBody>
                  <a:tcPr/>
                </a:tc>
                <a:tc>
                  <a:txBody>
                    <a:bodyPr/>
                    <a:lstStyle/>
                    <a:p>
                      <a:r>
                        <a:rPr sz="900" b="0">
                          <a:latin typeface="Aptos"/>
                        </a:rPr>
                        <a:t>N‑CLM does NOT collect metrics itself. It relies on an existing telemetry source (e.g. CQM) for the raw numbers.
N‑CLM’s only job: receive a metric value → compare it against the agreed threshold → send a notification if the threshold is crossed.
The measurement pipeline stays entirely outside N‑CLM.</a:t>
                      </a:r>
                    </a:p>
                  </a:txBody>
                  <a:tcPr/>
                </a:tc>
                <a:extLst>
                  <a:ext uri="{0D108BD9-81ED-4DB2-BD59-A6C34878D82A}">
                    <a16:rowId xmlns:a16="http://schemas.microsoft.com/office/drawing/2014/main" val="10001"/>
                  </a:ext>
                </a:extLst>
              </a:tr>
              <a:tr h="914400">
                <a:tc>
                  <a:txBody>
                    <a:bodyPr/>
                    <a:lstStyle/>
                    <a:p>
                      <a:r>
                        <a:rPr sz="900" b="1">
                          <a:latin typeface="Aptos"/>
                        </a:rPr>
                        <a:t>What is the enforcement mechanism?  Which CAMARA service does the SLA attach to?</a:t>
                      </a:r>
                    </a:p>
                  </a:txBody>
                  <a:tcPr/>
                </a:tc>
                <a:tc>
                  <a:txBody>
                    <a:bodyPr/>
                    <a:lstStyle/>
                    <a:p>
                      <a:r>
                        <a:rPr sz="900" b="0">
                          <a:latin typeface="Aptos"/>
                        </a:rPr>
                        <a:t>Every N‑CLM policy is bound to a specific, already-running CAMARA service instance (e.g. an active QoD session ID or Dedicated Network reservation ID).
N‑CLM does not reconfigure the network — it watches whether that live service is meeting the SLA.
Think of it as an SLA auditor attached to a specific service instance.  This makes it Service-Management, not Operate/Assurance.</a:t>
                      </a:r>
                    </a:p>
                  </a:txBody>
                  <a:tcPr/>
                </a:tc>
                <a:extLst>
                  <a:ext uri="{0D108BD9-81ED-4DB2-BD59-A6C34878D82A}">
                    <a16:rowId xmlns:a16="http://schemas.microsoft.com/office/drawing/2014/main" val="10002"/>
                  </a:ext>
                </a:extLst>
              </a:tr>
              <a:tr h="914400">
                <a:tc>
                  <a:txBody>
                    <a:bodyPr/>
                    <a:lstStyle/>
                    <a:p>
                      <a:r>
                        <a:rPr sz="900" b="1">
                          <a:latin typeface="Aptos"/>
                        </a:rPr>
                        <a:t>How will the normative model ensure cross-operator portability?</a:t>
                      </a:r>
                    </a:p>
                  </a:txBody>
                  <a:tcPr/>
                </a:tc>
                <a:tc>
                  <a:txBody>
                    <a:bodyPr/>
                    <a:lstStyle/>
                    <a:p>
                      <a:r>
                        <a:rPr sz="900" b="0">
                          <a:latin typeface="Aptos"/>
                        </a:rPr>
                        <a:t>The spec will define:
• A fixed metric vocabulary (latency, bandwidth, availability, error-rate)
• Standard breach-severity levels
• Standard evaluation-window semantics
All as normative YAML/JSON schemas, so the same policy means the same thing on any operator.</a:t>
                      </a:r>
                    </a:p>
                  </a:txBody>
                  <a:tcPr/>
                </a:tc>
                <a:extLst>
                  <a:ext uri="{0D108BD9-81ED-4DB2-BD59-A6C34878D82A}">
                    <a16:rowId xmlns:a16="http://schemas.microsoft.com/office/drawing/2014/main" val="10003"/>
                  </a:ext>
                </a:extLst>
              </a:tr>
              <a:tr h="914400">
                <a:tc>
                  <a:txBody>
                    <a:bodyPr/>
                    <a:lstStyle/>
                    <a:p>
                      <a:r>
                        <a:rPr sz="900" b="1">
                          <a:latin typeface="Aptos"/>
                        </a:rPr>
                        <a:t>Why not just extend CQM or Dedicated Networks?</a:t>
                      </a:r>
                    </a:p>
                  </a:txBody>
                  <a:tcPr/>
                </a:tc>
                <a:tc>
                  <a:txBody>
                    <a:bodyPr/>
                    <a:lstStyle/>
                    <a:p>
                      <a:r>
                        <a:rPr sz="900" b="0" dirty="0">
                          <a:latin typeface="Aptos"/>
                        </a:rPr>
                        <a:t>CQM tells you what the network is doing.  N‑CLM tells you whether the network is keeping its promise.
Mixing policy governance into CQM would conflate observation with adjudication.
The cleaner design: a dedicated governance layer that sits on top of existing telemetry.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57c7f136-5fe9-46ac-88f0-c360e5a39059"/>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3429a95c-b9eb-4227-abd9-56169d3e95d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CCCB101D1EC2439BD1F30E1646277F" ma:contentTypeVersion="12" ma:contentTypeDescription="Create a new document." ma:contentTypeScope="" ma:versionID="5464bb158b6625c1c22789ae9835c753">
  <xsd:schema xmlns:xsd="http://www.w3.org/2001/XMLSchema" xmlns:xs="http://www.w3.org/2001/XMLSchema" xmlns:p="http://schemas.microsoft.com/office/2006/metadata/properties" xmlns:ns2="43278b8a-3ce2-4c22-927e-d744b2493138" xmlns:ns3="81c23e35-feae-41a6-9660-303b6c1ddfab" targetNamespace="http://schemas.microsoft.com/office/2006/metadata/properties" ma:root="true" ma:fieldsID="be7f2cea10a1ecaebc42b3a306c3a710" ns2:_="" ns3:_="">
    <xsd:import namespace="43278b8a-3ce2-4c22-927e-d744b2493138"/>
    <xsd:import namespace="81c23e35-feae-41a6-9660-303b6c1ddf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278b8a-3ce2-4c22-927e-d744b24931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c23e35-feae-41a6-9660-303b6c1ddf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d858e15-233b-4e39-8e83-950feb039e72}" ma:internalName="TaxCatchAll" ma:showField="CatchAllData" ma:web="81c23e35-feae-41a6-9660-303b6c1ddf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1c23e35-feae-41a6-9660-303b6c1ddfab" xsi:nil="true"/>
    <lcf76f155ced4ddcb4097134ff3c332f xmlns="43278b8a-3ce2-4c22-927e-d744b249313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79F930-EBCE-4CE9-A525-40199E457887}">
  <ds:schemaRefs>
    <ds:schemaRef ds:uri="43278b8a-3ce2-4c22-927e-d744b2493138"/>
    <ds:schemaRef ds:uri="81c23e35-feae-41a6-9660-303b6c1ddfa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93E37D5-A273-44DE-91F9-C57145F405BD}">
  <ds:schemaRefs>
    <ds:schemaRef ds:uri="43278b8a-3ce2-4c22-927e-d744b2493138"/>
    <ds:schemaRef ds:uri="81c23e35-feae-41a6-9660-303b6c1ddfa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E903CFA-AA15-4431-9054-79A4A24BF933}">
  <ds:schemaRefs>
    <ds:schemaRef ds:uri="http://schemas.microsoft.com/sharepoint/v3/contenttype/forms"/>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310</TotalTime>
  <Words>1531</Words>
  <Application>Microsoft Office PowerPoint</Application>
  <PresentationFormat>Widescreen</PresentationFormat>
  <Paragraphs>142</Paragraphs>
  <Slides>10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微软雅黑</vt:lpstr>
      <vt:lpstr>Aptos</vt:lpstr>
      <vt:lpstr>Arial</vt:lpstr>
      <vt:lpstr>Calibri</vt:lpstr>
      <vt:lpstr>Calibri Light</vt:lpstr>
      <vt:lpstr>Montserrat Light</vt:lpstr>
      <vt:lpstr>Office 主题</vt:lpstr>
      <vt:lpstr>think-cell Folie</vt:lpstr>
      <vt:lpstr>PowerPoint Presentation</vt:lpstr>
      <vt:lpstr>Background — Network Contract Lifecycle Management (N‑CLM)</vt:lpstr>
      <vt:lpstr>N‑CLM API: High Level Description</vt:lpstr>
      <vt:lpstr>User Story</vt:lpstr>
      <vt:lpstr>Architecture</vt:lpstr>
      <vt:lpstr>Novelty Gap — N‑CLM vs Existing CAMARA APIs</vt:lpstr>
      <vt:lpstr>Sequence Diagram</vt:lpstr>
      <vt:lpstr>Use Cases</vt:lpstr>
      <vt:lpstr>API Deliverables Status</vt:lpstr>
      <vt:lpstr>Addressing Backlog Review Feedback</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Provisioning API</dc:title>
  <dc:creator>Chenchuanyu</dc:creator>
  <cp:lastModifiedBy>Abhisek Das</cp:lastModifiedBy>
  <cp:revision>21</cp:revision>
  <dcterms:created xsi:type="dcterms:W3CDTF">2023-05-18T03:52:00Z</dcterms:created>
  <dcterms:modified xsi:type="dcterms:W3CDTF">2026-06-13T18:15:07Z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(2)fAhiAU9J4LnzkpIrkXM09AQboDunmcluQ0NQeuqRTdTkYC0Gz1vcnh5qhsHYzRt4kxQYGHuu
iQ1aYax8SC8CgqW69rGFvgu3MUPFa+t2HVCLf/x65vuHZ9xtWwUrM1fhOjP4cjeFy4he8OKO
589XpT5lYzmhKISJ1I55vobvoylpWWhwEK+VxNmhFkC3/sh9j+U81sGOXbJXNNSFBl8qo8FE
CVcPnVVLyzHn7B95UY</vt:lpwstr>
  </property>
  <property fmtid="{D5CDD505-2E9C-101B-9397-08002B2CF9AE}" pid="3" name="_2015_ms_pID_7253431">
    <vt:lpwstr>MP82+Ox3BuCZRFUEWL2q3Id9rLAut0RyRWCHdpYbEONDXc933l2g5i
XRlkFhg0MKd7bw8YC5JSKYj4wyCFTdOPH2/xPFM9eolilcU+zgN0j1CITbz8fp1u2E+1+m/i
Gu+U4KSZCRtgotsK+0RpVoAj7NVb/lKdg3qFM9jTW1EV78tafiHmHhKw8tTchvWNrrDgUNqq
uQ83fq7JeXkMhrjj</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1683169333</vt:lpwstr>
  </property>
  <property fmtid="{D5CDD505-2E9C-101B-9397-08002B2CF9AE}" pid="8" name="ICV">
    <vt:lpwstr>DA6429A0156D4F719CD30201ED15326B_13</vt:lpwstr>
  </property>
  <property fmtid="{D5CDD505-2E9C-101B-9397-08002B2CF9AE}" pid="9" name="KSOProductBuildVer">
    <vt:lpwstr>2052-11.1.0.14309</vt:lpwstr>
  </property>
  <property fmtid="{D5CDD505-2E9C-101B-9397-08002B2CF9AE}" pid="10" name="ContentTypeId">
    <vt:lpwstr>0x01010091CCCB101D1EC2439BD1F30E1646277F</vt:lpwstr>
  </property>
  <property fmtid="{D5CDD505-2E9C-101B-9397-08002B2CF9AE}" pid="11" name="MSIP_Label_a0819fa7-4367-4500-ba88-dd630d977609_Enabled">
    <vt:lpwstr>true</vt:lpwstr>
  </property>
  <property fmtid="{D5CDD505-2E9C-101B-9397-08002B2CF9AE}" pid="12" name="MSIP_Label_a0819fa7-4367-4500-ba88-dd630d977609_SetDate">
    <vt:lpwstr>2025-04-03T11:05:00Z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b79cf1c5-ea9a-4bd9-8a1c-1357813e3dd5</vt:lpwstr>
  </property>
  <property fmtid="{D5CDD505-2E9C-101B-9397-08002B2CF9AE}" pid="17" name="MSIP_Label_a0819fa7-4367-4500-ba88-dd630d977609_ContentBits">
    <vt:lpwstr>0</vt:lpwstr>
  </property>
  <property fmtid="{D5CDD505-2E9C-101B-9397-08002B2CF9AE}" pid="18" name="MSIP_Label_a0819fa7-4367-4500-ba88-dd630d977609_Tag">
    <vt:lpwstr>10, 3, 0, 1</vt:lpwstr>
  </property>
  <property fmtid="{D5CDD505-2E9C-101B-9397-08002B2CF9AE}" pid="19" name="MediaServiceImageTags">
    <vt:lpwstr/>
  </property>
</Properties>
</file>