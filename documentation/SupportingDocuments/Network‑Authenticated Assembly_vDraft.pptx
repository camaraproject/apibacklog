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61" r:id="rId5"/>
    <p:sldId id="362" r:id="rId6"/>
    <p:sldId id="370" r:id="rId7"/>
    <p:sldId id="366" r:id="rId8"/>
    <p:sldId id="365" r:id="rId9"/>
    <p:sldId id="357" r:id="rId10"/>
    <p:sldId id="323" r:id="rId11"/>
    <p:sldId id="287" r:id="rId12"/>
    <p:sldId id="265" r:id="rId13"/>
    <p:sldId id="371" r:id="rId14"/>
    <p:sldId id="367" r:id="rId15"/>
    <p:sldId id="368" r:id="rId16"/>
    <p:sldId id="369" r:id="rId17"/>
    <p:sldId id="373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xudan-XD" initials="XD" lastIdx="1" clrIdx="0"/>
  <p:cmAuthor id="2" name="Administrator" initials="l" lastIdx="1" clrIdx="1"/>
  <p:cmAuthor id="3" name="作者" initials="A" lastIdx="0" clrIdx="2"/>
  <p:cmAuthor id="4" name="HP" initials="H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ASUS" initials="A" lastIdx="28" clrIdx="4"/>
  <p:cmAuthor id="10" name="lenovo" initials="l" lastIdx="6" clrIdx="2"/>
  <p:cmAuthor id="11" name="xiedk" initials="x" lastIdx="2" clrIdx="10"/>
  <p:cmAuthor id="12" name="未知用户1" initials="未知用户1" lastIdx="2" clrIdx="11"/>
  <p:cmAuthor id="13" name="马云飞10014438" initials="马" lastIdx="4" clrIdx="0"/>
  <p:cmAuthor id="14" name="10077969" initials="10077969" lastIdx="2" clrIdx="13"/>
  <p:cmAuthor id="15" name="康浩杰|hnkanghaojie" initials="A" lastIdx="1" clrIdx="14"/>
  <p:cmAuthor id="16" name="孟伟伟" initials="孟" lastIdx="1" clrIdx="15"/>
  <p:cmAuthor id="17" name="dongrp" initials="d" lastIdx="1" clrIdx="16"/>
  <p:cmAuthor id="18" name="hc" initials="h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30" name="10056791" initials="ZTE" lastIdx="1" clrIdx="29"/>
  <p:cmAuthor id="31" name="Author" initials="A" lastIdx="0" clrIdx="30"/>
  <p:cmAuthor id="32" name="李楠10047711" initials="李楠10047711" lastIdx="2" clrIdx="31"/>
  <p:cmAuthor id="76" name="许 志军" initials="许" lastIdx="1" clrIdx="25"/>
  <p:cmAuthor id="33" name="610007" initials="6" lastIdx="0" clrIdx="32"/>
  <p:cmAuthor id="77" name="欧 志芳" initials="欧" lastIdx="1" clrIdx="26"/>
  <p:cmAuthor id="34" name="Jason" initials="J" lastIdx="18" clrIdx="33"/>
  <p:cmAuthor id="35" name="stephen" initials="s" lastIdx="1" clrIdx="3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ek Das" userId="e456e576-22ea-42db-b4d9-4b031e1650af" providerId="ADAL" clId="{925D8AC3-419F-4E99-BBDD-163A5A147865}"/>
    <pc:docChg chg="custSel addSld delSld modSld">
      <pc:chgData name="Abhisek Das" userId="e456e576-22ea-42db-b4d9-4b031e1650af" providerId="ADAL" clId="{925D8AC3-419F-4E99-BBDD-163A5A147865}" dt="2026-03-12T07:56:51.259" v="156" actId="20577"/>
      <pc:docMkLst>
        <pc:docMk/>
      </pc:docMkLst>
      <pc:sldChg chg="modSp mod">
        <pc:chgData name="Abhisek Das" userId="e456e576-22ea-42db-b4d9-4b031e1650af" providerId="ADAL" clId="{925D8AC3-419F-4E99-BBDD-163A5A147865}" dt="2026-03-12T07:56:51.259" v="156" actId="20577"/>
        <pc:sldMkLst>
          <pc:docMk/>
          <pc:sldMk cId="0" sldId="265"/>
        </pc:sldMkLst>
        <pc:spChg chg="mod">
          <ac:chgData name="Abhisek Das" userId="e456e576-22ea-42db-b4d9-4b031e1650af" providerId="ADAL" clId="{925D8AC3-419F-4E99-BBDD-163A5A147865}" dt="2026-03-12T07:56:51.259" v="156" actId="20577"/>
          <ac:spMkLst>
            <pc:docMk/>
            <pc:sldMk cId="0" sldId="265"/>
            <ac:spMk id="2" creationId="{00000000-0000-0000-0000-000000000000}"/>
          </ac:spMkLst>
        </pc:spChg>
      </pc:sldChg>
      <pc:sldChg chg="addSp modSp mod">
        <pc:chgData name="Abhisek Das" userId="e456e576-22ea-42db-b4d9-4b031e1650af" providerId="ADAL" clId="{925D8AC3-419F-4E99-BBDD-163A5A147865}" dt="2026-03-12T07:56:41.602" v="155" actId="20577"/>
        <pc:sldMkLst>
          <pc:docMk/>
          <pc:sldMk cId="0" sldId="323"/>
        </pc:sldMkLst>
        <pc:spChg chg="mod">
          <ac:chgData name="Abhisek Das" userId="e456e576-22ea-42db-b4d9-4b031e1650af" providerId="ADAL" clId="{925D8AC3-419F-4E99-BBDD-163A5A147865}" dt="2026-03-12T07:56:41.602" v="155" actId="20577"/>
          <ac:spMkLst>
            <pc:docMk/>
            <pc:sldMk cId="0" sldId="323"/>
            <ac:spMk id="2" creationId="{00000000-0000-0000-0000-000000000000}"/>
          </ac:spMkLst>
        </pc:spChg>
        <pc:picChg chg="add mod">
          <ac:chgData name="Abhisek Das" userId="e456e576-22ea-42db-b4d9-4b031e1650af" providerId="ADAL" clId="{925D8AC3-419F-4E99-BBDD-163A5A147865}" dt="2026-03-10T17:46:35.960" v="7" actId="1076"/>
          <ac:picMkLst>
            <pc:docMk/>
            <pc:sldMk cId="0" sldId="323"/>
            <ac:picMk id="4098" creationId="{03BE6176-4A43-09B7-4C60-1E32B1BAF832}"/>
          </ac:picMkLst>
        </pc:picChg>
      </pc:sldChg>
      <pc:sldChg chg="modSp mod">
        <pc:chgData name="Abhisek Das" userId="e456e576-22ea-42db-b4d9-4b031e1650af" providerId="ADAL" clId="{925D8AC3-419F-4E99-BBDD-163A5A147865}" dt="2026-03-12T07:56:33.859" v="154" actId="20577"/>
        <pc:sldMkLst>
          <pc:docMk/>
          <pc:sldMk cId="0" sldId="362"/>
        </pc:sldMkLst>
        <pc:spChg chg="mod">
          <ac:chgData name="Abhisek Das" userId="e456e576-22ea-42db-b4d9-4b031e1650af" providerId="ADAL" clId="{925D8AC3-419F-4E99-BBDD-163A5A147865}" dt="2026-03-12T07:56:33.859" v="154" actId="20577"/>
          <ac:spMkLst>
            <pc:docMk/>
            <pc:sldMk cId="0" sldId="362"/>
            <ac:spMk id="3" creationId="{00000000-0000-0000-0000-000000000000}"/>
          </ac:spMkLst>
        </pc:spChg>
      </pc:sldChg>
      <pc:sldChg chg="addSp modSp add mod">
        <pc:chgData name="Abhisek Das" userId="e456e576-22ea-42db-b4d9-4b031e1650af" providerId="ADAL" clId="{925D8AC3-419F-4E99-BBDD-163A5A147865}" dt="2026-03-12T07:54:37.218" v="146" actId="13926"/>
        <pc:sldMkLst>
          <pc:docMk/>
          <pc:sldMk cId="2034518233" sldId="373"/>
        </pc:sldMkLst>
        <pc:spChg chg="mod">
          <ac:chgData name="Abhisek Das" userId="e456e576-22ea-42db-b4d9-4b031e1650af" providerId="ADAL" clId="{925D8AC3-419F-4E99-BBDD-163A5A147865}" dt="2026-03-12T07:48:14.460" v="39" actId="20577"/>
          <ac:spMkLst>
            <pc:docMk/>
            <pc:sldMk cId="2034518233" sldId="373"/>
            <ac:spMk id="2" creationId="{66B12C2E-A7BC-5531-E15A-222B6D8B7E96}"/>
          </ac:spMkLst>
        </pc:spChg>
        <pc:spChg chg="mod">
          <ac:chgData name="Abhisek Das" userId="e456e576-22ea-42db-b4d9-4b031e1650af" providerId="ADAL" clId="{925D8AC3-419F-4E99-BBDD-163A5A147865}" dt="2026-03-12T07:54:37.218" v="146" actId="13926"/>
          <ac:spMkLst>
            <pc:docMk/>
            <pc:sldMk cId="2034518233" sldId="373"/>
            <ac:spMk id="5" creationId="{10C899F9-526C-C8BB-BFA6-E3B0A03C61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9B6-DFB9-465D-BCF7-63C3CDB22F53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DE9C1-3A93-4484-ADD9-54060A054C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17DD0-38E7-46ED-A2FE-994A5C249761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ABC8-35A3-A6AF-B7FB-B910F17B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C785F7-FE90-E582-2C76-7F8CD6E49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F8DCA9-BF11-9217-FF05-22D13645F86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88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1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12700" imgH="12700" progId="TCLayout.ActiveDocument.1">
                  <p:embed/>
                </p:oleObj>
              </mc:Choice>
              <mc:Fallback>
                <p:oleObj name="think-cell Folie" r:id="rId3" imgW="12700" imgH="1270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28916" y="497258"/>
            <a:ext cx="3684694" cy="7089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0"/>
            <a:ext cx="8382468" cy="178665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70211" y="436920"/>
            <a:ext cx="11580552" cy="829647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540">
                <a:solidFill>
                  <a:schemeClr val="bg1"/>
                </a:solidFill>
              </a:rPr>
              <a:t>Slide</a:t>
            </a:r>
            <a:br>
              <a:rPr lang="en-US" sz="2540">
                <a:solidFill>
                  <a:schemeClr val="bg1"/>
                </a:solidFill>
              </a:rPr>
            </a:br>
            <a:r>
              <a:rPr lang="en-US" sz="254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470211" y="1999093"/>
            <a:ext cx="11580552" cy="4361648"/>
          </a:xfrm>
        </p:spPr>
        <p:txBody>
          <a:bodyPr/>
          <a:lstStyle>
            <a:lvl1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2998047"/>
            <a:ext cx="9403181" cy="23452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/>
              <a:t>Montserrat Light</a:t>
            </a:r>
            <a:br>
              <a:rPr lang="de-DE"/>
            </a:br>
            <a:r>
              <a:rPr lang="de-DE"/>
              <a:t>Maximum 3 </a:t>
            </a:r>
            <a:r>
              <a:rPr lang="de-DE" err="1"/>
              <a:t>lines</a:t>
            </a:r>
            <a:br>
              <a:rPr lang="de-DE"/>
            </a:br>
            <a:r>
              <a:rPr lang="de-DE"/>
              <a:t>44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401303" y="5800211"/>
            <a:ext cx="9403181" cy="31668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11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err="1"/>
              <a:t>Subheading</a:t>
            </a:r>
            <a:r>
              <a:rPr lang="de-DE"/>
              <a:t> Montserrat Light, 20 </a:t>
            </a:r>
            <a:r>
              <a:rPr lang="de-DE" err="1"/>
              <a:t>pt</a:t>
            </a:r>
            <a:endParaRPr lang="de-DE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 userDrawn="1"/>
        </p:nvSpPr>
        <p:spPr>
          <a:xfrm>
            <a:off x="0" y="0"/>
            <a:ext cx="12192000" cy="1551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5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82104"/>
            <a:ext cx="12192000" cy="1551928"/>
          </a:xfrm>
          <a:prstGeom prst="rect">
            <a:avLst/>
          </a:prstGeom>
        </p:spPr>
      </p:pic>
      <p:pic>
        <p:nvPicPr>
          <p:cNvPr id="3" name="Grafik 2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4745" y="432740"/>
            <a:ext cx="5402508" cy="10395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1243683"/>
            <a:ext cx="9456935" cy="434371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err="1"/>
              <a:t>Section</a:t>
            </a:r>
            <a:r>
              <a:rPr lang="de-DE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70F3-CE90-48C4-9164-61E1D2692451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bhisek.das04@infosy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shyamtanu.banerjee@team.telstra.com" TargetMode="External"/><Relationship Id="rId5" Type="http://schemas.openxmlformats.org/officeDocument/2006/relationships/hyperlink" Target="mailto:pawan.7.kumar@bt.com" TargetMode="External"/><Relationship Id="rId4" Type="http://schemas.openxmlformats.org/officeDocument/2006/relationships/hyperlink" Target="mailto:bishnu_panda@infosys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2382974"/>
            <a:ext cx="10329545" cy="2173605"/>
          </a:xfrm>
        </p:spPr>
        <p:txBody>
          <a:bodyPr anchor="ctr"/>
          <a:lstStyle/>
          <a:p>
            <a:pPr marL="0" algn="l" defTabSz="457200">
              <a:buClrTx/>
              <a:buSzTx/>
              <a:buNone/>
            </a:pPr>
            <a:r>
              <a:rPr lang="en-US" sz="4400" b="1">
                <a:latin typeface="Aptos" panose="020B0004020202020204" pitchFamily="34" charset="0"/>
                <a:ea typeface="微软雅黑" panose="020B0503020204020204" pitchFamily="34" charset="-122"/>
                <a:cs typeface="Open Sans" pitchFamily="34" charset="0"/>
              </a:rPr>
              <a:t>Network Authenticated Assembly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0" y="4556579"/>
            <a:ext cx="9398174" cy="2144561"/>
          </a:xfrm>
        </p:spPr>
        <p:txBody>
          <a:bodyPr/>
          <a:lstStyle/>
          <a:p>
            <a:r>
              <a:rPr lang="en-US" altLang="de-DE" b="1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Infosys Ltd</a:t>
            </a:r>
            <a:r>
              <a:rPr lang="en-US" altLang="de-DE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., </a:t>
            </a:r>
            <a:r>
              <a:rPr lang="en-US" altLang="de-DE" b="1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British Telecom, Telstra</a:t>
            </a:r>
            <a:endParaRPr lang="zh-CN" altLang="en-US" b="1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Contacts</a:t>
            </a:r>
            <a:r>
              <a:rPr lang="en-US" altLang="zh-CN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: </a:t>
            </a:r>
          </a:p>
          <a:p>
            <a:pPr marL="0" indent="0">
              <a:buNone/>
            </a:pPr>
            <a:r>
              <a:rPr lang="en-US" altLang="zh-CN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abhisek.das04@infosys.com</a:t>
            </a:r>
            <a:r>
              <a:rPr lang="en-US" altLang="zh-CN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>
                <a:solidFill>
                  <a:srgbClr val="002060"/>
                </a:solidFill>
                <a:latin typeface="Aptos" panose="020B0004020202020204" pitchFamily="34" charset="0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bishnu_panda@infosys.com</a:t>
            </a:r>
            <a:endParaRPr lang="en-US" altLang="zh-CN">
              <a:solidFill>
                <a:srgbClr val="002060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en-US">
                <a:solidFill>
                  <a:srgbClr val="002060"/>
                </a:solidFill>
                <a:effectLst/>
                <a:latin typeface="-apple-system"/>
                <a:hlinkClick r:id="rId5" tooltip="mailto:pawan.7.kumar@b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pawan.7.kumar@bt.com</a:t>
            </a:r>
            <a:r>
              <a:rPr lang="en-US">
                <a:solidFill>
                  <a:srgbClr val="002060"/>
                </a:solidFill>
                <a:effectLst/>
                <a:latin typeface="-apple-system"/>
              </a:rPr>
              <a:t>, </a:t>
            </a:r>
            <a:r>
              <a:rPr lang="en-US">
                <a:solidFill>
                  <a:srgbClr val="002060"/>
                </a:solidFill>
                <a:latin typeface="-apple-system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shyamtanu.banerjee@team.telstra.com</a:t>
            </a:r>
            <a:r>
              <a:rPr lang="en-US">
                <a:solidFill>
                  <a:srgbClr val="002060"/>
                </a:solidFill>
                <a:latin typeface="-apple-system"/>
              </a:rPr>
              <a:t>; </a:t>
            </a:r>
          </a:p>
          <a:p>
            <a:pPr>
              <a:buNone/>
            </a:pPr>
            <a:r>
              <a:rPr lang="en-US">
                <a:effectLst/>
                <a:latin typeface="-apple-system"/>
              </a:rPr>
              <a:t> </a:t>
            </a:r>
            <a:endParaRPr lang="de-DE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endParaRPr lang="de-DE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Background</a:t>
            </a:r>
            <a:r>
              <a:rPr lang="en-US" altLang="zh-CN" sz="2000" b="1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Sample implementation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High level description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NAA API Family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 Sequence Diagram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User story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Deliverables Status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Double click on open pointers </a:t>
            </a:r>
            <a:endParaRPr lang="zh-CN" altLang="en-US" sz="2000">
              <a:solidFill>
                <a:schemeClr val="tx1"/>
              </a:solidFill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1134" y="604407"/>
            <a:ext cx="3540096" cy="74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230">
                <a:solidFill>
                  <a:schemeClr val="bg1"/>
                </a:solidFill>
                <a:latin typeface="Aptos" panose="020B0004020202020204" pitchFamily="34" charset="0"/>
                <a:ea typeface="Segoe UI Black" panose="020B0A02040204020203" pitchFamily="34" charset="0"/>
              </a:rPr>
              <a:t>Contents</a:t>
            </a:r>
            <a:endParaRPr lang="zh-CN" altLang="en-US" sz="423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A66D-5DC0-475E-7A3C-D317FC57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FD443-7B98-F58C-C343-3A1D7FF7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36880"/>
            <a:ext cx="6273800" cy="829945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Aptos" panose="020B0004020202020204" pitchFamily="34" charset="0"/>
                <a:ea typeface="微软雅黑" panose="020B0503020204020204" pitchFamily="34" charset="-122"/>
              </a:rPr>
              <a:t>Background</a:t>
            </a:r>
            <a: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</a:rPr>
              <a:t>-</a:t>
            </a:r>
            <a:b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</a:rPr>
            </a:br>
            <a:r>
              <a:rPr lang="en-US" altLang="zh-CN" sz="2665">
                <a:latin typeface="Aptos" panose="020B0004020202020204" pitchFamily="34" charset="0"/>
                <a:ea typeface="微软雅黑" panose="020B0503020204020204" pitchFamily="34" charset="-122"/>
              </a:rPr>
              <a:t>Network‑Authenticated Assembly</a:t>
            </a:r>
            <a:br>
              <a:rPr lang="en-US" altLang="zh-CN" sz="2665">
                <a:latin typeface="Aptos" panose="020B0004020202020204" pitchFamily="34" charset="0"/>
                <a:ea typeface="微软雅黑" panose="020B0503020204020204" pitchFamily="34" charset="-122"/>
              </a:rPr>
            </a:br>
            <a:endParaRPr lang="zh-CN" altLang="en-US" sz="2665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C9DFAAD8-E530-FD40-AAAC-02BC113D4CED}"/>
              </a:ext>
            </a:extLst>
          </p:cNvPr>
          <p:cNvSpPr/>
          <p:nvPr/>
        </p:nvSpPr>
        <p:spPr>
          <a:xfrm rot="5400000">
            <a:off x="5885849" y="3056023"/>
            <a:ext cx="2136806" cy="279132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D32FE2-A77D-ADB4-21C4-82448E7F5CDE}"/>
              </a:ext>
            </a:extLst>
          </p:cNvPr>
          <p:cNvSpPr txBox="1"/>
          <p:nvPr/>
        </p:nvSpPr>
        <p:spPr>
          <a:xfrm>
            <a:off x="7215581" y="1982667"/>
            <a:ext cx="4820475" cy="250270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>
                <a:latin typeface="Aptos" panose="020B0004020202020204" pitchFamily="34" charset="0"/>
              </a:rPr>
              <a:t>Verify a group of SIM/</a:t>
            </a:r>
            <a:r>
              <a:rPr lang="en-US" altLang="zh-CN" sz="1400" err="1">
                <a:latin typeface="Aptos" panose="020B0004020202020204" pitchFamily="34" charset="0"/>
              </a:rPr>
              <a:t>eSIM</a:t>
            </a:r>
            <a:r>
              <a:rPr lang="en-US" altLang="zh-CN" sz="1400">
                <a:latin typeface="Aptos" panose="020B0004020202020204" pitchFamily="34" charset="0"/>
              </a:rPr>
              <a:t> devices are physically co-located — in a single API call, no coordinates exposed to caller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>
                <a:latin typeface="Aptos" panose="020B0004020202020204" pitchFamily="34" charset="0"/>
              </a:rPr>
              <a:t>k-of-n group verdict — </a:t>
            </a:r>
            <a:r>
              <a:rPr lang="en-US" altLang="zh-CN" sz="1400" err="1">
                <a:latin typeface="Aptos" panose="020B0004020202020204" pitchFamily="34" charset="0"/>
              </a:rPr>
              <a:t>co_present</a:t>
            </a:r>
            <a:r>
              <a:rPr lang="en-US" altLang="zh-CN" sz="1400">
                <a:latin typeface="Aptos" panose="020B0004020202020204" pitchFamily="34" charset="0"/>
              </a:rPr>
              <a:t> / partial / </a:t>
            </a:r>
            <a:r>
              <a:rPr lang="en-US" altLang="zh-CN" sz="1400" err="1">
                <a:latin typeface="Aptos" panose="020B0004020202020204" pitchFamily="34" charset="0"/>
              </a:rPr>
              <a:t>not_co_present</a:t>
            </a:r>
            <a:r>
              <a:rPr lang="en-US" altLang="zh-CN" sz="1400">
                <a:latin typeface="Aptos" panose="020B0004020202020204" pitchFamily="34" charset="0"/>
              </a:rPr>
              <a:t> — configurable minimum threshold per cluster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>
                <a:latin typeface="Aptos" panose="020B0004020202020204" pitchFamily="34" charset="0"/>
              </a:rPr>
              <a:t>Signed attestation token — act on trusted presence without revealing any individual device position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>
                <a:latin typeface="Aptos" panose="020B0004020202020204" pitchFamily="34" charset="0"/>
              </a:rPr>
              <a:t>Two modes: on-demand POST /verify and continuous POST /assembly-subscriptions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zh-CN" sz="1400">
                <a:latin typeface="Aptos" panose="020B0004020202020204" pitchFamily="34" charset="0"/>
              </a:rPr>
              <a:t>Zero new operator capability required — composes existing network location intelligence server-side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BA6F573-B480-4C40-D598-3CA8379AA340}"/>
              </a:ext>
            </a:extLst>
          </p:cNvPr>
          <p:cNvSpPr/>
          <p:nvPr/>
        </p:nvSpPr>
        <p:spPr>
          <a:xfrm>
            <a:off x="7347098" y="1584526"/>
            <a:ext cx="4688958" cy="3694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Aptos" panose="020B0004020202020204" pitchFamily="34" charset="0"/>
              </a:rPr>
              <a:t>API benefit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AF959226-77B8-D954-42C8-90BD4890C6A7}"/>
              </a:ext>
            </a:extLst>
          </p:cNvPr>
          <p:cNvSpPr txBox="1"/>
          <p:nvPr/>
        </p:nvSpPr>
        <p:spPr>
          <a:xfrm>
            <a:off x="350341" y="4954772"/>
            <a:ext cx="11536859" cy="1350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1400" b="1">
                <a:latin typeface="Aptos" panose="020B0004020202020204" pitchFamily="34" charset="0"/>
                <a:ea typeface="微软雅黑" panose="020B0503020204020204" pitchFamily="34" charset="-122"/>
                <a:cs typeface="+mn-lt"/>
                <a:sym typeface="+mn-ea"/>
              </a:rPr>
              <a:t>New business scenarios driven：</a:t>
            </a:r>
          </a:p>
          <a:p>
            <a:pPr indent="0" fontAlgn="auto">
              <a:lnSpc>
                <a:spcPct val="150000"/>
              </a:lnSpc>
            </a:pPr>
            <a:r>
              <a:rPr lang="en-US" sz="1400" b="0" i="0">
                <a:effectLst/>
                <a:latin typeface="Aptos" panose="020B0004020202020204" pitchFamily="34" charset="0"/>
              </a:rPr>
              <a:t>NAA enables trust automation for physical multi-party workflows in Banking (cash-in-transit), Logistics, Field Services, Healthcare, and Controlled-Access Infrastructure — anywhere people, devices, and assets must be confirmed together before a sensitive action is authorized</a:t>
            </a:r>
            <a:endParaRPr lang="en-US" sz="1400">
              <a:latin typeface="Aptos" panose="020B0004020202020204" pitchFamily="34" charset="0"/>
              <a:ea typeface="微软雅黑" panose="020B0503020204020204" pitchFamily="34" charset="-122"/>
              <a:cs typeface="+mn-lt"/>
              <a:sym typeface="+mn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23FFC2-22CD-3AD7-ACC7-4BC0E5E74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41" y="1711842"/>
            <a:ext cx="6342582" cy="29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3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6672-5B88-E507-706B-89BA924B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15" y="277431"/>
            <a:ext cx="11580552" cy="829647"/>
          </a:xfrm>
        </p:spPr>
        <p:txBody>
          <a:bodyPr>
            <a:noAutofit/>
          </a:bodyPr>
          <a:lstStyle/>
          <a:p>
            <a: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  <a:t>Sample implementation:</a:t>
            </a:r>
            <a:b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</a:br>
            <a:r>
              <a:rPr lang="en-US" altLang="zh-CN" sz="3600">
                <a:latin typeface="Aptos" panose="020B0004020202020204" pitchFamily="34" charset="0"/>
                <a:ea typeface="微软雅黑" panose="020B0503020204020204" pitchFamily="34" charset="-122"/>
              </a:rPr>
              <a:t>Network Authenticated Assembly</a:t>
            </a:r>
            <a:endParaRPr lang="en-US" sz="3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F14898-13E3-0DB7-71A5-EFE1A038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18" y="1775637"/>
            <a:ext cx="7032684" cy="464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1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>
                <a:latin typeface="Aptos" panose="020B0004020202020204" pitchFamily="34" charset="0"/>
                <a:ea typeface="微软雅黑" panose="020B0503020204020204" pitchFamily="34" charset="-122"/>
              </a:rPr>
              <a:t>NAA API: High level description</a:t>
            </a:r>
            <a:endParaRPr lang="zh-CN" altLang="en-US" sz="320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88B4D-A5A9-3715-FD45-40522B0D451E}"/>
              </a:ext>
            </a:extLst>
          </p:cNvPr>
          <p:cNvSpPr txBox="1"/>
          <p:nvPr/>
        </p:nvSpPr>
        <p:spPr>
          <a:xfrm>
            <a:off x="252522" y="2228026"/>
            <a:ext cx="1158055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NAA verifies that a defined group of SIM-based devices are physically co-located within a zone and time window — returning a single group verdict (</a:t>
            </a:r>
            <a:r>
              <a:rPr lang="en-US" err="1">
                <a:latin typeface="Aptos" panose="020B0004020202020204" pitchFamily="34" charset="0"/>
              </a:rPr>
              <a:t>co_present</a:t>
            </a:r>
            <a:r>
              <a:rPr lang="en-US">
                <a:latin typeface="Aptos" panose="020B0004020202020204" pitchFamily="34" charset="0"/>
              </a:rPr>
              <a:t> / partial / </a:t>
            </a:r>
            <a:r>
              <a:rPr lang="en-US" err="1">
                <a:latin typeface="Aptos" panose="020B0004020202020204" pitchFamily="34" charset="0"/>
              </a:rPr>
              <a:t>not_co_present</a:t>
            </a:r>
            <a:r>
              <a:rPr lang="en-US">
                <a:latin typeface="Aptos" panose="020B0004020202020204" pitchFamily="34" charset="0"/>
              </a:rPr>
              <a:t>) with a privacy-preserving attestation token. The caller never sees any device location.</a:t>
            </a:r>
          </a:p>
          <a:p>
            <a:endParaRPr lang="en-US" b="1">
              <a:latin typeface="Aptos" panose="020B0004020202020204" pitchFamily="34" charset="0"/>
            </a:endParaRPr>
          </a:p>
          <a:p>
            <a:r>
              <a:rPr lang="en-US" b="1">
                <a:latin typeface="Aptos" panose="020B0004020202020204" pitchFamily="34" charset="0"/>
              </a:rPr>
              <a:t>Key points:</a:t>
            </a:r>
            <a:endParaRPr lang="en-US">
              <a:latin typeface="Aptos" panose="020B00040202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latin typeface="Aptos" panose="020B0004020202020204" pitchFamily="34" charset="0"/>
              </a:rPr>
              <a:t>Single API call for N devices — no per-device location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latin typeface="Aptos" panose="020B0004020202020204" pitchFamily="34" charset="0"/>
              </a:rPr>
              <a:t>k-of-n threshold logic — partial presence is a first-class outcome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latin typeface="Aptos" panose="020B0004020202020204" pitchFamily="34" charset="0"/>
              </a:rPr>
              <a:t>On-demand (POST /verify) + subscription-based continuous monitoring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latin typeface="Aptos" panose="020B0004020202020204" pitchFamily="34" charset="0"/>
              </a:rPr>
              <a:t>Restricted to operator-addressable devices (SIM/</a:t>
            </a:r>
            <a:r>
              <a:rPr lang="en-US" err="1">
                <a:latin typeface="Aptos" panose="020B0004020202020204" pitchFamily="34" charset="0"/>
              </a:rPr>
              <a:t>eSIM</a:t>
            </a:r>
            <a:r>
              <a:rPr lang="en-US">
                <a:latin typeface="Aptos" panose="020B0004020202020204" pitchFamily="34" charset="0"/>
              </a:rPr>
              <a:t> only)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latin typeface="Aptos" panose="020B0004020202020204" pitchFamily="34" charset="0"/>
              </a:rPr>
              <a:t>Targets Banking, Logistics, Field Services, and Healthcare workflows</a:t>
            </a:r>
          </a:p>
          <a:p>
            <a:endParaRPr lang="en-US" b="1">
              <a:latin typeface="Aptos" panose="020B0004020202020204" pitchFamily="34" charset="0"/>
            </a:endParaRPr>
          </a:p>
          <a:p>
            <a:r>
              <a:rPr lang="en-US" b="1">
                <a:latin typeface="Aptos" panose="020B0004020202020204" pitchFamily="34" charset="0"/>
              </a:rPr>
              <a:t>Not a </a:t>
            </a:r>
            <a:r>
              <a:rPr lang="en-US" b="1" err="1">
                <a:latin typeface="Aptos" panose="020B0004020202020204" pitchFamily="34" charset="0"/>
              </a:rPr>
              <a:t>DeviceLocation</a:t>
            </a:r>
            <a:r>
              <a:rPr lang="en-US" b="1">
                <a:latin typeface="Aptos" panose="020B0004020202020204" pitchFamily="34" charset="0"/>
              </a:rPr>
              <a:t> enhancement</a:t>
            </a:r>
            <a:r>
              <a:rPr lang="en-US">
                <a:latin typeface="Aptos" panose="020B0004020202020204" pitchFamily="34" charset="0"/>
              </a:rPr>
              <a:t> — it answers </a:t>
            </a:r>
            <a:r>
              <a:rPr lang="en-US" i="1">
                <a:latin typeface="Aptos" panose="020B0004020202020204" pitchFamily="34" charset="0"/>
              </a:rPr>
              <a:t>"are these devices together?"</a:t>
            </a:r>
            <a:r>
              <a:rPr lang="en-US">
                <a:latin typeface="Aptos" panose="020B0004020202020204" pitchFamily="34" charset="0"/>
              </a:rPr>
              <a:t>, not </a:t>
            </a:r>
            <a:r>
              <a:rPr lang="en-US" i="1">
                <a:latin typeface="Aptos" panose="020B0004020202020204" pitchFamily="34" charset="0"/>
              </a:rPr>
              <a:t>"where is this device?"</a:t>
            </a:r>
            <a:r>
              <a:rPr lang="en-US">
                <a:latin typeface="Aptos" panose="020B0004020202020204" pitchFamily="34" charset="0"/>
              </a:rPr>
              <a:t> — a distinction that preserves privacy and makes the group verdict architecturally unique.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>
                <a:latin typeface="Aptos" panose="020B0004020202020204" pitchFamily="34" charset="0"/>
                <a:ea typeface="微软雅黑" panose="020B0503020204020204" pitchFamily="34" charset="-122"/>
              </a:rPr>
              <a:t>NAA </a:t>
            </a:r>
            <a:r>
              <a:rPr lang="en-US" altLang="zh-CN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</a:t>
            </a:r>
            <a:r>
              <a:rPr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family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E650D0-C865-7616-EDBD-C08DC877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56960"/>
              </p:ext>
            </p:extLst>
          </p:nvPr>
        </p:nvGraphicFramePr>
        <p:xfrm>
          <a:off x="691116" y="1679944"/>
          <a:ext cx="10228521" cy="47411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09507">
                  <a:extLst>
                    <a:ext uri="{9D8B030D-6E8A-4147-A177-3AD203B41FA5}">
                      <a16:colId xmlns:a16="http://schemas.microsoft.com/office/drawing/2014/main" val="1490222955"/>
                    </a:ext>
                  </a:extLst>
                </a:gridCol>
                <a:gridCol w="3409507">
                  <a:extLst>
                    <a:ext uri="{9D8B030D-6E8A-4147-A177-3AD203B41FA5}">
                      <a16:colId xmlns:a16="http://schemas.microsoft.com/office/drawing/2014/main" val="1098486318"/>
                    </a:ext>
                  </a:extLst>
                </a:gridCol>
                <a:gridCol w="3409507">
                  <a:extLst>
                    <a:ext uri="{9D8B030D-6E8A-4147-A177-3AD203B41FA5}">
                      <a16:colId xmlns:a16="http://schemas.microsoft.com/office/drawing/2014/main" val="277490161"/>
                    </a:ext>
                  </a:extLst>
                </a:gridCol>
              </a:tblGrid>
              <a:tr h="186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API Name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API Function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Method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1129155487"/>
                  </a:ext>
                </a:extLst>
              </a:tr>
              <a:tr h="757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Assessment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For a given device cluster and zone parameters, check network ability to resolve co-presence for all specified SIM-based devices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1227327296"/>
                  </a:ext>
                </a:extLst>
              </a:tr>
              <a:tr h="141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Verify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Submit a device cluster for co-presence verification. Returns group verdict (co_present / partial / not_co_present) and a signed privacy-preserving attestation token. Supports: a. cluster size (k-of-n threshold) b. zone definition and time window tolerance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812780843"/>
                  </a:ext>
                </a:extLst>
              </a:tr>
              <a:tr h="1198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Creation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Create a continuous co-presence monitoring subscription for a device cluster. Triggers webhook events on verdict change (status-changed CloudEvent). Supports: a. subscriptionExpireTime b. subscriptionMaxEvents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POST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3812046055"/>
                  </a:ext>
                </a:extLst>
              </a:tr>
              <a:tr h="365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Query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Query an existing co-presence subscription and its current status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GET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383846437"/>
                  </a:ext>
                </a:extLst>
              </a:tr>
              <a:tr h="44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Modification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Modify an active subscription — update time window, k-of-n threshold, or expiry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PATCH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2217489705"/>
                  </a:ext>
                </a:extLst>
              </a:tr>
              <a:tr h="365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NAA Subscription Deletion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Delete an active co-presence subscription and stop monitoring</a:t>
                      </a:r>
                    </a:p>
                  </a:txBody>
                  <a:tcPr marL="5740" marR="5740" marT="3826" marB="38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DELETE</a:t>
                      </a:r>
                    </a:p>
                  </a:txBody>
                  <a:tcPr marL="5740" marR="5740" marT="3826" marB="3826" anchor="ctr"/>
                </a:tc>
                <a:extLst>
                  <a:ext uri="{0D108BD9-81ED-4DB2-BD59-A6C34878D82A}">
                    <a16:rowId xmlns:a16="http://schemas.microsoft.com/office/drawing/2014/main" val="37497159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Sequence Diagram </a:t>
            </a:r>
            <a:endParaRPr lang="zh-CN" altLang="en-US" sz="3200">
              <a:latin typeface="Aptos" panose="020B00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BE6176-4A43-09B7-4C60-1E32B1BA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48" y="1266568"/>
            <a:ext cx="7825562" cy="541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User story</a:t>
            </a:r>
            <a:endParaRPr lang="zh-CN" altLang="en-US"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AA7770-A245-F18F-23E0-22A8789E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32660"/>
              </p:ext>
            </p:extLst>
          </p:nvPr>
        </p:nvGraphicFramePr>
        <p:xfrm>
          <a:off x="470211" y="1825625"/>
          <a:ext cx="10906626" cy="46030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58319">
                  <a:extLst>
                    <a:ext uri="{9D8B030D-6E8A-4147-A177-3AD203B41FA5}">
                      <a16:colId xmlns:a16="http://schemas.microsoft.com/office/drawing/2014/main" val="861723123"/>
                    </a:ext>
                  </a:extLst>
                </a:gridCol>
                <a:gridCol w="9048307">
                  <a:extLst>
                    <a:ext uri="{9D8B030D-6E8A-4147-A177-3AD203B41FA5}">
                      <a16:colId xmlns:a16="http://schemas.microsoft.com/office/drawing/2014/main" val="2763391718"/>
                    </a:ext>
                  </a:extLst>
                </a:gridCol>
              </a:tblGrid>
              <a:tr h="290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Item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Details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3863283207"/>
                  </a:ext>
                </a:extLst>
              </a:tr>
              <a:tr h="997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Summary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As an application developer or enterprise customer, I want to verify (using my application server/backend service) that a defined group of SIM-based devices are physically co-located within a specific zone and time window — so that I can automate trust decisions for security-sensitive physical workflows without exposing any device location to my application.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319551850"/>
                  </a:ext>
                </a:extLst>
              </a:tr>
              <a:tr h="136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Roles, Actors and Scope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Roles: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Enterprise Customer</a:t>
                      </a:r>
                    </a:p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Actors: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Application developers, enterprise security teams, industry customers (banking, logistics, field services, healthcare)</a:t>
                      </a:r>
                    </a:p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Scope: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On-demand co-presence verification (POST /verify) — Submit device cluster, get group verdict + attestation token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Subscription-based continuous monitoring (POST /assembly-subscriptions) — Create / Query / Modify / Delete a monitored cluster subscription with webhook-based verdict change notifications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212372763"/>
                  </a:ext>
                </a:extLst>
              </a:tr>
              <a:tr h="1954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Activities / Steps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587" marR="4587" marT="3058" marB="30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Starts when: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The customer application server makes a POST /verify request (including device cluster identifiers, zone definition, time window tolerance, and k-of-n threshold) to the NAA API, triggering operator-side co-presence resolution across all specified SIM/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eSIM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devices.</a:t>
                      </a:r>
                    </a:p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Returns: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A group verdict (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co_present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/ partial / 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not_co_present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) and a signed privacy-preserving attestation token. No individual device location is returned to the 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caller</a:t>
                      </a:r>
                      <a:r>
                        <a:rPr lang="en-US" sz="1050" b="1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For</a:t>
                      </a:r>
                      <a:r>
                        <a:rPr lang="en-US" sz="1050" b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subscriptions — Ends when: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The customer application server makes a DELETE /assembly-subscriptions/{id} request, or the subscription expires automatically when 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subscriptionExpireTime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is reached or 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subscriptionMaxEvents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 is exhausted.</a:t>
                      </a:r>
                    </a:p>
                  </a:txBody>
                  <a:tcPr marL="4587" marR="4587" marT="3058" marB="3058" anchor="ctr"/>
                </a:tc>
                <a:extLst>
                  <a:ext uri="{0D108BD9-81ED-4DB2-BD59-A6C34878D82A}">
                    <a16:rowId xmlns:a16="http://schemas.microsoft.com/office/drawing/2014/main" val="17968088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378460"/>
            <a:ext cx="7780655" cy="829945"/>
          </a:xfrm>
        </p:spPr>
        <p:txBody>
          <a:bodyPr>
            <a:normAutofit/>
          </a:bodyPr>
          <a:lstStyle/>
          <a:p>
            <a:r>
              <a:rPr lang="en-US" altLang="zh-CN" sz="3110">
                <a:latin typeface="Aptos" panose="020B0004020202020204" pitchFamily="34" charset="0"/>
                <a:ea typeface="微软雅黑" panose="020B0503020204020204" pitchFamily="34" charset="-122"/>
                <a:sym typeface="+mn-ea"/>
              </a:rPr>
              <a:t>API  Deliverables status 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845070"/>
              </p:ext>
            </p:extLst>
          </p:nvPr>
        </p:nvGraphicFramePr>
        <p:xfrm>
          <a:off x="855980" y="2093595"/>
          <a:ext cx="5605780" cy="35128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9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963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500"/>
                    </a:p>
                    <a:p>
                      <a:pPr marL="9461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i="1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Deliverable</a:t>
                      </a:r>
                      <a:r>
                        <a:rPr sz="140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   </a:t>
                      </a:r>
                      <a:r>
                        <a:rPr sz="1400" b="1" i="1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Required/Optional</a:t>
                      </a:r>
                      <a:r>
                        <a:rPr sz="140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1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(R/O)</a:t>
                      </a:r>
                      <a:r>
                        <a:rPr sz="140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</a:t>
                      </a:r>
                      <a:r>
                        <a:rPr sz="1400" b="1" i="1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00" b="1" i="1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urrent</a:t>
                      </a:r>
                      <a:r>
                        <a:rPr sz="1400" spc="-3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i="1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status</a:t>
                      </a:r>
                      <a:endParaRPr lang="en-US" alt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Spe</a:t>
                      </a: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In Progress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805"/>
                        </a:lnSpc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documentation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5250" algn="l" rtl="0" eaLnBrk="0">
                        <a:lnSpc>
                          <a:spcPts val="180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 stories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715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Available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455" algn="l" rtl="0" eaLnBrk="0">
                        <a:lnSpc>
                          <a:spcPts val="1785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 ca</a:t>
                      </a: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52805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TBD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9652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Implementation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84645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 spc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160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lang="en-US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TBD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A4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BAF2F9-DEE7-FA5E-F8B9-795617FEF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99856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0578-2460-9207-2273-82581303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NAA Vs Device Locations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D5378-A460-5B2F-8EF1-18677218E257}"/>
              </a:ext>
            </a:extLst>
          </p:cNvPr>
          <p:cNvSpPr txBox="1"/>
          <p:nvPr/>
        </p:nvSpPr>
        <p:spPr>
          <a:xfrm>
            <a:off x="470211" y="1840560"/>
            <a:ext cx="6217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70C0"/>
                </a:solidFill>
              </a:rPr>
              <a:t>NAA is a New Abstraction Layer, Not a Device Location Enhancement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17222-E20F-7055-1AFD-12DB8FEEAAB3}"/>
              </a:ext>
            </a:extLst>
          </p:cNvPr>
          <p:cNvSpPr txBox="1"/>
          <p:nvPr/>
        </p:nvSpPr>
        <p:spPr>
          <a:xfrm>
            <a:off x="470211" y="2462894"/>
            <a:ext cx="51650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>
                <a:effectLst/>
                <a:latin typeface="Aptos" panose="020B0004020202020204" pitchFamily="34" charset="0"/>
              </a:rPr>
              <a:t>Caller supplies </a:t>
            </a:r>
            <a:r>
              <a:rPr lang="en-US" sz="1400" b="1" i="0">
                <a:effectLst/>
                <a:latin typeface="Aptos" panose="020B0004020202020204" pitchFamily="34" charset="0"/>
              </a:rPr>
              <a:t>zero coordinates</a:t>
            </a:r>
            <a:r>
              <a:rPr lang="en-US" sz="1400" b="0" i="0">
                <a:effectLst/>
                <a:latin typeface="Aptos" panose="020B0004020202020204" pitchFamily="34" charset="0"/>
              </a:rPr>
              <a:t> — no </a:t>
            </a:r>
            <a:r>
              <a:rPr lang="en-US" sz="1400" b="0" i="0" err="1">
                <a:effectLst/>
                <a:latin typeface="Aptos" panose="020B0004020202020204" pitchFamily="34" charset="0"/>
              </a:rPr>
              <a:t>lat</a:t>
            </a:r>
            <a:r>
              <a:rPr lang="en-US" sz="1400" b="0" i="0">
                <a:effectLst/>
                <a:latin typeface="Aptos" panose="020B0004020202020204" pitchFamily="34" charset="0"/>
              </a:rPr>
              <a:t>/</a:t>
            </a:r>
            <a:r>
              <a:rPr lang="en-US" sz="1400" b="0" i="0" err="1">
                <a:effectLst/>
                <a:latin typeface="Aptos" panose="020B0004020202020204" pitchFamily="34" charset="0"/>
              </a:rPr>
              <a:t>lon</a:t>
            </a:r>
            <a:r>
              <a:rPr lang="en-US" sz="1400" b="0" i="0">
                <a:effectLst/>
                <a:latin typeface="Aptos" panose="020B0004020202020204" pitchFamily="34" charset="0"/>
              </a:rPr>
              <a:t> input, no zone exposed to the caller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>
                <a:effectLst/>
                <a:latin typeface="Aptos" panose="020B0004020202020204" pitchFamily="34" charset="0"/>
              </a:rPr>
              <a:t>Output is a </a:t>
            </a:r>
            <a:r>
              <a:rPr lang="en-US" sz="1400" b="1" i="0">
                <a:effectLst/>
                <a:latin typeface="Aptos" panose="020B0004020202020204" pitchFamily="34" charset="0"/>
              </a:rPr>
              <a:t>relational group verdict</a:t>
            </a:r>
            <a:r>
              <a:rPr lang="en-US" sz="1400" b="0" i="0">
                <a:effectLst/>
                <a:latin typeface="Aptos" panose="020B0004020202020204" pitchFamily="34" charset="0"/>
              </a:rPr>
              <a:t> (</a:t>
            </a:r>
            <a:r>
              <a:rPr lang="en-US" sz="1400" b="0" i="0" err="1">
                <a:effectLst/>
                <a:latin typeface="Aptos" panose="020B0004020202020204" pitchFamily="34" charset="0"/>
              </a:rPr>
              <a:t>co_present</a:t>
            </a:r>
            <a:r>
              <a:rPr lang="en-US" sz="1400" b="0" i="0">
                <a:effectLst/>
                <a:latin typeface="Aptos" panose="020B0004020202020204" pitchFamily="34" charset="0"/>
              </a:rPr>
              <a:t> / partial / </a:t>
            </a:r>
            <a:r>
              <a:rPr lang="en-US" sz="1400" b="0" i="0" err="1">
                <a:effectLst/>
                <a:latin typeface="Aptos" panose="020B0004020202020204" pitchFamily="34" charset="0"/>
              </a:rPr>
              <a:t>not_co_present</a:t>
            </a:r>
            <a:r>
              <a:rPr lang="en-US" sz="1400" b="0" i="0">
                <a:effectLst/>
                <a:latin typeface="Aptos" panose="020B0004020202020204" pitchFamily="34" charset="0"/>
              </a:rPr>
              <a:t>), not a location value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>
                <a:effectLst/>
                <a:latin typeface="Aptos" panose="020B0004020202020204" pitchFamily="34" charset="0"/>
              </a:rPr>
              <a:t>Privacy-preserving by design: individual positions are </a:t>
            </a:r>
            <a:r>
              <a:rPr lang="en-US" sz="1400" b="1" i="0">
                <a:effectLst/>
                <a:latin typeface="Aptos" panose="020B0004020202020204" pitchFamily="34" charset="0"/>
              </a:rPr>
              <a:t>never returned</a:t>
            </a:r>
            <a:r>
              <a:rPr lang="en-US" sz="1400" b="0" i="0">
                <a:effectLst/>
                <a:latin typeface="Aptos" panose="020B0004020202020204" pitchFamily="34" charset="0"/>
              </a:rPr>
              <a:t>, even partially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400" b="0" i="0">
                <a:effectLst/>
                <a:latin typeface="Aptos" panose="020B0004020202020204" pitchFamily="34" charset="0"/>
              </a:rPr>
              <a:t>Promoting it as a </a:t>
            </a:r>
            <a:r>
              <a:rPr lang="en-US" sz="1400" b="0" i="0" err="1">
                <a:effectLst/>
                <a:latin typeface="Aptos" panose="020B0004020202020204" pitchFamily="34" charset="0"/>
              </a:rPr>
              <a:t>DeviceLocation</a:t>
            </a:r>
            <a:r>
              <a:rPr lang="en-US" sz="1400" b="0" i="0">
                <a:effectLst/>
                <a:latin typeface="Aptos" panose="020B0004020202020204" pitchFamily="34" charset="0"/>
              </a:rPr>
              <a:t> enhancement would </a:t>
            </a:r>
            <a:r>
              <a:rPr lang="en-US" sz="1400" b="1" i="0">
                <a:effectLst/>
                <a:latin typeface="Aptos" panose="020B0004020202020204" pitchFamily="34" charset="0"/>
              </a:rPr>
              <a:t>force callers to aggregate individual location results</a:t>
            </a:r>
            <a:r>
              <a:rPr lang="en-US" sz="1400" b="0" i="0">
                <a:effectLst/>
                <a:latin typeface="Aptos" panose="020B0004020202020204" pitchFamily="34" charset="0"/>
              </a:rPr>
              <a:t> — increasing privacy surface and destroying the attestation model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FC3899-3F39-A19B-6016-236558F7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641839"/>
              </p:ext>
            </p:extLst>
          </p:nvPr>
        </p:nvGraphicFramePr>
        <p:xfrm>
          <a:off x="6925739" y="2462894"/>
          <a:ext cx="4950828" cy="262008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50276">
                  <a:extLst>
                    <a:ext uri="{9D8B030D-6E8A-4147-A177-3AD203B41FA5}">
                      <a16:colId xmlns:a16="http://schemas.microsoft.com/office/drawing/2014/main" val="3076243538"/>
                    </a:ext>
                  </a:extLst>
                </a:gridCol>
                <a:gridCol w="1650276">
                  <a:extLst>
                    <a:ext uri="{9D8B030D-6E8A-4147-A177-3AD203B41FA5}">
                      <a16:colId xmlns:a16="http://schemas.microsoft.com/office/drawing/2014/main" val="763374759"/>
                    </a:ext>
                  </a:extLst>
                </a:gridCol>
                <a:gridCol w="1650276">
                  <a:extLst>
                    <a:ext uri="{9D8B030D-6E8A-4147-A177-3AD203B41FA5}">
                      <a16:colId xmlns:a16="http://schemas.microsoft.com/office/drawing/2014/main" val="1662432745"/>
                    </a:ext>
                  </a:extLst>
                </a:gridCol>
              </a:tblGrid>
              <a:tr h="6451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b="1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1600" b="1"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600" b="1">
                          <a:effectLst/>
                          <a:latin typeface="Aptos" panose="020B0004020202020204" pitchFamily="34" charset="0"/>
                        </a:rPr>
                        <a:t>Device Location Verification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Aptos" panose="020B0004020202020204" pitchFamily="34" charset="0"/>
                        </a:rPr>
                        <a:t>NAA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4113240896"/>
                  </a:ext>
                </a:extLst>
              </a:tr>
              <a:tr h="520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Input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  <a:latin typeface="Aptos" panose="020B0004020202020204" pitchFamily="34" charset="0"/>
                        </a:rPr>
                        <a:t>1 device + caller lat/lon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N devices, no coordinates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2832621390"/>
                  </a:ext>
                </a:extLst>
              </a:tr>
              <a:tr h="43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Output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Location boolean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Group relational verdict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3591415243"/>
                  </a:ext>
                </a:extLst>
              </a:tr>
              <a:tr h="645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Privacy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Caller knows the zone</a:t>
                      </a:r>
                    </a:p>
                  </a:txBody>
                  <a:tcPr marL="34066" marR="34066" marT="22711" marB="227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Caller learns nothing about position</a:t>
                      </a:r>
                    </a:p>
                  </a:txBody>
                  <a:tcPr marL="34066" marR="34066" marT="22711" marB="22711" anchor="ctr"/>
                </a:tc>
                <a:extLst>
                  <a:ext uri="{0D108BD9-81ED-4DB2-BD59-A6C34878D82A}">
                    <a16:rowId xmlns:a16="http://schemas.microsoft.com/office/drawing/2014/main" val="22546304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F357E45-4620-0A69-44D8-E63A4A46A5E7}"/>
              </a:ext>
            </a:extLst>
          </p:cNvPr>
          <p:cNvSpPr txBox="1"/>
          <p:nvPr/>
        </p:nvSpPr>
        <p:spPr>
          <a:xfrm>
            <a:off x="470211" y="5756089"/>
            <a:ext cx="9019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>
                <a:effectLst/>
                <a:latin typeface="Segoe WPC"/>
              </a:rPr>
              <a:t>The group verdict cannot be cleanly expressed as a </a:t>
            </a:r>
            <a:r>
              <a:rPr lang="en-US" sz="1400" b="0" i="1" err="1">
                <a:effectLst/>
                <a:latin typeface="Segoe WPC"/>
              </a:rPr>
              <a:t>DeviceLocation</a:t>
            </a:r>
            <a:r>
              <a:rPr lang="en-US" sz="1400" b="0" i="1">
                <a:effectLst/>
                <a:latin typeface="Segoe WPC"/>
              </a:rPr>
              <a:t> enhancement without breaking the core privacy guarantee — that is the architectural justification for a separate API family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7955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3D691-6EBF-0490-2FB8-62ACB23D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6708-0378-4CC7-120D-286BF1989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7302189" cy="8296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Device Eligibility: Operator-Addressable 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DEB7B-DD1E-E2F3-8F86-B96E69DE1F84}"/>
              </a:ext>
            </a:extLst>
          </p:cNvPr>
          <p:cNvSpPr txBox="1"/>
          <p:nvPr/>
        </p:nvSpPr>
        <p:spPr>
          <a:xfrm>
            <a:off x="642384" y="2120949"/>
            <a:ext cx="970309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600" b="1">
                <a:solidFill>
                  <a:srgbClr val="0070C0"/>
                </a:solidFill>
                <a:effectLst/>
                <a:latin typeface="Segoe WPC"/>
              </a:rPr>
              <a:t>Cluster members restricted to SIM/</a:t>
            </a:r>
            <a:r>
              <a:rPr lang="en-US" sz="1600" b="1" err="1">
                <a:solidFill>
                  <a:srgbClr val="0070C0"/>
                </a:solidFill>
                <a:effectLst/>
                <a:latin typeface="Segoe WPC"/>
              </a:rPr>
              <a:t>eSIM</a:t>
            </a:r>
            <a:r>
              <a:rPr lang="en-US" sz="1600" b="1">
                <a:solidFill>
                  <a:srgbClr val="0070C0"/>
                </a:solidFill>
                <a:effectLst/>
                <a:latin typeface="Segoe WPC"/>
              </a:rPr>
              <a:t> identities — same schema as existing CAMARA APIs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600" b="1" i="0">
                <a:effectLst/>
                <a:latin typeface="Segoe WPC"/>
              </a:rPr>
              <a:t>Key Points:</a:t>
            </a:r>
            <a:endParaRPr lang="en-US" sz="1600" b="0" i="0">
              <a:effectLst/>
              <a:latin typeface="Segoe WPC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Tags, beacons, gateways, and carts are </a:t>
            </a:r>
            <a:r>
              <a:rPr lang="en-US" sz="1600" b="1" i="0">
                <a:effectLst/>
                <a:latin typeface="Segoe WPC"/>
              </a:rPr>
              <a:t>removed from the proposal</a:t>
            </a:r>
            <a:endParaRPr lang="en-US" sz="1600">
              <a:latin typeface="Segoe WPC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All cluster members must use CAMARA-standard device identifiers: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err="1">
                <a:effectLst/>
                <a:latin typeface="Consolas" panose="020B0609020204030204" pitchFamily="49" charset="0"/>
              </a:rPr>
              <a:t>phoneNumber</a:t>
            </a:r>
            <a:r>
              <a:rPr lang="en-US" sz="1600" b="0" i="0">
                <a:effectLst/>
                <a:latin typeface="Segoe WPC"/>
              </a:rPr>
              <a:t> (E.164)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err="1">
                <a:effectLst/>
                <a:latin typeface="Consolas" panose="020B0609020204030204" pitchFamily="49" charset="0"/>
              </a:rPr>
              <a:t>networkAccessIdentifier</a:t>
            </a:r>
            <a:endParaRPr lang="en-US" sz="1600" b="0" i="0"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Consolas" panose="020B0609020204030204" pitchFamily="49" charset="0"/>
              </a:rPr>
              <a:t>ipv4Address</a:t>
            </a:r>
            <a:r>
              <a:rPr lang="en-US" sz="1600" b="0" i="0">
                <a:effectLst/>
                <a:latin typeface="Segoe WPC"/>
              </a:rPr>
              <a:t> / </a:t>
            </a:r>
            <a:r>
              <a:rPr lang="en-US" sz="1600" b="0" i="0">
                <a:effectLst/>
                <a:latin typeface="Consolas" panose="020B0609020204030204" pitchFamily="49" charset="0"/>
              </a:rPr>
              <a:t>ipv6Address</a:t>
            </a:r>
            <a:endParaRPr lang="en-US" sz="1600">
              <a:latin typeface="Segoe WPC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IoT trackers </a:t>
            </a:r>
            <a:r>
              <a:rPr lang="en-US" sz="1600" b="1" i="0">
                <a:effectLst/>
                <a:latin typeface="Segoe WPC"/>
              </a:rPr>
              <a:t>in scope only</a:t>
            </a:r>
            <a:r>
              <a:rPr lang="en-US" sz="1600" b="0" i="0">
                <a:effectLst/>
                <a:latin typeface="Segoe WPC"/>
              </a:rPr>
              <a:t> when SIM/</a:t>
            </a:r>
            <a:r>
              <a:rPr lang="en-US" sz="1600" b="0" i="0" err="1">
                <a:effectLst/>
                <a:latin typeface="Segoe WPC"/>
              </a:rPr>
              <a:t>eSIM</a:t>
            </a:r>
            <a:r>
              <a:rPr lang="en-US" sz="1600" b="0" i="0">
                <a:effectLst/>
                <a:latin typeface="Segoe WPC"/>
              </a:rPr>
              <a:t>-based (e.g. the armored vehicle tracker = cellular module with a phone number)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Non-operator-visible trackers (Bluetooth, Zigbee, LoRa) → </a:t>
            </a:r>
            <a:r>
              <a:rPr lang="en-US" sz="1600" b="1" i="0">
                <a:effectLst/>
                <a:latin typeface="Segoe WPC"/>
              </a:rPr>
              <a:t>explicitly out of scope, documented in spec</a:t>
            </a:r>
            <a:endParaRPr lang="en-US" sz="1600">
              <a:latin typeface="Segoe WPC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0" i="0">
                <a:effectLst/>
                <a:latin typeface="Segoe WPC"/>
              </a:rPr>
              <a:t>Every cluster member is independently verifiable by the operator using </a:t>
            </a:r>
            <a:r>
              <a:rPr lang="en-US" sz="1600" b="1" i="0">
                <a:effectLst/>
                <a:latin typeface="Segoe WPC"/>
              </a:rPr>
              <a:t>existing network-layer</a:t>
            </a:r>
          </a:p>
          <a:p>
            <a:endParaRPr lang="en-US" sz="1600" b="1">
              <a:latin typeface="Segoe WPC"/>
            </a:endParaRPr>
          </a:p>
          <a:p>
            <a:r>
              <a:rPr lang="en-US" sz="1600" b="1">
                <a:solidFill>
                  <a:srgbClr val="0070C0"/>
                </a:solidFill>
              </a:rPr>
              <a:t>No</a:t>
            </a:r>
            <a:r>
              <a:rPr lang="en-US" sz="1600">
                <a:solidFill>
                  <a:srgbClr val="00B0F0"/>
                </a:solidFill>
                <a:effectLst/>
                <a:latin typeface="Segoe WPC"/>
              </a:rPr>
              <a:t> </a:t>
            </a:r>
            <a:r>
              <a:rPr lang="en-US" sz="1600" b="1">
                <a:solidFill>
                  <a:srgbClr val="0070C0"/>
                </a:solidFill>
              </a:rPr>
              <a:t>new operator capability required. This change directly resolves the interoperability concern. </a:t>
            </a:r>
          </a:p>
        </p:txBody>
      </p:sp>
    </p:spTree>
    <p:extLst>
      <p:ext uri="{BB962C8B-B14F-4D97-AF65-F5344CB8AC3E}">
        <p14:creationId xmlns:p14="http://schemas.microsoft.com/office/powerpoint/2010/main" val="344378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44AD-2E60-98C0-1F85-35C5D9F8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08FA-B176-1857-C13A-BC493334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8057101" cy="8296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Continuous Checks: Full CAMARA Subscription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7DE74-4F03-B466-26BE-875917E20987}"/>
              </a:ext>
            </a:extLst>
          </p:cNvPr>
          <p:cNvSpPr txBox="1"/>
          <p:nvPr/>
        </p:nvSpPr>
        <p:spPr>
          <a:xfrm>
            <a:off x="135564" y="2046453"/>
            <a:ext cx="1175163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400" b="1">
                <a:solidFill>
                  <a:srgbClr val="0070C0"/>
                </a:solidFill>
                <a:effectLst/>
                <a:latin typeface="Aptos" panose="020B0004020202020204" pitchFamily="34" charset="0"/>
              </a:rPr>
              <a:t>"Continuous at scale" scoped as a proper subscription resource — aligned with Geofencing Subscriptions pattern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400" b="0">
                <a:effectLst/>
                <a:latin typeface="Aptos" panose="020B0004020202020204" pitchFamily="34" charset="0"/>
              </a:rPr>
              <a:t>The subscription model is structurally identical to Geofencing Subscriptions — reviewers familiar with that API will find the pattern immediately recognizable</a:t>
            </a:r>
          </a:p>
        </p:txBody>
      </p:sp>
    </p:spTree>
    <p:extLst>
      <p:ext uri="{BB962C8B-B14F-4D97-AF65-F5344CB8AC3E}">
        <p14:creationId xmlns:p14="http://schemas.microsoft.com/office/powerpoint/2010/main" val="406213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D135-F406-F81A-8BAD-89E7EAE8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2C2E-A7BC-5531-E15A-222B6D8B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11" y="436920"/>
            <a:ext cx="8057101" cy="8296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10">
                <a:latin typeface="Aptos" panose="020B0004020202020204" pitchFamily="34" charset="0"/>
                <a:ea typeface="微软雅黑" panose="020B0503020204020204" pitchFamily="34" charset="-122"/>
              </a:rPr>
              <a:t>Questions posted on PR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899F9-526C-C8BB-BFA6-E3B0A03C6184}"/>
              </a:ext>
            </a:extLst>
          </p:cNvPr>
          <p:cNvSpPr txBox="1"/>
          <p:nvPr/>
        </p:nvSpPr>
        <p:spPr>
          <a:xfrm>
            <a:off x="74428" y="1940128"/>
            <a:ext cx="11751635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/>
              <a:t>Q1: Overlap — why not just enhance </a:t>
            </a:r>
            <a:r>
              <a:rPr lang="en-US" sz="1050" b="1" err="1"/>
              <a:t>DeviceLocation</a:t>
            </a:r>
            <a:r>
              <a:rPr lang="en-US" sz="1050" b="1"/>
              <a:t>?</a:t>
            </a:r>
            <a:br>
              <a:rPr lang="en-US" sz="1050" b="1"/>
            </a:br>
            <a:r>
              <a:rPr lang="en-US" sz="1050" err="1"/>
              <a:t>DeviceLocation</a:t>
            </a:r>
            <a:r>
              <a:rPr lang="en-US" sz="1050"/>
              <a:t> evaluates one device at a time. NAA's atomic server-side group verdict (k-of-n across N devices) cannot be reproduced by calling </a:t>
            </a:r>
            <a:r>
              <a:rPr lang="en-US" sz="1050" err="1"/>
              <a:t>DeviceLocation</a:t>
            </a:r>
            <a:r>
              <a:rPr lang="en-US" sz="1050"/>
              <a:t> N times client-side — </a:t>
            </a:r>
            <a:r>
              <a:rPr lang="en-US" sz="1050">
                <a:highlight>
                  <a:srgbClr val="FFFF00"/>
                </a:highlight>
              </a:rPr>
              <a:t>because the group verdict must be atomic, consistent across all devices at the same moment</a:t>
            </a:r>
            <a:r>
              <a:rPr lang="en-US" sz="1050"/>
              <a:t>. Client-side aggregation breaks atomicity (race conditions, partial failures) and cannot produce a single signed attestation token. The </a:t>
            </a:r>
            <a:r>
              <a:rPr lang="en-US" sz="1050">
                <a:highlight>
                  <a:srgbClr val="FFFF00"/>
                </a:highlight>
              </a:rPr>
              <a:t>delta is architectural, not just a feature flag.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Q2: Weak differentiation vs Location Verification?</a:t>
            </a:r>
            <a:br>
              <a:rPr lang="en-US" sz="1050"/>
            </a:br>
            <a:r>
              <a:rPr lang="en-US" sz="1050"/>
              <a:t>The normative gap: Location Verification returns a per-device </a:t>
            </a:r>
            <a:r>
              <a:rPr lang="en-US" sz="1050" err="1"/>
              <a:t>boolean</a:t>
            </a:r>
            <a:r>
              <a:rPr lang="en-US" sz="1050"/>
              <a:t>. NAA returns a </a:t>
            </a:r>
            <a:r>
              <a:rPr lang="en-US" sz="1050" b="1"/>
              <a:t>relational group verdict</a:t>
            </a:r>
            <a:r>
              <a:rPr lang="en-US" sz="1050"/>
              <a:t> with a k-of-n threshold enforced server-side. Standardizing this server-side is required for interoperability because: </a:t>
            </a:r>
          </a:p>
          <a:p>
            <a:pPr marL="228600" indent="-228600">
              <a:buAutoNum type="alphaLcParenBoth"/>
            </a:pPr>
            <a:r>
              <a:rPr lang="en-US" sz="1050"/>
              <a:t>the aggregation logic must be identical across operators</a:t>
            </a:r>
          </a:p>
          <a:p>
            <a:pPr marL="228600" indent="-228600">
              <a:buAutoNum type="alphaLcParenBoth"/>
            </a:pPr>
            <a:r>
              <a:rPr lang="en-US" sz="1050"/>
              <a:t>the attestation token must be verifiable by a relying party without re-querying individual devices, and </a:t>
            </a:r>
          </a:p>
          <a:p>
            <a:pPr marL="228600" indent="-228600">
              <a:buAutoNum type="alphaLcParenBoth"/>
            </a:pPr>
            <a:r>
              <a:rPr lang="en-US" sz="1050"/>
              <a:t>partial-presence states (partial) have no equivalent in Location Verification semantics.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Q3: Consent / privacy model underspecified?</a:t>
            </a:r>
            <a:br>
              <a:rPr lang="en-US" sz="1050"/>
            </a:br>
            <a:r>
              <a:rPr lang="en-US" sz="1050"/>
              <a:t>Two explicit modes:</a:t>
            </a:r>
          </a:p>
          <a:p>
            <a:r>
              <a:rPr lang="en-US" sz="1050" b="1">
                <a:highlight>
                  <a:srgbClr val="FFFF00"/>
                </a:highlight>
              </a:rPr>
              <a:t>Enterprise</a:t>
            </a:r>
            <a:r>
              <a:rPr lang="en-US" sz="1050" b="1"/>
              <a:t> fleet :</a:t>
            </a:r>
            <a:r>
              <a:rPr lang="en-US" sz="1050"/>
              <a:t> All devices are operator-registered assets under a single enterprise tenant. No end-user consent needed beyond enterprise subscription agreement.</a:t>
            </a:r>
          </a:p>
          <a:p>
            <a:r>
              <a:rPr lang="en-US" sz="1050" b="1">
                <a:highlight>
                  <a:srgbClr val="FFFF00"/>
                </a:highlight>
              </a:rPr>
              <a:t>Multi-user </a:t>
            </a:r>
            <a:r>
              <a:rPr lang="en-US" sz="1050" b="1"/>
              <a:t>cluster:</a:t>
            </a:r>
            <a:r>
              <a:rPr lang="en-US" sz="1050"/>
              <a:t> Each device owner must grant explicit OAuth scope consent. NAA returns only the group verdict — no individual coordinates, no identity linkage exposed via API. Data minimization: raw locations never leave the operator; only the </a:t>
            </a:r>
            <a:r>
              <a:rPr lang="en-US" sz="1050" err="1"/>
              <a:t>boolean</a:t>
            </a:r>
            <a:r>
              <a:rPr lang="en-US" sz="1050"/>
              <a:t> verdict + attestation token are surfaced.</a:t>
            </a:r>
          </a:p>
          <a:p>
            <a:br>
              <a:rPr lang="en-US" sz="1050"/>
            </a:br>
            <a:endParaRPr lang="en-US" sz="1050"/>
          </a:p>
          <a:p>
            <a:r>
              <a:rPr lang="en-US" sz="1050" b="1"/>
              <a:t>Q4: Subscription model too vague?</a:t>
            </a:r>
            <a:r>
              <a:rPr lang="en-US" sz="1050" b="1">
                <a:highlight>
                  <a:srgbClr val="FFFF00"/>
                </a:highlight>
              </a:rPr>
              <a:t> [To be discussed during Spec development]</a:t>
            </a:r>
            <a:br>
              <a:rPr lang="en-US" sz="1050"/>
            </a:br>
            <a:r>
              <a:rPr lang="en-US" sz="1050"/>
              <a:t>Subscription resource model (aligned with Geofencing Subscriptions pattern):</a:t>
            </a:r>
          </a:p>
          <a:p>
            <a:r>
              <a:rPr lang="en-US" sz="1050"/>
              <a:t>POST /assembly-subscriptions → creates subscription, returns </a:t>
            </a:r>
            <a:r>
              <a:rPr lang="en-US" sz="1050" err="1"/>
              <a:t>subscriptionId</a:t>
            </a:r>
            <a:endParaRPr lang="en-US" sz="1050"/>
          </a:p>
          <a:p>
            <a:r>
              <a:rPr lang="en-US" sz="1050"/>
              <a:t>Event types: </a:t>
            </a:r>
            <a:r>
              <a:rPr lang="en-US" sz="1050" err="1"/>
              <a:t>assembly.co_present</a:t>
            </a:r>
            <a:r>
              <a:rPr lang="en-US" sz="1050"/>
              <a:t>, </a:t>
            </a:r>
            <a:r>
              <a:rPr lang="en-US" sz="1050" err="1"/>
              <a:t>assembly.partial</a:t>
            </a:r>
            <a:r>
              <a:rPr lang="en-US" sz="1050"/>
              <a:t>, </a:t>
            </a:r>
            <a:r>
              <a:rPr lang="en-US" sz="1050" err="1"/>
              <a:t>assembly.not_co_present</a:t>
            </a:r>
            <a:endParaRPr lang="en-US" sz="1050"/>
          </a:p>
          <a:p>
            <a:r>
              <a:rPr lang="en-US" sz="1050"/>
              <a:t>Payload: </a:t>
            </a:r>
            <a:r>
              <a:rPr lang="en-US" sz="1050" err="1"/>
              <a:t>CloudEvent</a:t>
            </a:r>
            <a:r>
              <a:rPr lang="en-US" sz="1050"/>
              <a:t> envelope with </a:t>
            </a:r>
            <a:r>
              <a:rPr lang="en-US" sz="1050" err="1"/>
              <a:t>subscriptionId</a:t>
            </a:r>
            <a:r>
              <a:rPr lang="en-US" sz="1050"/>
              <a:t>, verdict, timestamp, </a:t>
            </a:r>
            <a:r>
              <a:rPr lang="en-US" sz="1050" err="1"/>
              <a:t>attestationToken</a:t>
            </a:r>
            <a:endParaRPr lang="en-US" sz="1050"/>
          </a:p>
          <a:p>
            <a:r>
              <a:rPr lang="en-US" sz="1050"/>
              <a:t>Callback: HTTPS webhook; retries per CAMARA notification guidelines</a:t>
            </a:r>
          </a:p>
          <a:p>
            <a:r>
              <a:rPr lang="en-US" sz="1050"/>
              <a:t>Expiry/cancellation: </a:t>
            </a:r>
            <a:r>
              <a:rPr lang="en-US" sz="1050" err="1"/>
              <a:t>maxDuration</a:t>
            </a:r>
            <a:r>
              <a:rPr lang="en-US" sz="1050"/>
              <a:t> field + DELETE /assembly-subscriptions/{id}</a:t>
            </a:r>
          </a:p>
          <a:p>
            <a:r>
              <a:rPr lang="en-US" sz="1050"/>
              <a:t>Lifecycle states: ACTIVE → EXPIRED / DELETED</a:t>
            </a:r>
          </a:p>
        </p:txBody>
      </p:sp>
    </p:spTree>
    <p:extLst>
      <p:ext uri="{BB962C8B-B14F-4D97-AF65-F5344CB8AC3E}">
        <p14:creationId xmlns:p14="http://schemas.microsoft.com/office/powerpoint/2010/main" val="2034518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Q4ODQwNThiYTg4YTBlNDhkZDRmNGNiNWM5NWE1YzAifQ=="/>
  <p:tag name="KSO_WPP_MARK_KEY" val="57c7f136-5fe9-46ac-88f0-c360e5a390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429a95c-b9eb-4227-abd9-56169d3e95df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c23e35-feae-41a6-9660-303b6c1ddfab" xsi:nil="true"/>
    <lcf76f155ced4ddcb4097134ff3c332f xmlns="43278b8a-3ce2-4c22-927e-d744b249313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CCCB101D1EC2439BD1F30E1646277F" ma:contentTypeVersion="12" ma:contentTypeDescription="Create a new document." ma:contentTypeScope="" ma:versionID="5464bb158b6625c1c22789ae9835c753">
  <xsd:schema xmlns:xsd="http://www.w3.org/2001/XMLSchema" xmlns:xs="http://www.w3.org/2001/XMLSchema" xmlns:p="http://schemas.microsoft.com/office/2006/metadata/properties" xmlns:ns2="43278b8a-3ce2-4c22-927e-d744b2493138" xmlns:ns3="81c23e35-feae-41a6-9660-303b6c1ddfab" targetNamespace="http://schemas.microsoft.com/office/2006/metadata/properties" ma:root="true" ma:fieldsID="be7f2cea10a1ecaebc42b3a306c3a710" ns2:_="" ns3:_="">
    <xsd:import namespace="43278b8a-3ce2-4c22-927e-d744b2493138"/>
    <xsd:import namespace="81c23e35-feae-41a6-9660-303b6c1dd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8b8a-3ce2-4c22-927e-d744b2493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d3049a-d92e-47f6-938a-5800ed4570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23e35-feae-41a6-9660-303b6c1ddf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58e15-233b-4e39-8e83-950feb039e72}" ma:internalName="TaxCatchAll" ma:showField="CatchAllData" ma:web="81c23e35-feae-41a6-9660-303b6c1ddf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3E37D5-A273-44DE-91F9-C57145F405BD}">
  <ds:schemaRefs>
    <ds:schemaRef ds:uri="43278b8a-3ce2-4c22-927e-d744b2493138"/>
    <ds:schemaRef ds:uri="81c23e35-feae-41a6-9660-303b6c1ddf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E903CFA-AA15-4431-9054-79A4A24BF9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79F930-EBCE-4CE9-A525-40199E457887}">
  <ds:schemaRefs>
    <ds:schemaRef ds:uri="43278b8a-3ce2-4c22-927e-d744b2493138"/>
    <ds:schemaRef ds:uri="81c23e35-feae-41a6-9660-303b6c1dd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Office PowerPoint</Application>
  <PresentationFormat>Widescreen</PresentationFormat>
  <Paragraphs>162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微软雅黑</vt:lpstr>
      <vt:lpstr>-apple-system</vt:lpstr>
      <vt:lpstr>Aptos</vt:lpstr>
      <vt:lpstr>Arial</vt:lpstr>
      <vt:lpstr>Calibri</vt:lpstr>
      <vt:lpstr>Calibri Light</vt:lpstr>
      <vt:lpstr>Consolas</vt:lpstr>
      <vt:lpstr>Courier New</vt:lpstr>
      <vt:lpstr>Montserrat Light</vt:lpstr>
      <vt:lpstr>Segoe WPC</vt:lpstr>
      <vt:lpstr>Office 主题</vt:lpstr>
      <vt:lpstr>think-cell Folie</vt:lpstr>
      <vt:lpstr>PowerPoint Presentation</vt:lpstr>
      <vt:lpstr>PowerPoint Presentation</vt:lpstr>
      <vt:lpstr>Background- Network‑Authenticated Assembly </vt:lpstr>
      <vt:lpstr>Sample implementation: Network Authenticated Assembly</vt:lpstr>
      <vt:lpstr>NAA API: High level description</vt:lpstr>
      <vt:lpstr>NAA API family</vt:lpstr>
      <vt:lpstr>Sequence Diagram </vt:lpstr>
      <vt:lpstr>User story</vt:lpstr>
      <vt:lpstr>API  Deliverables status </vt:lpstr>
      <vt:lpstr>PowerPoint Presentation</vt:lpstr>
      <vt:lpstr>NAA Vs Device Locations</vt:lpstr>
      <vt:lpstr>Device Eligibility: Operator-Addressable Only</vt:lpstr>
      <vt:lpstr>Continuous Checks: Full CAMARA Subscription Model</vt:lpstr>
      <vt:lpstr>Questions posted on PR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Provisioning API</dc:title>
  <dc:creator>Chenchuanyu</dc:creator>
  <cp:lastModifiedBy>Abhisek Das</cp:lastModifiedBy>
  <cp:revision>1</cp:revision>
  <dcterms:created xsi:type="dcterms:W3CDTF">2023-05-18T03:52:00Z</dcterms:created>
  <dcterms:modified xsi:type="dcterms:W3CDTF">2026-03-19T14:49:19Z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(2)fAhiAU9J4LnzkpIrkXM09AQboDunmcluQ0NQeuqRTdTkYC0Gz1vcnh5qhsHYzRt4kxQYGHuu
iQ1aYax8SC8CgqW69rGFvgu3MUPFa+t2HVCLf/x65vuHZ9xtWwUrM1fhOjP4cjeFy4he8OKO
589XpT5lYzmhKISJ1I55vobvoylpWWhwEK+VxNmhFkC3/sh9j+U81sGOXbJXNNSFBl8qo8FE
CVcPnVVLyzHn7B95UY</vt:lpwstr>
  </property>
  <property fmtid="{D5CDD505-2E9C-101B-9397-08002B2CF9AE}" pid="3" name="_2015_ms_pID_7253431">
    <vt:lpwstr>MP82+Ox3BuCZRFUEWL2q3Id9rLAut0RyRWCHdpYbEONDXc933l2g5i
XRlkFhg0MKd7bw8YC5JSKYj4wyCFTdOPH2/xPFM9eolilcU+zgN0j1CITbz8fp1u2E+1+m/i
Gu+U4KSZCRtgotsK+0RpVoAj7NVb/lKdg3qFM9jTW1EV78tafiHmHhKw8tTchvWNrrDgUNqq
uQ83fq7JeXkMhrjj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1683169333</vt:lpwstr>
  </property>
  <property fmtid="{D5CDD505-2E9C-101B-9397-08002B2CF9AE}" pid="8" name="ICV">
    <vt:lpwstr>DA6429A0156D4F719CD30201ED15326B_13</vt:lpwstr>
  </property>
  <property fmtid="{D5CDD505-2E9C-101B-9397-08002B2CF9AE}" pid="9" name="KSOProductBuildVer">
    <vt:lpwstr>2052-11.1.0.14309</vt:lpwstr>
  </property>
  <property fmtid="{D5CDD505-2E9C-101B-9397-08002B2CF9AE}" pid="10" name="ContentTypeId">
    <vt:lpwstr>0x01010091CCCB101D1EC2439BD1F30E1646277F</vt:lpwstr>
  </property>
  <property fmtid="{D5CDD505-2E9C-101B-9397-08002B2CF9AE}" pid="11" name="MSIP_Label_a0819fa7-4367-4500-ba88-dd630d977609_Enabled">
    <vt:lpwstr>true</vt:lpwstr>
  </property>
  <property fmtid="{D5CDD505-2E9C-101B-9397-08002B2CF9AE}" pid="12" name="MSIP_Label_a0819fa7-4367-4500-ba88-dd630d977609_SetDate">
    <vt:lpwstr>2025-04-03T11:05:00Z</vt:lpwstr>
  </property>
  <property fmtid="{D5CDD505-2E9C-101B-9397-08002B2CF9AE}" pid="13" name="MSIP_Label_a0819fa7-4367-4500-ba88-dd630d977609_Method">
    <vt:lpwstr>Standard</vt:lpwstr>
  </property>
  <property fmtid="{D5CDD505-2E9C-101B-9397-08002B2CF9AE}" pid="14" name="MSIP_Label_a0819fa7-4367-4500-ba88-dd630d977609_Name">
    <vt:lpwstr>a0819fa7-4367-4500-ba88-dd630d977609</vt:lpwstr>
  </property>
  <property fmtid="{D5CDD505-2E9C-101B-9397-08002B2CF9AE}" pid="15" name="MSIP_Label_a0819fa7-4367-4500-ba88-dd630d977609_SiteId">
    <vt:lpwstr>63ce7d59-2f3e-42cd-a8cc-be764cff5eb6</vt:lpwstr>
  </property>
  <property fmtid="{D5CDD505-2E9C-101B-9397-08002B2CF9AE}" pid="16" name="MSIP_Label_a0819fa7-4367-4500-ba88-dd630d977609_ActionId">
    <vt:lpwstr>b79cf1c5-ea9a-4bd9-8a1c-1357813e3dd5</vt:lpwstr>
  </property>
  <property fmtid="{D5CDD505-2E9C-101B-9397-08002B2CF9AE}" pid="17" name="MSIP_Label_a0819fa7-4367-4500-ba88-dd630d977609_ContentBits">
    <vt:lpwstr>0</vt:lpwstr>
  </property>
  <property fmtid="{D5CDD505-2E9C-101B-9397-08002B2CF9AE}" pid="18" name="MSIP_Label_a0819fa7-4367-4500-ba88-dd630d977609_Tag">
    <vt:lpwstr>10, 3, 0, 1</vt:lpwstr>
  </property>
  <property fmtid="{D5CDD505-2E9C-101B-9397-08002B2CF9AE}" pid="19" name="MediaServiceImageTags">
    <vt:lpwstr/>
  </property>
</Properties>
</file>