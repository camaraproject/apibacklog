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361" r:id="rId5"/>
    <p:sldId id="362" r:id="rId6"/>
    <p:sldId id="370" r:id="rId7"/>
    <p:sldId id="366" r:id="rId8"/>
    <p:sldId id="365" r:id="rId9"/>
    <p:sldId id="357" r:id="rId10"/>
    <p:sldId id="323" r:id="rId11"/>
    <p:sldId id="287" r:id="rId12"/>
    <p:sldId id="265" r:id="rId13"/>
    <p:sldId id="371" r:id="rId14"/>
    <p:sldId id="367" r:id="rId15"/>
    <p:sldId id="368" r:id="rId16"/>
    <p:sldId id="369" r:id="rId17"/>
    <p:sldId id="373" r:id="rId18"/>
    <p:sldId id="374" r:id="rId19"/>
    <p:sldId id="375" r:id="rId20"/>
    <p:sldId id="377" r:id="rId21"/>
    <p:sldId id="376" r:id="rId22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a Vida Villanueva" initials="MVV" lastIdx="1" clrIdx="0"/>
  <p:cmAuthor id="1" name="xudan-XD" initials="XD" lastIdx="1" clrIdx="0"/>
  <p:cmAuthor id="2" name="Administrator" initials="l" lastIdx="1" clrIdx="1"/>
  <p:cmAuthor id="3" name="作者" initials="A" lastIdx="0" clrIdx="2"/>
  <p:cmAuthor id="4" name="HP" initials="H" lastIdx="4" clrIdx="3"/>
  <p:cmAuthor id="5" name="宋洁然" initials="宋" lastIdx="2" clrIdx="1"/>
  <p:cmAuthor id="6" name="ming qiu" initials="m" lastIdx="17" clrIdx="1"/>
  <p:cmAuthor id="7" name="1206988966@qq.com" initials="1" lastIdx="1" clrIdx="2"/>
  <p:cmAuthor id="8" name="姜伟光" initials="姜" lastIdx="1" clrIdx="0"/>
  <p:cmAuthor id="9" name="ASUS" initials="A" lastIdx="28" clrIdx="4"/>
  <p:cmAuthor id="10" name="lenovo" initials="l" lastIdx="6" clrIdx="2"/>
  <p:cmAuthor id="11" name="xiedk" initials="x" lastIdx="2" clrIdx="10"/>
  <p:cmAuthor id="12" name="未知用户1" initials="未知用户1" lastIdx="2" clrIdx="11"/>
  <p:cmAuthor id="13" name="马云飞10014438" initials="马" lastIdx="4" clrIdx="0"/>
  <p:cmAuthor id="14" name="10077969" initials="10077969" lastIdx="2" clrIdx="13"/>
  <p:cmAuthor id="15" name="康浩杰|hnkanghaojie" initials="A" lastIdx="1" clrIdx="14"/>
  <p:cmAuthor id="16" name="孟伟伟" initials="孟" lastIdx="1" clrIdx="15"/>
  <p:cmAuthor id="17" name="dongrp" initials="d" lastIdx="1" clrIdx="16"/>
  <p:cmAuthor id="18" name="hc" initials="h" lastIdx="1" clrIdx="17"/>
  <p:cmAuthor id="19" name="Saku Uchikawa" initials="S" lastIdx="11" clrIdx="0"/>
  <p:cmAuthor id="20" name="00065088" initials="0" lastIdx="2" clrIdx="19"/>
  <p:cmAuthor id="21" name="10066351" initials="1" lastIdx="2" clrIdx="0"/>
  <p:cmAuthor id="22" name="蔡建楠" initials="caijianna" lastIdx="15" clrIdx="17"/>
  <p:cmAuthor id="23" name="赵诚荣10027092" initials="赵" lastIdx="2" clrIdx="25"/>
  <p:cmAuthor id="24" name="李蕾00009994" initials="李" lastIdx="6" clrIdx="17"/>
  <p:cmAuthor id="25" name="wyz" initials="w" lastIdx="1" clrIdx="24"/>
  <p:cmAuthor id="26" name="10270945" initials="1" lastIdx="1" clrIdx="25"/>
  <p:cmAuthor id="27" name="10295142" initials="1" lastIdx="1" clrIdx="26"/>
  <p:cmAuthor id="28" name="Hou Yingfeng" initials="H" lastIdx="10" clrIdx="23"/>
  <p:cmAuthor id="30" name="10056791" initials="ZTE" lastIdx="1" clrIdx="29"/>
  <p:cmAuthor id="31" name="Author" initials="A" lastIdx="0" clrIdx="30"/>
  <p:cmAuthor id="32" name="李楠10047711" initials="李楠10047711" lastIdx="2" clrIdx="31"/>
  <p:cmAuthor id="76" name="许 志军" initials="许" lastIdx="1" clrIdx="25"/>
  <p:cmAuthor id="33" name="610007" initials="6" lastIdx="0" clrIdx="32"/>
  <p:cmAuthor id="77" name="欧 志芳" initials="欧" lastIdx="1" clrIdx="26"/>
  <p:cmAuthor id="34" name="Jason" initials="J" lastIdx="18" clrIdx="33"/>
  <p:cmAuthor id="35" name="stephen" initials="s" lastIdx="1" clrIdx="3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722BD6-AAF6-48B9-B072-38115D6BB196}" v="13" dt="2026-04-20T16:25:52.6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492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sek Das" userId="e456e576-22ea-42db-b4d9-4b031e1650af" providerId="ADAL" clId="{925D8AC3-419F-4E99-BBDD-163A5A147865}"/>
    <pc:docChg chg="modSld sldOrd">
      <pc:chgData name="Abhisek Das" userId="e456e576-22ea-42db-b4d9-4b031e1650af" providerId="ADAL" clId="{925D8AC3-419F-4E99-BBDD-163A5A147865}" dt="2026-04-20T16:32:27.317" v="12"/>
      <pc:docMkLst>
        <pc:docMk/>
      </pc:docMkLst>
      <pc:sldChg chg="modSp mod">
        <pc:chgData name="Abhisek Das" userId="e456e576-22ea-42db-b4d9-4b031e1650af" providerId="ADAL" clId="{925D8AC3-419F-4E99-BBDD-163A5A147865}" dt="2026-04-20T16:29:31.125" v="5" actId="1076"/>
        <pc:sldMkLst>
          <pc:docMk/>
          <pc:sldMk cId="0" sldId="357"/>
        </pc:sldMkLst>
        <pc:graphicFrameChg chg="mod modGraphic">
          <ac:chgData name="Abhisek Das" userId="e456e576-22ea-42db-b4d9-4b031e1650af" providerId="ADAL" clId="{925D8AC3-419F-4E99-BBDD-163A5A147865}" dt="2026-04-20T16:29:31.125" v="5" actId="1076"/>
          <ac:graphicFrameMkLst>
            <pc:docMk/>
            <pc:sldMk cId="0" sldId="357"/>
            <ac:graphicFrameMk id="5" creationId="{4AE650D0-C865-7616-EDBD-C08DC87701DC}"/>
          </ac:graphicFrameMkLst>
        </pc:graphicFrameChg>
      </pc:sldChg>
      <pc:sldChg chg="modSp mod ord">
        <pc:chgData name="Abhisek Das" userId="e456e576-22ea-42db-b4d9-4b031e1650af" providerId="ADAL" clId="{925D8AC3-419F-4E99-BBDD-163A5A147865}" dt="2026-04-20T16:32:27.317" v="12"/>
        <pc:sldMkLst>
          <pc:docMk/>
          <pc:sldMk cId="179558471" sldId="367"/>
        </pc:sldMkLst>
        <pc:graphicFrameChg chg="mod">
          <ac:chgData name="Abhisek Das" userId="e456e576-22ea-42db-b4d9-4b031e1650af" providerId="ADAL" clId="{925D8AC3-419F-4E99-BBDD-163A5A147865}" dt="2026-04-20T16:31:50.158" v="10" actId="1076"/>
          <ac:graphicFrameMkLst>
            <pc:docMk/>
            <pc:sldMk cId="179558471" sldId="367"/>
            <ac:graphicFrameMk id="13" creationId="{9DFC3899-3F39-A19B-6016-236558F70793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5679B6-DFB9-465D-BCF7-63C3CDB22F53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DDE9C1-3A93-4484-ADD9-54060A054C8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17DD0-38E7-46ED-A2FE-994A5C249761}" type="slidenum">
              <a:rPr lang="de-DE" smtClean="0"/>
              <a:t>1</a:t>
            </a:fld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3ABC8-35A3-A6AF-B7FB-B910F17B9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C785F7-FE90-E582-2C76-7F8CD6E494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F8DCA9-BF11-9217-FF05-22D13645F86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4788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1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681" y="1682"/>
          <a:ext cx="1679" cy="1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12700" imgH="12700" progId="TCLayout.ActiveDocument.1">
                  <p:embed/>
                </p:oleObj>
              </mc:Choice>
              <mc:Fallback>
                <p:oleObj name="think-cell Folie" r:id="rId3" imgW="12700" imgH="12700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81" y="1682"/>
                        <a:ext cx="1679" cy="1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228916" y="497258"/>
            <a:ext cx="3684694" cy="7089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" y="0"/>
            <a:ext cx="8382468" cy="1786654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70211" y="436920"/>
            <a:ext cx="11580552" cy="829647"/>
          </a:xfrm>
          <a:prstGeom prst="rect">
            <a:avLst/>
          </a:prstGeom>
        </p:spPr>
        <p:txBody>
          <a:bodyPr vert="horz"/>
          <a:lstStyle>
            <a:lvl1pPr>
              <a:defRPr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 sz="2540">
                <a:solidFill>
                  <a:schemeClr val="bg1"/>
                </a:solidFill>
              </a:rPr>
              <a:t>Slide</a:t>
            </a:r>
            <a:br>
              <a:rPr lang="en-US" sz="2540">
                <a:solidFill>
                  <a:schemeClr val="bg1"/>
                </a:solidFill>
              </a:rPr>
            </a:br>
            <a:r>
              <a:rPr lang="en-US" sz="2540">
                <a:solidFill>
                  <a:schemeClr val="bg1"/>
                </a:solidFill>
              </a:rPr>
              <a:t>Title</a:t>
            </a:r>
          </a:p>
        </p:txBody>
      </p:sp>
      <p:sp>
        <p:nvSpPr>
          <p:cNvPr id="20" name="Content Placeholder 17"/>
          <p:cNvSpPr>
            <a:spLocks noGrp="1"/>
          </p:cNvSpPr>
          <p:nvPr>
            <p:ph sz="quarter" idx="10" hasCustomPrompt="1"/>
          </p:nvPr>
        </p:nvSpPr>
        <p:spPr>
          <a:xfrm>
            <a:off x="470211" y="1999093"/>
            <a:ext cx="11580552" cy="4361648"/>
          </a:xfrm>
        </p:spPr>
        <p:txBody>
          <a:bodyPr/>
          <a:lstStyle>
            <a:lvl1pPr>
              <a:defRPr sz="1585" b="0" i="0">
                <a:solidFill>
                  <a:schemeClr val="tx2"/>
                </a:solidFill>
                <a:latin typeface="Montserrat Light" pitchFamily="2" charset="77"/>
              </a:defRPr>
            </a:lvl1pPr>
            <a:lvl2pPr>
              <a:defRPr sz="1585" b="0" i="0">
                <a:solidFill>
                  <a:schemeClr val="tx2"/>
                </a:solidFill>
                <a:latin typeface="Montserrat Light" pitchFamily="2" charset="77"/>
              </a:defRPr>
            </a:lvl2pPr>
            <a:lvl3pPr>
              <a:defRPr sz="1585" b="0" i="0">
                <a:solidFill>
                  <a:schemeClr val="tx2"/>
                </a:solidFill>
                <a:latin typeface="Montserrat Light" pitchFamily="2" charset="77"/>
              </a:defRPr>
            </a:lvl3pPr>
            <a:lvl4pPr>
              <a:defRPr sz="1585" b="0" i="0">
                <a:solidFill>
                  <a:schemeClr val="tx2"/>
                </a:solidFill>
                <a:latin typeface="Montserrat Light" pitchFamily="2" charset="77"/>
              </a:defRPr>
            </a:lvl4pPr>
            <a:lvl5pPr>
              <a:defRPr sz="1585" b="0" i="0">
                <a:solidFill>
                  <a:schemeClr val="tx2"/>
                </a:solidFill>
                <a:latin typeface="Montserrat Light" pitchFamily="2" charset="77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680" y="1682"/>
          <a:ext cx="1679" cy="1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12700" imgH="12700" progId="TCLayout.ActiveDocument.1">
                  <p:embed/>
                </p:oleObj>
              </mc:Choice>
              <mc:Fallback>
                <p:oleObj name="think-cell Folie" r:id="rId4" imgW="12700" imgH="12700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80" y="1682"/>
                        <a:ext cx="1679" cy="1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feld 8"/>
          <p:cNvSpPr txBox="1"/>
          <p:nvPr userDrawn="1"/>
        </p:nvSpPr>
        <p:spPr>
          <a:xfrm>
            <a:off x="5290458" y="6423342"/>
            <a:ext cx="1709057" cy="2770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de-DE" sz="1905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401303" y="2998047"/>
            <a:ext cx="9403181" cy="234528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4000"/>
              </a:lnSpc>
              <a:spcBef>
                <a:spcPts val="0"/>
              </a:spcBef>
              <a:defRPr sz="4655" b="0" i="0" baseline="0">
                <a:solidFill>
                  <a:schemeClr val="bg1"/>
                </a:solidFill>
                <a:latin typeface="Montserrat Light" pitchFamily="2" charset="77"/>
                <a:ea typeface="Montserrat Light" pitchFamily="2" charset="77"/>
              </a:defRPr>
            </a:lvl1pPr>
          </a:lstStyle>
          <a:p>
            <a:pPr lvl="0"/>
            <a:r>
              <a:rPr lang="de-DE"/>
              <a:t>Montserrat Light</a:t>
            </a:r>
            <a:br>
              <a:rPr lang="de-DE"/>
            </a:br>
            <a:r>
              <a:rPr lang="de-DE"/>
              <a:t>Maximum 3 </a:t>
            </a:r>
            <a:r>
              <a:rPr lang="de-DE" err="1"/>
              <a:t>lines</a:t>
            </a:r>
            <a:br>
              <a:rPr lang="de-DE"/>
            </a:br>
            <a:r>
              <a:rPr lang="de-DE"/>
              <a:t>44 </a:t>
            </a:r>
            <a:r>
              <a:rPr lang="de-DE" err="1"/>
              <a:t>pt</a:t>
            </a:r>
            <a:endParaRPr lang="de-DE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3" hasCustomPrompt="1"/>
          </p:nvPr>
        </p:nvSpPr>
        <p:spPr>
          <a:xfrm>
            <a:off x="1401303" y="5800211"/>
            <a:ext cx="9403181" cy="31668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2115" b="0" i="0" baseline="0">
                <a:solidFill>
                  <a:schemeClr val="bg1"/>
                </a:solidFill>
                <a:latin typeface="Montserrat Light" pitchFamily="2" charset="77"/>
                <a:ea typeface="Montserrat Light" pitchFamily="2" charset="77"/>
              </a:defRPr>
            </a:lvl1pPr>
            <a:lvl5pPr>
              <a:defRPr/>
            </a:lvl5pPr>
          </a:lstStyle>
          <a:p>
            <a:pPr lvl="0"/>
            <a:r>
              <a:rPr lang="de-DE" err="1"/>
              <a:t>Subheading</a:t>
            </a:r>
            <a:r>
              <a:rPr lang="de-DE"/>
              <a:t> Montserrat Light, 20 </a:t>
            </a:r>
            <a:r>
              <a:rPr lang="de-DE" err="1"/>
              <a:t>pt</a:t>
            </a:r>
            <a:endParaRPr lang="de-DE"/>
          </a:p>
        </p:txBody>
      </p:sp>
      <p:grpSp>
        <p:nvGrpSpPr>
          <p:cNvPr id="147" name="Gruppieren 146"/>
          <p:cNvGrpSpPr/>
          <p:nvPr userDrawn="1"/>
        </p:nvGrpSpPr>
        <p:grpSpPr>
          <a:xfrm>
            <a:off x="-368850" y="-326337"/>
            <a:ext cx="12916643" cy="7537262"/>
            <a:chOff x="-348582" y="-308570"/>
            <a:chExt cx="12206900" cy="7126900"/>
          </a:xfrm>
        </p:grpSpPr>
        <p:grpSp>
          <p:nvGrpSpPr>
            <p:cNvPr id="148" name="Gruppieren 147"/>
            <p:cNvGrpSpPr/>
            <p:nvPr userDrawn="1"/>
          </p:nvGrpSpPr>
          <p:grpSpPr>
            <a:xfrm>
              <a:off x="-348582" y="362069"/>
              <a:ext cx="180000" cy="5931473"/>
              <a:chOff x="-348582" y="362069"/>
              <a:chExt cx="180000" cy="5931473"/>
            </a:xfrm>
          </p:grpSpPr>
          <p:cxnSp>
            <p:nvCxnSpPr>
              <p:cNvPr id="175" name="Gerade Verbindung 6"/>
              <p:cNvCxnSpPr/>
              <p:nvPr userDrawn="1"/>
            </p:nvCxnSpPr>
            <p:spPr>
              <a:xfrm>
                <a:off x="-348582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 Verbindung 7"/>
              <p:cNvCxnSpPr/>
              <p:nvPr userDrawn="1"/>
            </p:nvCxnSpPr>
            <p:spPr>
              <a:xfrm>
                <a:off x="-348582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 Verbindung 8"/>
              <p:cNvCxnSpPr/>
              <p:nvPr userDrawn="1"/>
            </p:nvCxnSpPr>
            <p:spPr>
              <a:xfrm>
                <a:off x="-348582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 Verbindung 9"/>
              <p:cNvCxnSpPr/>
              <p:nvPr userDrawn="1"/>
            </p:nvCxnSpPr>
            <p:spPr>
              <a:xfrm>
                <a:off x="-348582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 Verbindung 10"/>
              <p:cNvCxnSpPr/>
              <p:nvPr userDrawn="1"/>
            </p:nvCxnSpPr>
            <p:spPr>
              <a:xfrm>
                <a:off x="-348582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 Verbindung 11"/>
              <p:cNvCxnSpPr/>
              <p:nvPr userDrawn="1"/>
            </p:nvCxnSpPr>
            <p:spPr>
              <a:xfrm>
                <a:off x="-348582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 Verbindung 12"/>
              <p:cNvCxnSpPr/>
              <p:nvPr userDrawn="1"/>
            </p:nvCxnSpPr>
            <p:spPr>
              <a:xfrm>
                <a:off x="-348582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9" name="Gruppieren 148"/>
            <p:cNvGrpSpPr/>
            <p:nvPr userDrawn="1"/>
          </p:nvGrpSpPr>
          <p:grpSpPr>
            <a:xfrm>
              <a:off x="11678318" y="362069"/>
              <a:ext cx="180000" cy="5931473"/>
              <a:chOff x="11678318" y="362069"/>
              <a:chExt cx="180000" cy="5931473"/>
            </a:xfrm>
          </p:grpSpPr>
          <p:cxnSp>
            <p:nvCxnSpPr>
              <p:cNvPr id="168" name="Gerade Verbindung 56"/>
              <p:cNvCxnSpPr/>
              <p:nvPr userDrawn="1"/>
            </p:nvCxnSpPr>
            <p:spPr>
              <a:xfrm>
                <a:off x="11678318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 Verbindung 57"/>
              <p:cNvCxnSpPr/>
              <p:nvPr userDrawn="1"/>
            </p:nvCxnSpPr>
            <p:spPr>
              <a:xfrm>
                <a:off x="11678318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 Verbindung 58"/>
              <p:cNvCxnSpPr/>
              <p:nvPr userDrawn="1"/>
            </p:nvCxnSpPr>
            <p:spPr>
              <a:xfrm>
                <a:off x="11678318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 Verbindung 59"/>
              <p:cNvCxnSpPr/>
              <p:nvPr userDrawn="1"/>
            </p:nvCxnSpPr>
            <p:spPr>
              <a:xfrm>
                <a:off x="11678318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 Verbindung 60"/>
              <p:cNvCxnSpPr/>
              <p:nvPr userDrawn="1"/>
            </p:nvCxnSpPr>
            <p:spPr>
              <a:xfrm>
                <a:off x="11678318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 Verbindung 61"/>
              <p:cNvCxnSpPr/>
              <p:nvPr userDrawn="1"/>
            </p:nvCxnSpPr>
            <p:spPr>
              <a:xfrm>
                <a:off x="11678318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 Verbindung 62"/>
              <p:cNvCxnSpPr/>
              <p:nvPr userDrawn="1"/>
            </p:nvCxnSpPr>
            <p:spPr>
              <a:xfrm>
                <a:off x="11678318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0" name="Gruppieren 149"/>
            <p:cNvGrpSpPr/>
            <p:nvPr userDrawn="1"/>
          </p:nvGrpSpPr>
          <p:grpSpPr>
            <a:xfrm>
              <a:off x="288925" y="6638330"/>
              <a:ext cx="10944224" cy="180000"/>
              <a:chOff x="288925" y="6638330"/>
              <a:chExt cx="10944224" cy="180000"/>
            </a:xfrm>
          </p:grpSpPr>
          <p:cxnSp>
            <p:nvCxnSpPr>
              <p:cNvPr id="160" name="Gerade Verbindung 65"/>
              <p:cNvCxnSpPr/>
              <p:nvPr userDrawn="1"/>
            </p:nvCxnSpPr>
            <p:spPr>
              <a:xfrm>
                <a:off x="28892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 Verbindung 74"/>
              <p:cNvCxnSpPr/>
              <p:nvPr userDrawn="1"/>
            </p:nvCxnSpPr>
            <p:spPr>
              <a:xfrm>
                <a:off x="291147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 Verbindung 75"/>
              <p:cNvCxnSpPr/>
              <p:nvPr userDrawn="1"/>
            </p:nvCxnSpPr>
            <p:spPr>
              <a:xfrm>
                <a:off x="306101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 Verbindung 72"/>
              <p:cNvCxnSpPr/>
              <p:nvPr userDrawn="1"/>
            </p:nvCxnSpPr>
            <p:spPr>
              <a:xfrm>
                <a:off x="568966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 Verbindung 73"/>
              <p:cNvCxnSpPr/>
              <p:nvPr userDrawn="1"/>
            </p:nvCxnSpPr>
            <p:spPr>
              <a:xfrm>
                <a:off x="582968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 Verbindung 70"/>
              <p:cNvCxnSpPr/>
              <p:nvPr userDrawn="1"/>
            </p:nvCxnSpPr>
            <p:spPr>
              <a:xfrm>
                <a:off x="8459788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 Verbindung 71"/>
              <p:cNvCxnSpPr/>
              <p:nvPr userDrawn="1"/>
            </p:nvCxnSpPr>
            <p:spPr>
              <a:xfrm>
                <a:off x="860218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 Verbindung 69"/>
              <p:cNvCxnSpPr/>
              <p:nvPr userDrawn="1"/>
            </p:nvCxnSpPr>
            <p:spPr>
              <a:xfrm>
                <a:off x="1123314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1" name="Gruppieren 150"/>
            <p:cNvGrpSpPr/>
            <p:nvPr userDrawn="1"/>
          </p:nvGrpSpPr>
          <p:grpSpPr>
            <a:xfrm>
              <a:off x="288925" y="-308570"/>
              <a:ext cx="10944224" cy="180000"/>
              <a:chOff x="288925" y="-308570"/>
              <a:chExt cx="10944224" cy="180000"/>
            </a:xfrm>
          </p:grpSpPr>
          <p:cxnSp>
            <p:nvCxnSpPr>
              <p:cNvPr id="152" name="Gerade Verbindung 14"/>
              <p:cNvCxnSpPr/>
              <p:nvPr userDrawn="1"/>
            </p:nvCxnSpPr>
            <p:spPr>
              <a:xfrm>
                <a:off x="28892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 Verbindung 23"/>
              <p:cNvCxnSpPr/>
              <p:nvPr userDrawn="1"/>
            </p:nvCxnSpPr>
            <p:spPr>
              <a:xfrm>
                <a:off x="291147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 Verbindung 24"/>
              <p:cNvCxnSpPr/>
              <p:nvPr userDrawn="1"/>
            </p:nvCxnSpPr>
            <p:spPr>
              <a:xfrm>
                <a:off x="306101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 Verbindung 21"/>
              <p:cNvCxnSpPr/>
              <p:nvPr userDrawn="1"/>
            </p:nvCxnSpPr>
            <p:spPr>
              <a:xfrm>
                <a:off x="568966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 Verbindung 22"/>
              <p:cNvCxnSpPr/>
              <p:nvPr userDrawn="1"/>
            </p:nvCxnSpPr>
            <p:spPr>
              <a:xfrm>
                <a:off x="582968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 Verbindung 19"/>
              <p:cNvCxnSpPr/>
              <p:nvPr userDrawn="1"/>
            </p:nvCxnSpPr>
            <p:spPr>
              <a:xfrm>
                <a:off x="8459788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 Verbindung 20"/>
              <p:cNvCxnSpPr/>
              <p:nvPr userDrawn="1"/>
            </p:nvCxnSpPr>
            <p:spPr>
              <a:xfrm>
                <a:off x="860218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 Verbindung 18"/>
              <p:cNvCxnSpPr/>
              <p:nvPr userDrawn="1"/>
            </p:nvCxnSpPr>
            <p:spPr>
              <a:xfrm>
                <a:off x="1123314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Rectangle 1"/>
          <p:cNvSpPr/>
          <p:nvPr userDrawn="1"/>
        </p:nvSpPr>
        <p:spPr>
          <a:xfrm>
            <a:off x="0" y="0"/>
            <a:ext cx="12192000" cy="15519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05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1" y="782104"/>
            <a:ext cx="12192000" cy="1551928"/>
          </a:xfrm>
          <a:prstGeom prst="rect">
            <a:avLst/>
          </a:prstGeom>
        </p:spPr>
      </p:pic>
      <p:pic>
        <p:nvPicPr>
          <p:cNvPr id="3" name="Grafik 21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04745" y="432740"/>
            <a:ext cx="5402508" cy="10395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Blue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680" y="1682"/>
          <a:ext cx="1679" cy="1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12700" imgH="12700" progId="TCLayout.ActiveDocument.1">
                  <p:embed/>
                </p:oleObj>
              </mc:Choice>
              <mc:Fallback>
                <p:oleObj name="think-cell Folie" r:id="rId4" imgW="12700" imgH="12700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80" y="1682"/>
                        <a:ext cx="1679" cy="1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feld 8"/>
          <p:cNvSpPr txBox="1"/>
          <p:nvPr userDrawn="1"/>
        </p:nvSpPr>
        <p:spPr>
          <a:xfrm>
            <a:off x="5290458" y="6423342"/>
            <a:ext cx="1709057" cy="2770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de-DE" sz="1905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401303" y="1243683"/>
            <a:ext cx="9456935" cy="434371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4000"/>
              </a:lnSpc>
              <a:spcBef>
                <a:spcPts val="0"/>
              </a:spcBef>
              <a:defRPr sz="4655" b="0" i="0" baseline="0">
                <a:solidFill>
                  <a:schemeClr val="bg1"/>
                </a:solidFill>
                <a:latin typeface="Montserrat Light" pitchFamily="2" charset="77"/>
                <a:ea typeface="Montserrat Light" pitchFamily="2" charset="77"/>
              </a:defRPr>
            </a:lvl1pPr>
          </a:lstStyle>
          <a:p>
            <a:pPr lvl="0"/>
            <a:r>
              <a:rPr lang="de-DE" err="1"/>
              <a:t>Section</a:t>
            </a:r>
            <a:r>
              <a:rPr lang="de-DE"/>
              <a:t> Title</a:t>
            </a:r>
          </a:p>
        </p:txBody>
      </p:sp>
      <p:grpSp>
        <p:nvGrpSpPr>
          <p:cNvPr id="147" name="Gruppieren 146"/>
          <p:cNvGrpSpPr/>
          <p:nvPr userDrawn="1"/>
        </p:nvGrpSpPr>
        <p:grpSpPr>
          <a:xfrm>
            <a:off x="-368850" y="-326337"/>
            <a:ext cx="12916643" cy="7537262"/>
            <a:chOff x="-348582" y="-308570"/>
            <a:chExt cx="12206900" cy="7126900"/>
          </a:xfrm>
        </p:grpSpPr>
        <p:grpSp>
          <p:nvGrpSpPr>
            <p:cNvPr id="148" name="Gruppieren 147"/>
            <p:cNvGrpSpPr/>
            <p:nvPr userDrawn="1"/>
          </p:nvGrpSpPr>
          <p:grpSpPr>
            <a:xfrm>
              <a:off x="-348582" y="362069"/>
              <a:ext cx="180000" cy="5931473"/>
              <a:chOff x="-348582" y="362069"/>
              <a:chExt cx="180000" cy="5931473"/>
            </a:xfrm>
          </p:grpSpPr>
          <p:cxnSp>
            <p:nvCxnSpPr>
              <p:cNvPr id="175" name="Gerade Verbindung 6"/>
              <p:cNvCxnSpPr/>
              <p:nvPr userDrawn="1"/>
            </p:nvCxnSpPr>
            <p:spPr>
              <a:xfrm>
                <a:off x="-348582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 Verbindung 7"/>
              <p:cNvCxnSpPr/>
              <p:nvPr userDrawn="1"/>
            </p:nvCxnSpPr>
            <p:spPr>
              <a:xfrm>
                <a:off x="-348582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 Verbindung 8"/>
              <p:cNvCxnSpPr/>
              <p:nvPr userDrawn="1"/>
            </p:nvCxnSpPr>
            <p:spPr>
              <a:xfrm>
                <a:off x="-348582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 Verbindung 9"/>
              <p:cNvCxnSpPr/>
              <p:nvPr userDrawn="1"/>
            </p:nvCxnSpPr>
            <p:spPr>
              <a:xfrm>
                <a:off x="-348582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 Verbindung 10"/>
              <p:cNvCxnSpPr/>
              <p:nvPr userDrawn="1"/>
            </p:nvCxnSpPr>
            <p:spPr>
              <a:xfrm>
                <a:off x="-348582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 Verbindung 11"/>
              <p:cNvCxnSpPr/>
              <p:nvPr userDrawn="1"/>
            </p:nvCxnSpPr>
            <p:spPr>
              <a:xfrm>
                <a:off x="-348582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 Verbindung 12"/>
              <p:cNvCxnSpPr/>
              <p:nvPr userDrawn="1"/>
            </p:nvCxnSpPr>
            <p:spPr>
              <a:xfrm>
                <a:off x="-348582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9" name="Gruppieren 148"/>
            <p:cNvGrpSpPr/>
            <p:nvPr userDrawn="1"/>
          </p:nvGrpSpPr>
          <p:grpSpPr>
            <a:xfrm>
              <a:off x="11678318" y="362069"/>
              <a:ext cx="180000" cy="5931473"/>
              <a:chOff x="11678318" y="362069"/>
              <a:chExt cx="180000" cy="5931473"/>
            </a:xfrm>
          </p:grpSpPr>
          <p:cxnSp>
            <p:nvCxnSpPr>
              <p:cNvPr id="168" name="Gerade Verbindung 56"/>
              <p:cNvCxnSpPr/>
              <p:nvPr userDrawn="1"/>
            </p:nvCxnSpPr>
            <p:spPr>
              <a:xfrm>
                <a:off x="11678318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 Verbindung 57"/>
              <p:cNvCxnSpPr/>
              <p:nvPr userDrawn="1"/>
            </p:nvCxnSpPr>
            <p:spPr>
              <a:xfrm>
                <a:off x="11678318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 Verbindung 58"/>
              <p:cNvCxnSpPr/>
              <p:nvPr userDrawn="1"/>
            </p:nvCxnSpPr>
            <p:spPr>
              <a:xfrm>
                <a:off x="11678318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 Verbindung 59"/>
              <p:cNvCxnSpPr/>
              <p:nvPr userDrawn="1"/>
            </p:nvCxnSpPr>
            <p:spPr>
              <a:xfrm>
                <a:off x="11678318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 Verbindung 60"/>
              <p:cNvCxnSpPr/>
              <p:nvPr userDrawn="1"/>
            </p:nvCxnSpPr>
            <p:spPr>
              <a:xfrm>
                <a:off x="11678318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 Verbindung 61"/>
              <p:cNvCxnSpPr/>
              <p:nvPr userDrawn="1"/>
            </p:nvCxnSpPr>
            <p:spPr>
              <a:xfrm>
                <a:off x="11678318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 Verbindung 62"/>
              <p:cNvCxnSpPr/>
              <p:nvPr userDrawn="1"/>
            </p:nvCxnSpPr>
            <p:spPr>
              <a:xfrm>
                <a:off x="11678318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0" name="Gruppieren 149"/>
            <p:cNvGrpSpPr/>
            <p:nvPr userDrawn="1"/>
          </p:nvGrpSpPr>
          <p:grpSpPr>
            <a:xfrm>
              <a:off x="288925" y="6638330"/>
              <a:ext cx="10944224" cy="180000"/>
              <a:chOff x="288925" y="6638330"/>
              <a:chExt cx="10944224" cy="180000"/>
            </a:xfrm>
          </p:grpSpPr>
          <p:cxnSp>
            <p:nvCxnSpPr>
              <p:cNvPr id="160" name="Gerade Verbindung 65"/>
              <p:cNvCxnSpPr/>
              <p:nvPr userDrawn="1"/>
            </p:nvCxnSpPr>
            <p:spPr>
              <a:xfrm>
                <a:off x="28892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 Verbindung 74"/>
              <p:cNvCxnSpPr/>
              <p:nvPr userDrawn="1"/>
            </p:nvCxnSpPr>
            <p:spPr>
              <a:xfrm>
                <a:off x="291147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 Verbindung 75"/>
              <p:cNvCxnSpPr/>
              <p:nvPr userDrawn="1"/>
            </p:nvCxnSpPr>
            <p:spPr>
              <a:xfrm>
                <a:off x="306101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 Verbindung 72"/>
              <p:cNvCxnSpPr/>
              <p:nvPr userDrawn="1"/>
            </p:nvCxnSpPr>
            <p:spPr>
              <a:xfrm>
                <a:off x="568966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 Verbindung 73"/>
              <p:cNvCxnSpPr/>
              <p:nvPr userDrawn="1"/>
            </p:nvCxnSpPr>
            <p:spPr>
              <a:xfrm>
                <a:off x="582968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 Verbindung 70"/>
              <p:cNvCxnSpPr/>
              <p:nvPr userDrawn="1"/>
            </p:nvCxnSpPr>
            <p:spPr>
              <a:xfrm>
                <a:off x="8459788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 Verbindung 71"/>
              <p:cNvCxnSpPr/>
              <p:nvPr userDrawn="1"/>
            </p:nvCxnSpPr>
            <p:spPr>
              <a:xfrm>
                <a:off x="860218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 Verbindung 69"/>
              <p:cNvCxnSpPr/>
              <p:nvPr userDrawn="1"/>
            </p:nvCxnSpPr>
            <p:spPr>
              <a:xfrm>
                <a:off x="1123314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1" name="Gruppieren 150"/>
            <p:cNvGrpSpPr/>
            <p:nvPr userDrawn="1"/>
          </p:nvGrpSpPr>
          <p:grpSpPr>
            <a:xfrm>
              <a:off x="288925" y="-308570"/>
              <a:ext cx="10944224" cy="180000"/>
              <a:chOff x="288925" y="-308570"/>
              <a:chExt cx="10944224" cy="180000"/>
            </a:xfrm>
          </p:grpSpPr>
          <p:cxnSp>
            <p:nvCxnSpPr>
              <p:cNvPr id="152" name="Gerade Verbindung 14"/>
              <p:cNvCxnSpPr/>
              <p:nvPr userDrawn="1"/>
            </p:nvCxnSpPr>
            <p:spPr>
              <a:xfrm>
                <a:off x="28892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 Verbindung 23"/>
              <p:cNvCxnSpPr/>
              <p:nvPr userDrawn="1"/>
            </p:nvCxnSpPr>
            <p:spPr>
              <a:xfrm>
                <a:off x="291147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 Verbindung 24"/>
              <p:cNvCxnSpPr/>
              <p:nvPr userDrawn="1"/>
            </p:nvCxnSpPr>
            <p:spPr>
              <a:xfrm>
                <a:off x="306101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 Verbindung 21"/>
              <p:cNvCxnSpPr/>
              <p:nvPr userDrawn="1"/>
            </p:nvCxnSpPr>
            <p:spPr>
              <a:xfrm>
                <a:off x="568966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 Verbindung 22"/>
              <p:cNvCxnSpPr/>
              <p:nvPr userDrawn="1"/>
            </p:nvCxnSpPr>
            <p:spPr>
              <a:xfrm>
                <a:off x="582968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 Verbindung 19"/>
              <p:cNvCxnSpPr/>
              <p:nvPr userDrawn="1"/>
            </p:nvCxnSpPr>
            <p:spPr>
              <a:xfrm>
                <a:off x="8459788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 Verbindung 20"/>
              <p:cNvCxnSpPr/>
              <p:nvPr userDrawn="1"/>
            </p:nvCxnSpPr>
            <p:spPr>
              <a:xfrm>
                <a:off x="860218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 Verbindung 18"/>
              <p:cNvCxnSpPr/>
              <p:nvPr userDrawn="1"/>
            </p:nvCxnSpPr>
            <p:spPr>
              <a:xfrm>
                <a:off x="1123314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070F3-CE90-48C4-9164-61E1D2692451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bhisek.das04@infosys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hyperlink" Target="mailto:shyamtanu.banerjee@team.telstra.com" TargetMode="External"/><Relationship Id="rId5" Type="http://schemas.openxmlformats.org/officeDocument/2006/relationships/hyperlink" Target="mailto:pawan.7.kumar@bt.com" TargetMode="External"/><Relationship Id="rId4" Type="http://schemas.openxmlformats.org/officeDocument/2006/relationships/hyperlink" Target="mailto:bishnu_panda@infosys.com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0" y="2382974"/>
            <a:ext cx="10329545" cy="2173605"/>
          </a:xfrm>
        </p:spPr>
        <p:txBody>
          <a:bodyPr anchor="ctr"/>
          <a:lstStyle/>
          <a:p>
            <a:pPr marL="0" algn="l" defTabSz="457200">
              <a:buClrTx/>
              <a:buSzTx/>
              <a:buNone/>
            </a:pPr>
            <a:r>
              <a:rPr lang="en-US" sz="4400" b="1">
                <a:latin typeface="Aptos" panose="020B0004020202020204" pitchFamily="34" charset="0"/>
                <a:ea typeface="微软雅黑" panose="020B0503020204020204" pitchFamily="34" charset="-122"/>
                <a:cs typeface="Open Sans" pitchFamily="34" charset="0"/>
              </a:rPr>
              <a:t>Network Authenticated Assembly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0" y="3813629"/>
            <a:ext cx="9398174" cy="2730363"/>
          </a:xfrm>
        </p:spPr>
        <p:txBody>
          <a:bodyPr/>
          <a:lstStyle/>
          <a:p>
            <a:pPr marL="0" indent="0">
              <a:buNone/>
            </a:pPr>
            <a:r>
              <a:rPr lang="en-US" altLang="de-DE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Infosys Ltd</a:t>
            </a:r>
            <a:r>
              <a:rPr lang="en-US" altLang="de-DE" dirty="0">
                <a:solidFill>
                  <a:schemeClr val="accent1">
                    <a:lumMod val="20000"/>
                    <a:lumOff val="80000"/>
                  </a:schemeClr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., </a:t>
            </a:r>
            <a:r>
              <a:rPr lang="en-US" altLang="de-DE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British Telecom, Telstra</a:t>
            </a:r>
            <a:endParaRPr lang="zh-CN" altLang="en-US" b="1" dirty="0">
              <a:solidFill>
                <a:schemeClr val="accent1">
                  <a:lumMod val="20000"/>
                  <a:lumOff val="80000"/>
                </a:schemeClr>
              </a:solidFill>
              <a:latin typeface="Aptos" panose="020B00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en-US" altLang="zh-CN" dirty="0">
              <a:solidFill>
                <a:schemeClr val="accent1">
                  <a:lumMod val="20000"/>
                  <a:lumOff val="80000"/>
                </a:schemeClr>
              </a:solidFill>
              <a:latin typeface="Aptos" panose="020B00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Contacts</a:t>
            </a:r>
            <a:r>
              <a:rPr lang="en-US" altLang="zh-CN" dirty="0">
                <a:solidFill>
                  <a:schemeClr val="accent1">
                    <a:lumMod val="20000"/>
                    <a:lumOff val="80000"/>
                  </a:schemeClr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: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2060"/>
                </a:solidFill>
                <a:latin typeface="Aptos" panose="020B0004020202020204" pitchFamily="34" charset="0"/>
                <a:ea typeface="微软雅黑" panose="020B0503020204020204" pitchFamily="34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abhisek.das04@infosys.com</a:t>
            </a:r>
            <a:endParaRPr lang="en-US" altLang="zh-CN" dirty="0">
              <a:solidFill>
                <a:srgbClr val="002060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2060"/>
                </a:solidFill>
                <a:latin typeface="Aptos" panose="020B0004020202020204" pitchFamily="34" charset="0"/>
                <a:ea typeface="微软雅黑" panose="020B0503020204020204" pitchFamily="34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bishnu_panda@infosys.com</a:t>
            </a:r>
            <a:endParaRPr lang="en-US" altLang="zh-CN" dirty="0">
              <a:solidFill>
                <a:srgbClr val="002060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en-US" dirty="0">
                <a:solidFill>
                  <a:srgbClr val="002060"/>
                </a:solidFill>
                <a:effectLst/>
                <a:latin typeface="-apple-system"/>
                <a:hlinkClick r:id="rId5" tooltip="mailto:pawan.7.kumar@bt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pawan.7.kumar@bt.com</a:t>
            </a:r>
            <a:endParaRPr lang="en-US" dirty="0">
              <a:solidFill>
                <a:srgbClr val="002060"/>
              </a:solidFill>
              <a:latin typeface="-apple-system"/>
            </a:endParaRPr>
          </a:p>
          <a:p>
            <a:pPr>
              <a:buNone/>
            </a:pPr>
            <a:r>
              <a:rPr lang="en-US" dirty="0">
                <a:solidFill>
                  <a:srgbClr val="002060"/>
                </a:solidFill>
                <a:latin typeface="-apple-system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shyamtanu.banerjee@team.telstra.com</a:t>
            </a:r>
            <a:r>
              <a:rPr lang="en-US" dirty="0">
                <a:solidFill>
                  <a:srgbClr val="002060"/>
                </a:solidFill>
                <a:latin typeface="-apple-system"/>
              </a:rPr>
              <a:t>; </a:t>
            </a:r>
          </a:p>
          <a:p>
            <a:pPr>
              <a:buNone/>
            </a:pPr>
            <a:r>
              <a:rPr lang="en-US" dirty="0">
                <a:effectLst/>
                <a:latin typeface="-apple-system"/>
              </a:rPr>
              <a:t> </a:t>
            </a:r>
            <a:endParaRPr lang="de-DE" dirty="0">
              <a:solidFill>
                <a:schemeClr val="accent1">
                  <a:lumMod val="20000"/>
                  <a:lumOff val="80000"/>
                </a:schemeClr>
              </a:solidFill>
              <a:latin typeface="Aptos" panose="020B0004020202020204" pitchFamily="34" charset="0"/>
            </a:endParaRPr>
          </a:p>
          <a:p>
            <a:endParaRPr lang="de-DE" dirty="0">
              <a:solidFill>
                <a:schemeClr val="accent1">
                  <a:lumMod val="20000"/>
                  <a:lumOff val="80000"/>
                </a:schemeClr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000">
                <a:solidFill>
                  <a:schemeClr val="tx1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 Background</a:t>
            </a:r>
            <a:r>
              <a:rPr lang="en-US" altLang="zh-CN" sz="2000" b="1">
                <a:solidFill>
                  <a:schemeClr val="tx1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000">
                <a:solidFill>
                  <a:schemeClr val="tx1"/>
                </a:solidFill>
                <a:latin typeface="Aptos" panose="020B0004020202020204" pitchFamily="34" charset="0"/>
                <a:ea typeface="微软雅黑" panose="020B0503020204020204" pitchFamily="34" charset="-122"/>
                <a:sym typeface="+mn-ea"/>
              </a:rPr>
              <a:t>Sample implementation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000">
                <a:solidFill>
                  <a:schemeClr val="tx1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 High level description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000">
                <a:solidFill>
                  <a:schemeClr val="tx1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NAA API Family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000">
                <a:solidFill>
                  <a:schemeClr val="tx1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 Sequence Diagram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000">
                <a:solidFill>
                  <a:schemeClr val="tx1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User story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000">
                <a:solidFill>
                  <a:schemeClr val="tx1"/>
                </a:solidFill>
                <a:latin typeface="Aptos" panose="020B0004020202020204" pitchFamily="34" charset="0"/>
                <a:ea typeface="微软雅黑" panose="020B0503020204020204" pitchFamily="34" charset="-122"/>
                <a:sym typeface="+mn-ea"/>
              </a:rPr>
              <a:t>Deliverables Status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000">
                <a:solidFill>
                  <a:schemeClr val="tx1"/>
                </a:solidFill>
                <a:latin typeface="Aptos" panose="020B0004020202020204" pitchFamily="34" charset="0"/>
                <a:ea typeface="微软雅黑" panose="020B0503020204020204" pitchFamily="34" charset="-122"/>
                <a:sym typeface="+mn-ea"/>
              </a:rPr>
              <a:t>Double click on open pointers </a:t>
            </a:r>
            <a:endParaRPr lang="zh-CN" altLang="en-US" sz="2000">
              <a:solidFill>
                <a:schemeClr val="tx1"/>
              </a:solidFill>
              <a:latin typeface="Aptos" panose="020B00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1134" y="604407"/>
            <a:ext cx="3540096" cy="741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230">
                <a:solidFill>
                  <a:schemeClr val="bg1"/>
                </a:solidFill>
                <a:latin typeface="Aptos" panose="020B0004020202020204" pitchFamily="34" charset="0"/>
                <a:ea typeface="Segoe UI Black" panose="020B0A02040204020203" pitchFamily="34" charset="0"/>
              </a:rPr>
              <a:t>Contents</a:t>
            </a:r>
            <a:endParaRPr lang="zh-CN" altLang="en-US" sz="423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3A66D-5DC0-475E-7A3C-D317FC57C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FD443-7B98-F58C-C343-3A1D7FF7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0" y="436880"/>
            <a:ext cx="6273800" cy="829945"/>
          </a:xfrm>
        </p:spPr>
        <p:txBody>
          <a:bodyPr>
            <a:normAutofit fontScale="90000"/>
          </a:bodyPr>
          <a:lstStyle/>
          <a:p>
            <a:r>
              <a:rPr lang="zh-CN" altLang="en-US">
                <a:latin typeface="Aptos" panose="020B0004020202020204" pitchFamily="34" charset="0"/>
                <a:ea typeface="微软雅黑" panose="020B0503020204020204" pitchFamily="34" charset="-122"/>
              </a:rPr>
              <a:t>Background</a:t>
            </a:r>
            <a:r>
              <a:rPr lang="en-US" altLang="zh-CN">
                <a:latin typeface="Aptos" panose="020B0004020202020204" pitchFamily="34" charset="0"/>
                <a:ea typeface="微软雅黑" panose="020B0503020204020204" pitchFamily="34" charset="-122"/>
              </a:rPr>
              <a:t>-</a:t>
            </a:r>
            <a:br>
              <a:rPr lang="en-US" altLang="zh-CN">
                <a:latin typeface="Aptos" panose="020B0004020202020204" pitchFamily="34" charset="0"/>
                <a:ea typeface="微软雅黑" panose="020B0503020204020204" pitchFamily="34" charset="-122"/>
              </a:rPr>
            </a:br>
            <a:r>
              <a:rPr lang="en-US" altLang="zh-CN" sz="2665">
                <a:latin typeface="Aptos" panose="020B0004020202020204" pitchFamily="34" charset="0"/>
                <a:ea typeface="微软雅黑" panose="020B0503020204020204" pitchFamily="34" charset="-122"/>
              </a:rPr>
              <a:t>Network‑Authenticated Assembly</a:t>
            </a:r>
            <a:br>
              <a:rPr lang="en-US" altLang="zh-CN" sz="2665">
                <a:latin typeface="Aptos" panose="020B0004020202020204" pitchFamily="34" charset="0"/>
                <a:ea typeface="微软雅黑" panose="020B0503020204020204" pitchFamily="34" charset="-122"/>
              </a:rPr>
            </a:br>
            <a:endParaRPr lang="zh-CN" altLang="en-US" sz="2665"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右箭头 5">
            <a:extLst>
              <a:ext uri="{FF2B5EF4-FFF2-40B4-BE49-F238E27FC236}">
                <a16:creationId xmlns:a16="http://schemas.microsoft.com/office/drawing/2014/main" id="{C9DFAAD8-E530-FD40-AAAC-02BC113D4CED}"/>
              </a:ext>
            </a:extLst>
          </p:cNvPr>
          <p:cNvSpPr/>
          <p:nvPr/>
        </p:nvSpPr>
        <p:spPr>
          <a:xfrm rot="5400000">
            <a:off x="5885849" y="3056023"/>
            <a:ext cx="2136806" cy="279132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" panose="020B00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0D32FE2-A77D-ADB4-21C4-82448E7F5CDE}"/>
              </a:ext>
            </a:extLst>
          </p:cNvPr>
          <p:cNvSpPr txBox="1"/>
          <p:nvPr/>
        </p:nvSpPr>
        <p:spPr>
          <a:xfrm>
            <a:off x="7093819" y="1982667"/>
            <a:ext cx="4942238" cy="250270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altLang="zh-CN" sz="1400" dirty="0">
                <a:latin typeface="Aptos" panose="020B0004020202020204" pitchFamily="34" charset="0"/>
              </a:rPr>
              <a:t>Verify a group of SIM/</a:t>
            </a:r>
            <a:r>
              <a:rPr lang="en-US" altLang="zh-CN" sz="1400" dirty="0" err="1">
                <a:latin typeface="Aptos" panose="020B0004020202020204" pitchFamily="34" charset="0"/>
              </a:rPr>
              <a:t>eSIM</a:t>
            </a:r>
            <a:r>
              <a:rPr lang="en-US" altLang="zh-CN" sz="1400" dirty="0">
                <a:latin typeface="Aptos" panose="020B0004020202020204" pitchFamily="34" charset="0"/>
              </a:rPr>
              <a:t> devices are physically co-located — in a single API call; Zone is supplied by the caller as a standard Area object; no device coordinates are exposed in the response  (the area definition may still include coordinates)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altLang="zh-CN" sz="1400" dirty="0">
                <a:latin typeface="Aptos" panose="020B0004020202020204" pitchFamily="34" charset="0"/>
              </a:rPr>
              <a:t>k-of-n group verdict — </a:t>
            </a:r>
            <a:r>
              <a:rPr lang="en-US" altLang="zh-CN" sz="1400" dirty="0" err="1">
                <a:latin typeface="Aptos" panose="020B0004020202020204" pitchFamily="34" charset="0"/>
              </a:rPr>
              <a:t>co_present</a:t>
            </a:r>
            <a:r>
              <a:rPr lang="en-US" altLang="zh-CN" sz="1400" dirty="0">
                <a:latin typeface="Aptos" panose="020B0004020202020204" pitchFamily="34" charset="0"/>
              </a:rPr>
              <a:t> / partial / </a:t>
            </a:r>
            <a:r>
              <a:rPr lang="en-US" altLang="zh-CN" sz="1400" dirty="0" err="1">
                <a:latin typeface="Aptos" panose="020B0004020202020204" pitchFamily="34" charset="0"/>
              </a:rPr>
              <a:t>not_co_present</a:t>
            </a:r>
            <a:r>
              <a:rPr lang="en-US" altLang="zh-CN" sz="1400" dirty="0">
                <a:latin typeface="Aptos" panose="020B0004020202020204" pitchFamily="34" charset="0"/>
              </a:rPr>
              <a:t> — configurable minimum threshold per cluster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altLang="zh-CN" sz="1400" dirty="0">
                <a:latin typeface="Aptos" panose="020B0004020202020204" pitchFamily="34" charset="0"/>
              </a:rPr>
              <a:t>Signed attestation token — act on trusted presence without revealing any individual device position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altLang="zh-CN" sz="1400" dirty="0">
                <a:latin typeface="Aptos" panose="020B0004020202020204" pitchFamily="34" charset="0"/>
              </a:rPr>
              <a:t>Two modes: on-demand POST /verify and continuous POST /assembly-subscriptions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altLang="zh-CN" sz="1400" dirty="0">
                <a:latin typeface="Aptos" panose="020B0004020202020204" pitchFamily="34" charset="0"/>
              </a:rPr>
              <a:t>Zero new operator capability required — composes existing network location intelligence server-side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BA6F573-B480-4C40-D598-3CA8379AA340}"/>
              </a:ext>
            </a:extLst>
          </p:cNvPr>
          <p:cNvSpPr/>
          <p:nvPr/>
        </p:nvSpPr>
        <p:spPr>
          <a:xfrm>
            <a:off x="7347098" y="1584526"/>
            <a:ext cx="4688958" cy="369411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bg1"/>
                </a:solidFill>
                <a:latin typeface="Aptos" panose="020B0004020202020204" pitchFamily="34" charset="0"/>
              </a:rPr>
              <a:t>API benefit</a:t>
            </a: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AF959226-77B8-D954-42C8-90BD4890C6A7}"/>
              </a:ext>
            </a:extLst>
          </p:cNvPr>
          <p:cNvSpPr txBox="1"/>
          <p:nvPr/>
        </p:nvSpPr>
        <p:spPr>
          <a:xfrm>
            <a:off x="350341" y="4954772"/>
            <a:ext cx="11536859" cy="13503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sz="1400" b="1" dirty="0">
                <a:latin typeface="Aptos" panose="020B0004020202020204" pitchFamily="34" charset="0"/>
                <a:ea typeface="微软雅黑" panose="020B0503020204020204" pitchFamily="34" charset="-122"/>
                <a:cs typeface="+mn-lt"/>
                <a:sym typeface="+mn-ea"/>
              </a:rPr>
              <a:t>New business scenarios driven：</a:t>
            </a:r>
          </a:p>
          <a:p>
            <a:pPr indent="0" fontAlgn="auto">
              <a:lnSpc>
                <a:spcPct val="150000"/>
              </a:lnSpc>
            </a:pPr>
            <a:r>
              <a:rPr lang="en-US" sz="1400" b="0" i="0" dirty="0">
                <a:effectLst/>
                <a:latin typeface="Aptos" panose="020B0004020202020204" pitchFamily="34" charset="0"/>
              </a:rPr>
              <a:t>NAA enables trust automation for physical multi-party workflows in Banking (cash-in-transit), Logistics, Field Services, Healthcare, and Controlled-Access Infrastructure — anywhere people, devices, and assets must be confirmed together before a sensitive action is authorized</a:t>
            </a:r>
            <a:endParaRPr lang="en-US" sz="1400" dirty="0">
              <a:latin typeface="Aptos" panose="020B0004020202020204" pitchFamily="34" charset="0"/>
              <a:ea typeface="微软雅黑" panose="020B0503020204020204" pitchFamily="34" charset="-122"/>
              <a:cs typeface="+mn-lt"/>
              <a:sym typeface="+mn-e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23FFC2-22CD-3AD7-ACC7-4BC0E5E74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41" y="1711842"/>
            <a:ext cx="6342582" cy="296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438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B6672-5B88-E507-706B-89BA924BD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15" y="277431"/>
            <a:ext cx="11580552" cy="829647"/>
          </a:xfrm>
        </p:spPr>
        <p:txBody>
          <a:bodyPr>
            <a:noAutofit/>
          </a:bodyPr>
          <a:lstStyle/>
          <a:p>
            <a:r>
              <a:rPr lang="en-US" altLang="zh-CN" sz="3600">
                <a:latin typeface="Aptos" panose="020B0004020202020204" pitchFamily="34" charset="0"/>
                <a:ea typeface="微软雅黑" panose="020B0503020204020204" pitchFamily="34" charset="-122"/>
              </a:rPr>
              <a:t>Sample implementation:</a:t>
            </a:r>
            <a:br>
              <a:rPr lang="en-US" altLang="zh-CN" sz="3600">
                <a:latin typeface="Aptos" panose="020B0004020202020204" pitchFamily="34" charset="0"/>
                <a:ea typeface="微软雅黑" panose="020B0503020204020204" pitchFamily="34" charset="-122"/>
              </a:rPr>
            </a:br>
            <a:r>
              <a:rPr lang="en-US" altLang="zh-CN" sz="3600">
                <a:latin typeface="Aptos" panose="020B0004020202020204" pitchFamily="34" charset="0"/>
                <a:ea typeface="微软雅黑" panose="020B0503020204020204" pitchFamily="34" charset="-122"/>
              </a:rPr>
              <a:t>Network Authenticated Assembly</a:t>
            </a:r>
            <a:endParaRPr lang="en-US" sz="36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0D6091-D863-4209-A966-82C550E2B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620" y="1783080"/>
            <a:ext cx="8054686" cy="427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715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latin typeface="Aptos" panose="020B0004020202020204" pitchFamily="34" charset="0"/>
                <a:ea typeface="微软雅黑" panose="020B0503020204020204" pitchFamily="34" charset="-122"/>
              </a:rPr>
              <a:t>NAA API: High level description</a:t>
            </a:r>
            <a:endParaRPr lang="zh-CN" altLang="en-US" sz="3200" dirty="0"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888B4D-A5A9-3715-FD45-40522B0D451E}"/>
              </a:ext>
            </a:extLst>
          </p:cNvPr>
          <p:cNvSpPr txBox="1"/>
          <p:nvPr/>
        </p:nvSpPr>
        <p:spPr>
          <a:xfrm>
            <a:off x="252522" y="2228026"/>
            <a:ext cx="5576778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ptos" panose="020B0004020202020204" pitchFamily="34" charset="0"/>
              </a:rPr>
              <a:t>NAA verifies that a defined group of SIM-based devices are physically co-located within a zone and time window — returning a single group verdict (</a:t>
            </a:r>
            <a:r>
              <a:rPr lang="en-US" sz="1400" dirty="0" err="1">
                <a:latin typeface="Aptos" panose="020B0004020202020204" pitchFamily="34" charset="0"/>
              </a:rPr>
              <a:t>co_present</a:t>
            </a:r>
            <a:r>
              <a:rPr lang="en-US" sz="1400" dirty="0">
                <a:latin typeface="Aptos" panose="020B0004020202020204" pitchFamily="34" charset="0"/>
              </a:rPr>
              <a:t> / partial / </a:t>
            </a:r>
            <a:r>
              <a:rPr lang="en-US" sz="1400" dirty="0" err="1">
                <a:latin typeface="Aptos" panose="020B0004020202020204" pitchFamily="34" charset="0"/>
              </a:rPr>
              <a:t>not_co_present</a:t>
            </a:r>
            <a:r>
              <a:rPr lang="en-US" sz="1400" dirty="0">
                <a:latin typeface="Aptos" panose="020B0004020202020204" pitchFamily="34" charset="0"/>
              </a:rPr>
              <a:t>) with a privacy-preserving attestation token. The caller never sees any device location.</a:t>
            </a:r>
          </a:p>
          <a:p>
            <a:endParaRPr lang="en-US" sz="1400" b="1" dirty="0">
              <a:latin typeface="Aptos" panose="020B0004020202020204" pitchFamily="34" charset="0"/>
            </a:endParaRPr>
          </a:p>
          <a:p>
            <a:r>
              <a:rPr lang="en-US" sz="1400" b="1" dirty="0">
                <a:latin typeface="Aptos" panose="020B0004020202020204" pitchFamily="34" charset="0"/>
              </a:rPr>
              <a:t>Key points:</a:t>
            </a:r>
            <a:endParaRPr lang="en-US" sz="1400" dirty="0">
              <a:latin typeface="Aptos" panose="020B000402020202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Aptos" panose="020B0004020202020204" pitchFamily="34" charset="0"/>
              </a:rPr>
              <a:t>Single API call for N devices — no per-device location results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Aptos" panose="020B0004020202020204" pitchFamily="34" charset="0"/>
              </a:rPr>
              <a:t>k-of-n threshold logic — partial presence is a first-class outcome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Aptos" panose="020B0004020202020204" pitchFamily="34" charset="0"/>
              </a:rPr>
              <a:t>On-demand (POST /verify) + subscription-based continuous monitoring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Aptos" panose="020B0004020202020204" pitchFamily="34" charset="0"/>
              </a:rPr>
              <a:t>Restricted to operator-addressable devices (SIM/</a:t>
            </a:r>
            <a:r>
              <a:rPr lang="en-US" sz="1400" dirty="0" err="1">
                <a:latin typeface="Aptos" panose="020B0004020202020204" pitchFamily="34" charset="0"/>
              </a:rPr>
              <a:t>eSIM</a:t>
            </a:r>
            <a:r>
              <a:rPr lang="en-US" sz="1400" dirty="0">
                <a:latin typeface="Aptos" panose="020B0004020202020204" pitchFamily="34" charset="0"/>
              </a:rPr>
              <a:t> only)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Aptos" panose="020B0004020202020204" pitchFamily="34" charset="0"/>
              </a:rPr>
              <a:t>Targets Banking, Logistics, Field Services, and Healthcare workflows</a:t>
            </a:r>
          </a:p>
          <a:p>
            <a:endParaRPr lang="en-US" sz="1400" b="1" dirty="0">
              <a:latin typeface="Aptos" panose="020B0004020202020204" pitchFamily="34" charset="0"/>
            </a:endParaRPr>
          </a:p>
          <a:p>
            <a:r>
              <a:rPr lang="en-US" sz="1400" b="1" dirty="0">
                <a:latin typeface="Aptos" panose="020B0004020202020204" pitchFamily="34" charset="0"/>
              </a:rPr>
              <a:t>Not a </a:t>
            </a:r>
            <a:r>
              <a:rPr lang="en-US" sz="1400" b="1" dirty="0" err="1">
                <a:latin typeface="Aptos" panose="020B0004020202020204" pitchFamily="34" charset="0"/>
              </a:rPr>
              <a:t>DeviceLocation</a:t>
            </a:r>
            <a:r>
              <a:rPr lang="en-US" sz="1400" b="1" dirty="0">
                <a:latin typeface="Aptos" panose="020B0004020202020204" pitchFamily="34" charset="0"/>
              </a:rPr>
              <a:t> enhancement</a:t>
            </a:r>
            <a:r>
              <a:rPr lang="en-US" sz="1400" dirty="0">
                <a:latin typeface="Aptos" panose="020B0004020202020204" pitchFamily="34" charset="0"/>
              </a:rPr>
              <a:t> — it answers </a:t>
            </a:r>
            <a:r>
              <a:rPr lang="en-US" sz="1400" i="1" dirty="0">
                <a:latin typeface="Aptos" panose="020B0004020202020204" pitchFamily="34" charset="0"/>
              </a:rPr>
              <a:t>"are these devices together?"</a:t>
            </a:r>
            <a:r>
              <a:rPr lang="en-US" sz="1400" dirty="0">
                <a:latin typeface="Aptos" panose="020B0004020202020204" pitchFamily="34" charset="0"/>
              </a:rPr>
              <a:t>, not </a:t>
            </a:r>
            <a:r>
              <a:rPr lang="en-US" sz="1400" i="1" dirty="0">
                <a:latin typeface="Aptos" panose="020B0004020202020204" pitchFamily="34" charset="0"/>
              </a:rPr>
              <a:t>"where is this device?"</a:t>
            </a:r>
            <a:r>
              <a:rPr lang="en-US" sz="1400" dirty="0">
                <a:latin typeface="Aptos" panose="020B0004020202020204" pitchFamily="34" charset="0"/>
              </a:rPr>
              <a:t> — a distinction that preserves privacy and makes the group verdict architecturally unique.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0B0736-FF88-D7B7-8C25-653946340C63}"/>
              </a:ext>
            </a:extLst>
          </p:cNvPr>
          <p:cNvSpPr txBox="1"/>
          <p:nvPr/>
        </p:nvSpPr>
        <p:spPr>
          <a:xfrm>
            <a:off x="6248402" y="2248723"/>
            <a:ext cx="577864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`</a:t>
            </a:r>
            <a:r>
              <a:rPr lang="en-US" sz="1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co_present</a:t>
            </a: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` = All present (m = N)</a:t>
            </a: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`partial` = Threshold met, not all (k ≤ m &lt; N) </a:t>
            </a: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`</a:t>
            </a:r>
            <a:r>
              <a:rPr lang="en-US" sz="1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not_co_present</a:t>
            </a: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` = Below threshold (m &lt; k)</a:t>
            </a: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(N=4, k=3, m=3): verdict is `partial`</a:t>
            </a: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Response fields: </a:t>
            </a:r>
            <a:r>
              <a:rPr lang="en-US" sz="14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 response will include </a:t>
            </a:r>
          </a:p>
          <a:p>
            <a:pPr marL="0" marR="0">
              <a:buNone/>
            </a:pP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- </a:t>
            </a:r>
            <a:r>
              <a:rPr lang="en-US" sz="1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totalCount</a:t>
            </a: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(N)</a:t>
            </a:r>
          </a:p>
          <a:p>
            <a:pPr marL="0" marR="0">
              <a:buNone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- </a:t>
            </a:r>
            <a:r>
              <a:rPr lang="en-US" sz="1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requiredCount</a:t>
            </a: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(k)</a:t>
            </a:r>
          </a:p>
          <a:p>
            <a:pPr marL="0" marR="0">
              <a:buNone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- </a:t>
            </a:r>
            <a:r>
              <a:rPr lang="en-US" sz="1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presentCount</a:t>
            </a: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(m)</a:t>
            </a:r>
          </a:p>
          <a:p>
            <a:pPr marL="0" marR="0">
              <a:buNone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- </a:t>
            </a:r>
            <a:r>
              <a:rPr lang="en-US" sz="1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thresholdMet</a:t>
            </a: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(</a:t>
            </a:r>
            <a:r>
              <a:rPr lang="en-US" sz="1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boolean</a:t>
            </a: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)</a:t>
            </a:r>
          </a:p>
          <a:p>
            <a:pPr marL="0" marR="0">
              <a:buNone/>
            </a:pP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thresholdMet</a:t>
            </a: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= true if m ≥ k</a:t>
            </a:r>
          </a:p>
          <a:p>
            <a:pPr marL="0" marR="0">
              <a:buNone/>
            </a:pPr>
            <a:r>
              <a:rPr lang="en-US" sz="1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thresholdMet</a:t>
            </a: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= false if m &lt; k</a:t>
            </a:r>
          </a:p>
          <a:p>
            <a:pPr marL="0" marR="0">
              <a:buNone/>
            </a:pPr>
            <a:endParaRPr lang="en-US" sz="1400" dirty="0"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note:</a:t>
            </a:r>
          </a:p>
          <a:p>
            <a:pPr marL="0" marR="0">
              <a:buNone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The `partial` verdict MUST NOT be interpreted as uncertainty.</a:t>
            </a:r>
          </a:p>
          <a:p>
            <a:pPr marL="0" marR="0">
              <a:buNone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It explicitly means the required threshold was met (</a:t>
            </a:r>
            <a:r>
              <a:rPr lang="en-US" sz="1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thresholdMet</a:t>
            </a: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= true),</a:t>
            </a:r>
          </a:p>
          <a:p>
            <a:pPr marL="0" marR="0">
              <a:buNone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but not all devices were present</a:t>
            </a:r>
          </a:p>
          <a:p>
            <a:pPr marL="0" marR="0">
              <a:buNone/>
            </a:pP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15A7905-31A5-F4CD-8F1E-2590C44FBEAF}"/>
              </a:ext>
            </a:extLst>
          </p:cNvPr>
          <p:cNvCxnSpPr/>
          <p:nvPr/>
        </p:nvCxnSpPr>
        <p:spPr>
          <a:xfrm>
            <a:off x="5943600" y="1965960"/>
            <a:ext cx="0" cy="444627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3AE0D48B-DC1D-F3E0-70A1-0152A10DB88D}"/>
              </a:ext>
            </a:extLst>
          </p:cNvPr>
          <p:cNvSpPr txBox="1">
            <a:spLocks/>
          </p:cNvSpPr>
          <p:nvPr/>
        </p:nvSpPr>
        <p:spPr>
          <a:xfrm>
            <a:off x="6442712" y="1398379"/>
            <a:ext cx="5101587" cy="8296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bg1"/>
                </a:solidFill>
                <a:latin typeface="Montserrat Light" pitchFamily="2" charset="77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Truth Table </a:t>
            </a:r>
          </a:p>
          <a:p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Group Verdict (k-of-n semantics)</a:t>
            </a:r>
            <a:endParaRPr lang="zh-CN" altLang="en-US" sz="2000" b="1" i="1" dirty="0">
              <a:solidFill>
                <a:schemeClr val="tx2">
                  <a:lumMod val="60000"/>
                  <a:lumOff val="40000"/>
                </a:schemeClr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400">
                <a:latin typeface="Aptos" panose="020B0004020202020204" pitchFamily="34" charset="0"/>
                <a:ea typeface="微软雅黑" panose="020B0503020204020204" pitchFamily="34" charset="-122"/>
              </a:rPr>
              <a:t>NAA </a:t>
            </a:r>
            <a:r>
              <a:rPr lang="en-US" altLang="zh-CN">
                <a:latin typeface="Aptos" panose="020B0004020202020204" pitchFamily="34" charset="0"/>
                <a:ea typeface="微软雅黑" panose="020B0503020204020204" pitchFamily="34" charset="-122"/>
                <a:sym typeface="+mn-ea"/>
              </a:rPr>
              <a:t>API </a:t>
            </a:r>
            <a:r>
              <a:rPr>
                <a:latin typeface="Aptos" panose="020B0004020202020204" pitchFamily="34" charset="0"/>
                <a:ea typeface="微软雅黑" panose="020B0503020204020204" pitchFamily="34" charset="-122"/>
                <a:sym typeface="+mn-ea"/>
              </a:rPr>
              <a:t>family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AE650D0-C865-7616-EDBD-C08DC87701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903598"/>
              </p:ext>
            </p:extLst>
          </p:nvPr>
        </p:nvGraphicFramePr>
        <p:xfrm>
          <a:off x="470211" y="2114284"/>
          <a:ext cx="10261289" cy="457853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252209">
                  <a:extLst>
                    <a:ext uri="{9D8B030D-6E8A-4147-A177-3AD203B41FA5}">
                      <a16:colId xmlns:a16="http://schemas.microsoft.com/office/drawing/2014/main" val="1490222955"/>
                    </a:ext>
                  </a:extLst>
                </a:gridCol>
                <a:gridCol w="5857507">
                  <a:extLst>
                    <a:ext uri="{9D8B030D-6E8A-4147-A177-3AD203B41FA5}">
                      <a16:colId xmlns:a16="http://schemas.microsoft.com/office/drawing/2014/main" val="1098486318"/>
                    </a:ext>
                  </a:extLst>
                </a:gridCol>
                <a:gridCol w="2151573">
                  <a:extLst>
                    <a:ext uri="{9D8B030D-6E8A-4147-A177-3AD203B41FA5}">
                      <a16:colId xmlns:a16="http://schemas.microsoft.com/office/drawing/2014/main" val="277490161"/>
                    </a:ext>
                  </a:extLst>
                </a:gridCol>
              </a:tblGrid>
              <a:tr h="207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API Name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740" marR="5740" marT="3826" marB="38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API Function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740" marR="5740" marT="3826" marB="38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Method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740" marR="5740" marT="3826" marB="3826" anchor="ctr"/>
                </a:tc>
                <a:extLst>
                  <a:ext uri="{0D108BD9-81ED-4DB2-BD59-A6C34878D82A}">
                    <a16:rowId xmlns:a16="http://schemas.microsoft.com/office/drawing/2014/main" val="1129155487"/>
                  </a:ext>
                </a:extLst>
              </a:tr>
              <a:tr h="681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NAA Assessment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740" marR="5740" marT="3826" marB="38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For a given device cluster and zone parameters, check network ability to resolve co-presence for all specified SIM-based devices</a:t>
                      </a:r>
                    </a:p>
                  </a:txBody>
                  <a:tcPr marL="5740" marR="5740" marT="3826" marB="38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POST</a:t>
                      </a:r>
                    </a:p>
                  </a:txBody>
                  <a:tcPr marL="5740" marR="5740" marT="3826" marB="3826" anchor="ctr"/>
                </a:tc>
                <a:extLst>
                  <a:ext uri="{0D108BD9-81ED-4DB2-BD59-A6C34878D82A}">
                    <a16:rowId xmlns:a16="http://schemas.microsoft.com/office/drawing/2014/main" val="1227327296"/>
                  </a:ext>
                </a:extLst>
              </a:tr>
              <a:tr h="1275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NAA Verify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740" marR="5740" marT="3826" marB="38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Submit a device cluster for co-presence verification. Returns group verdict (co_present / partial / not_co_present) and a signed privacy-preserving attestation token. Supports: a. cluster size (k-of-n threshold) b. zone definition and time window tolerance</a:t>
                      </a:r>
                    </a:p>
                  </a:txBody>
                  <a:tcPr marL="5740" marR="5740" marT="3826" marB="38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POST</a:t>
                      </a:r>
                    </a:p>
                  </a:txBody>
                  <a:tcPr marL="5740" marR="5740" marT="3826" marB="3826" anchor="ctr"/>
                </a:tc>
                <a:extLst>
                  <a:ext uri="{0D108BD9-81ED-4DB2-BD59-A6C34878D82A}">
                    <a16:rowId xmlns:a16="http://schemas.microsoft.com/office/drawing/2014/main" val="2812780843"/>
                  </a:ext>
                </a:extLst>
              </a:tr>
              <a:tr h="1077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NAA Subscription Creation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740" marR="5740" marT="3826" marB="38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Create a continuous co-presence monitoring subscription for a device cluster. Triggers webhook events on verdict change (status-changed CloudEvent). Supports: a. subscriptionExpireTime b. subscriptionMaxEvents</a:t>
                      </a:r>
                    </a:p>
                  </a:txBody>
                  <a:tcPr marL="5740" marR="5740" marT="3826" marB="38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POST   /assembly-subscriptions</a:t>
                      </a:r>
                    </a:p>
                  </a:txBody>
                  <a:tcPr marL="5740" marR="5740" marT="3826" marB="3826" anchor="ctr"/>
                </a:tc>
                <a:extLst>
                  <a:ext uri="{0D108BD9-81ED-4DB2-BD59-A6C34878D82A}">
                    <a16:rowId xmlns:a16="http://schemas.microsoft.com/office/drawing/2014/main" val="3812046055"/>
                  </a:ext>
                </a:extLst>
              </a:tr>
              <a:tr h="328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NAA Subscription Query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740" marR="5740" marT="3826" marB="38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Query an existing co-presence subscription and its current status</a:t>
                      </a:r>
                    </a:p>
                  </a:txBody>
                  <a:tcPr marL="5740" marR="5740" marT="3826" marB="38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GET </a:t>
                      </a:r>
                      <a:r>
                        <a:rPr lang="en-US" sz="1200" dirty="0"/>
                        <a:t>/assembly-subscriptions/{</a:t>
                      </a:r>
                      <a:r>
                        <a:rPr lang="en-US" sz="1200" dirty="0" err="1"/>
                        <a:t>subscriptionId</a:t>
                      </a:r>
                      <a:r>
                        <a:rPr lang="en-US" sz="1200" dirty="0"/>
                        <a:t>}</a:t>
                      </a:r>
                    </a:p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GET </a:t>
                      </a:r>
                      <a:r>
                        <a:rPr lang="en-US" sz="1200" dirty="0"/>
                        <a:t>/assembly-subscriptions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740" marR="5740" marT="3826" marB="3826" anchor="ctr"/>
                </a:tc>
                <a:extLst>
                  <a:ext uri="{0D108BD9-81ED-4DB2-BD59-A6C34878D82A}">
                    <a16:rowId xmlns:a16="http://schemas.microsoft.com/office/drawing/2014/main" val="2383846437"/>
                  </a:ext>
                </a:extLst>
              </a:tr>
              <a:tr h="406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NAA Subscription Modification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740" marR="5740" marT="3826" marB="38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Modify an active subscription — update time window, k-of-n threshold, or expiry</a:t>
                      </a:r>
                    </a:p>
                  </a:txBody>
                  <a:tcPr marL="5740" marR="5740" marT="3826" marB="38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* To be discussed in WG</a:t>
                      </a:r>
                    </a:p>
                  </a:txBody>
                  <a:tcPr marL="5740" marR="5740" marT="3826" marB="3826" anchor="ctr"/>
                </a:tc>
                <a:extLst>
                  <a:ext uri="{0D108BD9-81ED-4DB2-BD59-A6C34878D82A}">
                    <a16:rowId xmlns:a16="http://schemas.microsoft.com/office/drawing/2014/main" val="2217489705"/>
                  </a:ext>
                </a:extLst>
              </a:tr>
              <a:tr h="328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NAA Subscription Deletion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740" marR="5740" marT="3826" marB="38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Delete an active co-presence subscription and stop monitoring</a:t>
                      </a:r>
                    </a:p>
                  </a:txBody>
                  <a:tcPr marL="5740" marR="5740" marT="3826" marB="38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DELETE </a:t>
                      </a:r>
                      <a:r>
                        <a:rPr lang="en-US" sz="1200" dirty="0"/>
                        <a:t>/assembly-subscriptions/{</a:t>
                      </a:r>
                      <a:r>
                        <a:rPr lang="en-US" sz="1200" dirty="0" err="1"/>
                        <a:t>subscriptionId</a:t>
                      </a:r>
                      <a:r>
                        <a:rPr lang="en-US" sz="1200" dirty="0"/>
                        <a:t>}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740" marR="5740" marT="3826" marB="3826" anchor="ctr"/>
                </a:tc>
                <a:extLst>
                  <a:ext uri="{0D108BD9-81ED-4DB2-BD59-A6C34878D82A}">
                    <a16:rowId xmlns:a16="http://schemas.microsoft.com/office/drawing/2014/main" val="374971599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>
                <a:latin typeface="Aptos" panose="020B0004020202020204" pitchFamily="34" charset="0"/>
                <a:ea typeface="微软雅黑" panose="020B0503020204020204" pitchFamily="34" charset="-122"/>
                <a:sym typeface="+mn-ea"/>
              </a:rPr>
              <a:t>Sequence Diagram </a:t>
            </a:r>
            <a:endParaRPr lang="zh-CN" altLang="en-US" sz="3200">
              <a:latin typeface="Aptos" panose="020B00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3BE6176-4A43-09B7-4C60-1E32B1BAF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648" y="1266568"/>
            <a:ext cx="7825562" cy="5410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ptos" panose="020B0004020202020204" pitchFamily="34" charset="0"/>
                <a:ea typeface="微软雅黑" panose="020B0503020204020204" pitchFamily="34" charset="-122"/>
                <a:sym typeface="+mn-ea"/>
              </a:rPr>
              <a:t>User story</a:t>
            </a:r>
            <a:endParaRPr lang="zh-CN" altLang="en-US"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6AA7770-A245-F18F-23E0-22A8789E6C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532660"/>
              </p:ext>
            </p:extLst>
          </p:nvPr>
        </p:nvGraphicFramePr>
        <p:xfrm>
          <a:off x="470211" y="1825625"/>
          <a:ext cx="10906626" cy="460304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858319">
                  <a:extLst>
                    <a:ext uri="{9D8B030D-6E8A-4147-A177-3AD203B41FA5}">
                      <a16:colId xmlns:a16="http://schemas.microsoft.com/office/drawing/2014/main" val="861723123"/>
                    </a:ext>
                  </a:extLst>
                </a:gridCol>
                <a:gridCol w="9048307">
                  <a:extLst>
                    <a:ext uri="{9D8B030D-6E8A-4147-A177-3AD203B41FA5}">
                      <a16:colId xmlns:a16="http://schemas.microsoft.com/office/drawing/2014/main" val="2763391718"/>
                    </a:ext>
                  </a:extLst>
                </a:gridCol>
              </a:tblGrid>
              <a:tr h="290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Item</a:t>
                      </a:r>
                      <a:endParaRPr lang="en-US" sz="105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587" marR="4587" marT="3058" marB="30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Details</a:t>
                      </a:r>
                      <a:endParaRPr lang="en-US" sz="105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587" marR="4587" marT="3058" marB="3058" anchor="ctr"/>
                </a:tc>
                <a:extLst>
                  <a:ext uri="{0D108BD9-81ED-4DB2-BD59-A6C34878D82A}">
                    <a16:rowId xmlns:a16="http://schemas.microsoft.com/office/drawing/2014/main" val="3863283207"/>
                  </a:ext>
                </a:extLst>
              </a:tr>
              <a:tr h="9970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Summary</a:t>
                      </a:r>
                      <a:endParaRPr lang="en-US" sz="105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587" marR="4587" marT="3058" marB="30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As an application developer or enterprise customer, I want to verify (using my application server/backend service) that a defined group of SIM-based devices are physically co-located within a specific zone and time window — so that I can automate trust decisions for security-sensitive physical workflows without exposing any device location to my application.</a:t>
                      </a:r>
                    </a:p>
                  </a:txBody>
                  <a:tcPr marL="4587" marR="4587" marT="3058" marB="3058" anchor="ctr"/>
                </a:tc>
                <a:extLst>
                  <a:ext uri="{0D108BD9-81ED-4DB2-BD59-A6C34878D82A}">
                    <a16:rowId xmlns:a16="http://schemas.microsoft.com/office/drawing/2014/main" val="1319551850"/>
                  </a:ext>
                </a:extLst>
              </a:tr>
              <a:tr h="1360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Roles, Actors and Scope</a:t>
                      </a:r>
                      <a:endParaRPr lang="en-US" sz="105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587" marR="4587" marT="3058" marB="30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Roles:</a:t>
                      </a:r>
                      <a:r>
                        <a:rPr lang="en-US" sz="105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 Enterprise Customer</a:t>
                      </a:r>
                    </a:p>
                    <a:p>
                      <a:pPr>
                        <a:buNone/>
                      </a:pPr>
                      <a:r>
                        <a:rPr lang="en-US" sz="105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Actors:</a:t>
                      </a:r>
                      <a:r>
                        <a:rPr lang="en-US" sz="105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 Application developers, enterprise security teams, industry customers (banking, logistics, field services, healthcare)</a:t>
                      </a:r>
                    </a:p>
                    <a:p>
                      <a:pPr>
                        <a:buNone/>
                      </a:pPr>
                      <a:r>
                        <a:rPr lang="en-US" sz="105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Scope:</a:t>
                      </a:r>
                      <a:r>
                        <a:rPr lang="en-US" sz="105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On-demand co-presence verification (POST /verify) — Submit device cluster, get group verdict + attestation token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Subscription-based continuous monitoring (POST /assembly-subscriptions) — Create / Query / Modify / Delete a monitored cluster subscription with webhook-based verdict change notifications</a:t>
                      </a:r>
                    </a:p>
                  </a:txBody>
                  <a:tcPr marL="4587" marR="4587" marT="3058" marB="3058" anchor="ctr"/>
                </a:tc>
                <a:extLst>
                  <a:ext uri="{0D108BD9-81ED-4DB2-BD59-A6C34878D82A}">
                    <a16:rowId xmlns:a16="http://schemas.microsoft.com/office/drawing/2014/main" val="1212372763"/>
                  </a:ext>
                </a:extLst>
              </a:tr>
              <a:tr h="1954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Activities / Steps</a:t>
                      </a:r>
                      <a:endParaRPr lang="en-US" sz="105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587" marR="4587" marT="3058" marB="30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Starts when:</a:t>
                      </a: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 The customer application server makes a POST /verify request (including device cluster identifiers, zone definition, time window tolerance, and k-of-n threshold) to the NAA API, triggering operator-side co-presence resolution across all specified SIM/</a:t>
                      </a:r>
                      <a:r>
                        <a:rPr lang="en-US" sz="1050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eSIM</a:t>
                      </a: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devices.</a:t>
                      </a:r>
                    </a:p>
                    <a:p>
                      <a:pPr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Returns:</a:t>
                      </a: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 A group verdict (</a:t>
                      </a:r>
                      <a:r>
                        <a:rPr lang="en-US" sz="1050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co_present</a:t>
                      </a: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/ partial / </a:t>
                      </a:r>
                      <a:r>
                        <a:rPr lang="en-US" sz="1050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not_co_present</a:t>
                      </a: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) and a signed privacy-preserving attestation token. No individual device location is returned to the </a:t>
                      </a:r>
                      <a:r>
                        <a:rPr lang="en-US" sz="1050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caller</a:t>
                      </a:r>
                      <a:r>
                        <a:rPr lang="en-US" sz="1050" b="1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For</a:t>
                      </a:r>
                      <a:r>
                        <a:rPr lang="en-US" sz="1050" b="1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subscriptions — Ends when:</a:t>
                      </a: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 The customer application server makes a DELETE /assembly-subscriptions/{id} request, or the subscription expires automatically when </a:t>
                      </a:r>
                      <a:r>
                        <a:rPr lang="en-US" sz="1050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subscriptionExpireTime</a:t>
                      </a: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 is reached or </a:t>
                      </a:r>
                      <a:r>
                        <a:rPr lang="en-US" sz="1050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subscriptionMaxEvents</a:t>
                      </a: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 is exhausted.</a:t>
                      </a:r>
                    </a:p>
                  </a:txBody>
                  <a:tcPr marL="4587" marR="4587" marT="3058" marB="3058" anchor="ctr"/>
                </a:tc>
                <a:extLst>
                  <a:ext uri="{0D108BD9-81ED-4DB2-BD59-A6C34878D82A}">
                    <a16:rowId xmlns:a16="http://schemas.microsoft.com/office/drawing/2014/main" val="179680888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2425" y="378460"/>
            <a:ext cx="7780655" cy="829945"/>
          </a:xfrm>
        </p:spPr>
        <p:txBody>
          <a:bodyPr>
            <a:normAutofit/>
          </a:bodyPr>
          <a:lstStyle/>
          <a:p>
            <a:r>
              <a:rPr lang="en-US" altLang="zh-CN" sz="3110">
                <a:latin typeface="Aptos" panose="020B0004020202020204" pitchFamily="34" charset="0"/>
                <a:ea typeface="微软雅黑" panose="020B0503020204020204" pitchFamily="34" charset="-122"/>
                <a:sym typeface="+mn-ea"/>
              </a:rPr>
              <a:t>API  Deliverables status 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20562350"/>
              </p:ext>
            </p:extLst>
          </p:nvPr>
        </p:nvGraphicFramePr>
        <p:xfrm>
          <a:off x="855980" y="2093595"/>
          <a:ext cx="5605780" cy="351282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908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9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9630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500" dirty="0"/>
                    </a:p>
                    <a:p>
                      <a:pPr marL="94615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1400" b="1" i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Deliverable</a:t>
                      </a:r>
                      <a:r>
                        <a:rPr sz="1400" i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                           </a:t>
                      </a:r>
                      <a:r>
                        <a:rPr sz="1400" b="1" i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Required/Optional</a:t>
                      </a:r>
                      <a:r>
                        <a:rPr sz="1400" i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i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(R/O)</a:t>
                      </a:r>
                      <a:r>
                        <a:rPr sz="1400" i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       </a:t>
                      </a:r>
                      <a:r>
                        <a:rPr sz="1400" b="1" i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</a:t>
                      </a:r>
                      <a:r>
                        <a:rPr sz="1400" b="1" i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urrent</a:t>
                      </a:r>
                      <a:r>
                        <a:rPr sz="1400" i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i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status</a:t>
                      </a:r>
                      <a:endParaRPr lang="en-US" altLang="en-US" sz="1400" i="0" dirty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84455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API Spe</a:t>
                      </a:r>
                      <a:r>
                        <a:rPr lang="en-US" altLang="en-US" sz="1400" spc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cs</a:t>
                      </a: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D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852805" algn="l" rtl="0" eaLnBrk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lang="en-US" altLang="en-US" sz="1400" spc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D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160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In Progress</a:t>
                      </a: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D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6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84455" algn="l" rtl="0" eaLnBrk="0">
                        <a:lnSpc>
                          <a:spcPts val="1805"/>
                        </a:lnSpc>
                      </a:pPr>
                      <a:r>
                        <a:rPr lang="en-US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API documentation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852805" algn="l" rtl="0" eaLnBrk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lang="en-US" altLang="en-US" sz="1400" spc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171575" algn="l" rtl="0" eaLnBrk="0">
                        <a:lnSpc>
                          <a:spcPct val="91000"/>
                        </a:lnSpc>
                      </a:pPr>
                      <a:r>
                        <a:rPr lang="en-US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TBD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1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95250" algn="l" rtl="0" eaLnBrk="0">
                        <a:lnSpc>
                          <a:spcPts val="1805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User stories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7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85280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400" spc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7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171575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Available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84455" algn="l" rtl="0" eaLnBrk="0">
                        <a:lnSpc>
                          <a:spcPts val="1785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Test ca</a:t>
                      </a:r>
                      <a:r>
                        <a:rPr lang="en-US" altLang="en-US" sz="1400" spc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ses</a:t>
                      </a: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852805" algn="l" rtl="0" eaLnBrk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lang="en-US" altLang="en-US" sz="1400" spc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160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TBD</a:t>
                      </a: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1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96520" algn="l" rtl="0" eaLnBrk="0">
                        <a:lnSpc>
                          <a:spcPct val="92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Implementation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846455" algn="l" rtl="0" eaLnBrk="0">
                        <a:lnSpc>
                          <a:spcPct val="81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400" spc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</a:t>
                      </a: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4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160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TBD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1BAF2F9-DEE7-FA5E-F8B9-795617FEF0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998568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90578-2460-9207-2273-825813031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110">
                <a:latin typeface="Aptos" panose="020B0004020202020204" pitchFamily="34" charset="0"/>
                <a:ea typeface="微软雅黑" panose="020B0503020204020204" pitchFamily="34" charset="-122"/>
              </a:rPr>
              <a:t>NAA Vs Device Locations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6D5378-A460-5B2F-8EF1-18677218E257}"/>
              </a:ext>
            </a:extLst>
          </p:cNvPr>
          <p:cNvSpPr txBox="1"/>
          <p:nvPr/>
        </p:nvSpPr>
        <p:spPr>
          <a:xfrm>
            <a:off x="470211" y="1840560"/>
            <a:ext cx="621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solidFill>
                  <a:srgbClr val="0070C0"/>
                </a:solidFill>
              </a:rPr>
              <a:t>NAA is a New Abstraction Layer, Not a Device Location Enhancement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F17222-E20F-7055-1AFD-12DB8FEEAAB3}"/>
              </a:ext>
            </a:extLst>
          </p:cNvPr>
          <p:cNvSpPr txBox="1"/>
          <p:nvPr/>
        </p:nvSpPr>
        <p:spPr>
          <a:xfrm>
            <a:off x="470211" y="2462894"/>
            <a:ext cx="516504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fr-FR" sz="1400" b="0" i="0" dirty="0">
                <a:effectLst/>
                <a:latin typeface="Aptos" panose="020B0004020202020204" pitchFamily="34" charset="0"/>
              </a:rPr>
              <a:t>Caller supplies a zone </a:t>
            </a:r>
            <a:r>
              <a:rPr lang="fr-FR" sz="1400" b="0" i="0" dirty="0" err="1">
                <a:effectLst/>
                <a:latin typeface="Aptos" panose="020B0004020202020204" pitchFamily="34" charset="0"/>
              </a:rPr>
              <a:t>definition</a:t>
            </a:r>
            <a:r>
              <a:rPr lang="fr-FR" sz="1400" b="0" i="0" dirty="0">
                <a:effectLst/>
                <a:latin typeface="Aptos" panose="020B0004020202020204" pitchFamily="34" charset="0"/>
              </a:rPr>
              <a:t> .</a:t>
            </a:r>
            <a:r>
              <a:rPr lang="en-US" sz="1400" b="0" i="0" dirty="0">
                <a:effectLst/>
                <a:latin typeface="Aptos" panose="020B0004020202020204" pitchFamily="34" charset="0"/>
              </a:rPr>
              <a:t> no resolved device coordinates are exposed to the caller</a:t>
            </a:r>
            <a:endParaRPr lang="fr-FR" sz="1400" b="0" i="0" dirty="0">
              <a:effectLst/>
              <a:latin typeface="Aptos" panose="020B0004020202020204" pitchFamily="34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400" b="0" i="0" dirty="0">
                <a:effectLst/>
                <a:latin typeface="Aptos" panose="020B0004020202020204" pitchFamily="34" charset="0"/>
              </a:rPr>
              <a:t>Output is a </a:t>
            </a:r>
            <a:r>
              <a:rPr lang="en-US" sz="1400" b="1" i="0" dirty="0">
                <a:effectLst/>
                <a:latin typeface="Aptos" panose="020B0004020202020204" pitchFamily="34" charset="0"/>
              </a:rPr>
              <a:t>relational group verdict</a:t>
            </a:r>
            <a:r>
              <a:rPr lang="en-US" sz="1400" b="0" i="0" dirty="0">
                <a:effectLst/>
                <a:latin typeface="Aptos" panose="020B0004020202020204" pitchFamily="34" charset="0"/>
              </a:rPr>
              <a:t> (</a:t>
            </a:r>
            <a:r>
              <a:rPr lang="en-US" sz="1400" b="0" i="0" dirty="0" err="1">
                <a:effectLst/>
                <a:latin typeface="Aptos" panose="020B0004020202020204" pitchFamily="34" charset="0"/>
              </a:rPr>
              <a:t>co_present</a:t>
            </a:r>
            <a:r>
              <a:rPr lang="en-US" sz="1400" b="0" i="0" dirty="0">
                <a:effectLst/>
                <a:latin typeface="Aptos" panose="020B0004020202020204" pitchFamily="34" charset="0"/>
              </a:rPr>
              <a:t> / partial / </a:t>
            </a:r>
            <a:r>
              <a:rPr lang="en-US" sz="1400" b="0" i="0" dirty="0" err="1">
                <a:effectLst/>
                <a:latin typeface="Aptos" panose="020B0004020202020204" pitchFamily="34" charset="0"/>
              </a:rPr>
              <a:t>not_co_present</a:t>
            </a:r>
            <a:r>
              <a:rPr lang="en-US" sz="1400" b="0" i="0" dirty="0">
                <a:effectLst/>
                <a:latin typeface="Aptos" panose="020B0004020202020204" pitchFamily="34" charset="0"/>
              </a:rPr>
              <a:t>), not a location value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400" b="0" i="0" dirty="0">
                <a:effectLst/>
                <a:latin typeface="Aptos" panose="020B0004020202020204" pitchFamily="34" charset="0"/>
              </a:rPr>
              <a:t>Privacy-preserving by design: individual positions are </a:t>
            </a:r>
            <a:r>
              <a:rPr lang="en-US" sz="1400" b="1" i="0" dirty="0">
                <a:effectLst/>
                <a:latin typeface="Aptos" panose="020B0004020202020204" pitchFamily="34" charset="0"/>
              </a:rPr>
              <a:t>never returned</a:t>
            </a:r>
            <a:r>
              <a:rPr lang="en-US" sz="1400" b="0" i="0" dirty="0">
                <a:effectLst/>
                <a:latin typeface="Aptos" panose="020B0004020202020204" pitchFamily="34" charset="0"/>
              </a:rPr>
              <a:t>, even partially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400" b="0" i="0" dirty="0">
                <a:effectLst/>
                <a:latin typeface="Aptos" panose="020B0004020202020204" pitchFamily="34" charset="0"/>
              </a:rPr>
              <a:t>Promoting it as a </a:t>
            </a:r>
            <a:r>
              <a:rPr lang="en-US" sz="1400" b="0" i="0" dirty="0" err="1">
                <a:effectLst/>
                <a:latin typeface="Aptos" panose="020B0004020202020204" pitchFamily="34" charset="0"/>
              </a:rPr>
              <a:t>DeviceLocation</a:t>
            </a:r>
            <a:r>
              <a:rPr lang="en-US" sz="1400" b="0" i="0" dirty="0">
                <a:effectLst/>
                <a:latin typeface="Aptos" panose="020B0004020202020204" pitchFamily="34" charset="0"/>
              </a:rPr>
              <a:t> enhancement would </a:t>
            </a:r>
            <a:r>
              <a:rPr lang="en-US" sz="1400" b="1" i="0" dirty="0">
                <a:effectLst/>
                <a:latin typeface="Aptos" panose="020B0004020202020204" pitchFamily="34" charset="0"/>
              </a:rPr>
              <a:t>force callers to aggregate individual location results</a:t>
            </a:r>
            <a:r>
              <a:rPr lang="en-US" sz="1400" b="0" i="0" dirty="0">
                <a:effectLst/>
                <a:latin typeface="Aptos" panose="020B0004020202020204" pitchFamily="34" charset="0"/>
              </a:rPr>
              <a:t> — increasing privacy surface and destroying the attestation model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DFC3899-3F39-A19B-6016-236558F707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616991"/>
              </p:ext>
            </p:extLst>
          </p:nvPr>
        </p:nvGraphicFramePr>
        <p:xfrm>
          <a:off x="6925739" y="2003851"/>
          <a:ext cx="4950828" cy="2620088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650276">
                  <a:extLst>
                    <a:ext uri="{9D8B030D-6E8A-4147-A177-3AD203B41FA5}">
                      <a16:colId xmlns:a16="http://schemas.microsoft.com/office/drawing/2014/main" val="3076243538"/>
                    </a:ext>
                  </a:extLst>
                </a:gridCol>
                <a:gridCol w="1650276">
                  <a:extLst>
                    <a:ext uri="{9D8B030D-6E8A-4147-A177-3AD203B41FA5}">
                      <a16:colId xmlns:a16="http://schemas.microsoft.com/office/drawing/2014/main" val="763374759"/>
                    </a:ext>
                  </a:extLst>
                </a:gridCol>
                <a:gridCol w="1650276">
                  <a:extLst>
                    <a:ext uri="{9D8B030D-6E8A-4147-A177-3AD203B41FA5}">
                      <a16:colId xmlns:a16="http://schemas.microsoft.com/office/drawing/2014/main" val="1662432745"/>
                    </a:ext>
                  </a:extLst>
                </a:gridCol>
              </a:tblGrid>
              <a:tr h="64511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b="1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34066" marR="34066" marT="22711" marB="227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1600" b="1"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1600" b="1">
                          <a:effectLst/>
                          <a:latin typeface="Aptos" panose="020B0004020202020204" pitchFamily="34" charset="0"/>
                        </a:rPr>
                        <a:t>Device Location Verification</a:t>
                      </a:r>
                    </a:p>
                  </a:txBody>
                  <a:tcPr marL="34066" marR="34066" marT="22711" marB="227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effectLst/>
                          <a:latin typeface="Aptos" panose="020B0004020202020204" pitchFamily="34" charset="0"/>
                        </a:rPr>
                        <a:t>NAA</a:t>
                      </a:r>
                    </a:p>
                  </a:txBody>
                  <a:tcPr marL="34066" marR="34066" marT="22711" marB="22711" anchor="ctr"/>
                </a:tc>
                <a:extLst>
                  <a:ext uri="{0D108BD9-81ED-4DB2-BD59-A6C34878D82A}">
                    <a16:rowId xmlns:a16="http://schemas.microsoft.com/office/drawing/2014/main" val="4113240896"/>
                  </a:ext>
                </a:extLst>
              </a:tr>
              <a:tr h="520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Input</a:t>
                      </a:r>
                    </a:p>
                  </a:txBody>
                  <a:tcPr marL="34066" marR="34066" marT="22711" marB="227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>
                          <a:effectLst/>
                          <a:latin typeface="Aptos" panose="020B0004020202020204" pitchFamily="34" charset="0"/>
                        </a:rPr>
                        <a:t>1 device + caller lat/lon</a:t>
                      </a:r>
                    </a:p>
                  </a:txBody>
                  <a:tcPr marL="34066" marR="34066" marT="22711" marB="227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N devices, no coordinates</a:t>
                      </a:r>
                    </a:p>
                  </a:txBody>
                  <a:tcPr marL="34066" marR="34066" marT="22711" marB="22711" anchor="ctr"/>
                </a:tc>
                <a:extLst>
                  <a:ext uri="{0D108BD9-81ED-4DB2-BD59-A6C34878D82A}">
                    <a16:rowId xmlns:a16="http://schemas.microsoft.com/office/drawing/2014/main" val="2832621390"/>
                  </a:ext>
                </a:extLst>
              </a:tr>
              <a:tr h="435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Output</a:t>
                      </a:r>
                    </a:p>
                  </a:txBody>
                  <a:tcPr marL="34066" marR="34066" marT="22711" marB="227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Location boolean</a:t>
                      </a:r>
                    </a:p>
                  </a:txBody>
                  <a:tcPr marL="34066" marR="34066" marT="22711" marB="227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Group relational verdict</a:t>
                      </a:r>
                    </a:p>
                  </a:txBody>
                  <a:tcPr marL="34066" marR="34066" marT="22711" marB="22711" anchor="ctr"/>
                </a:tc>
                <a:extLst>
                  <a:ext uri="{0D108BD9-81ED-4DB2-BD59-A6C34878D82A}">
                    <a16:rowId xmlns:a16="http://schemas.microsoft.com/office/drawing/2014/main" val="3591415243"/>
                  </a:ext>
                </a:extLst>
              </a:tr>
              <a:tr h="645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Privacy</a:t>
                      </a:r>
                    </a:p>
                  </a:txBody>
                  <a:tcPr marL="34066" marR="34066" marT="22711" marB="227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Caller knows the zone</a:t>
                      </a:r>
                    </a:p>
                  </a:txBody>
                  <a:tcPr marL="34066" marR="34066" marT="22711" marB="227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Caller learns nothing about position</a:t>
                      </a:r>
                    </a:p>
                  </a:txBody>
                  <a:tcPr marL="34066" marR="34066" marT="22711" marB="22711" anchor="ctr"/>
                </a:tc>
                <a:extLst>
                  <a:ext uri="{0D108BD9-81ED-4DB2-BD59-A6C34878D82A}">
                    <a16:rowId xmlns:a16="http://schemas.microsoft.com/office/drawing/2014/main" val="225463047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F357E45-4620-0A69-44D8-E63A4A46A5E7}"/>
              </a:ext>
            </a:extLst>
          </p:cNvPr>
          <p:cNvSpPr txBox="1"/>
          <p:nvPr/>
        </p:nvSpPr>
        <p:spPr>
          <a:xfrm>
            <a:off x="470211" y="5756089"/>
            <a:ext cx="90199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1">
                <a:effectLst/>
                <a:latin typeface="Segoe WPC"/>
              </a:rPr>
              <a:t>The group verdict cannot be cleanly expressed as a </a:t>
            </a:r>
            <a:r>
              <a:rPr lang="en-US" sz="1400" b="0" i="1" err="1">
                <a:effectLst/>
                <a:latin typeface="Segoe WPC"/>
              </a:rPr>
              <a:t>DeviceLocation</a:t>
            </a:r>
            <a:r>
              <a:rPr lang="en-US" sz="1400" b="0" i="1">
                <a:effectLst/>
                <a:latin typeface="Segoe WPC"/>
              </a:rPr>
              <a:t> enhancement without breaking the core privacy guarantee — that is the architectural justification for a separate API family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79558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3D691-6EBF-0490-2FB8-62ACB23DF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76708-0378-4CC7-120D-286BF1989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211" y="436920"/>
            <a:ext cx="7302189" cy="82964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110">
                <a:latin typeface="Aptos" panose="020B0004020202020204" pitchFamily="34" charset="0"/>
                <a:ea typeface="微软雅黑" panose="020B0503020204020204" pitchFamily="34" charset="-122"/>
              </a:rPr>
              <a:t>Device Eligibility: Operator-Addressable Only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4DEB7B-DD1E-E2F3-8F86-B96E69DE1F84}"/>
              </a:ext>
            </a:extLst>
          </p:cNvPr>
          <p:cNvSpPr txBox="1"/>
          <p:nvPr/>
        </p:nvSpPr>
        <p:spPr>
          <a:xfrm>
            <a:off x="642384" y="2120949"/>
            <a:ext cx="9703095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sz="1600" b="1">
                <a:solidFill>
                  <a:srgbClr val="0070C0"/>
                </a:solidFill>
                <a:effectLst/>
                <a:latin typeface="Segoe WPC"/>
              </a:rPr>
              <a:t>Cluster members restricted to SIM/</a:t>
            </a:r>
            <a:r>
              <a:rPr lang="en-US" sz="1600" b="1" err="1">
                <a:solidFill>
                  <a:srgbClr val="0070C0"/>
                </a:solidFill>
                <a:effectLst/>
                <a:latin typeface="Segoe WPC"/>
              </a:rPr>
              <a:t>eSIM</a:t>
            </a:r>
            <a:r>
              <a:rPr lang="en-US" sz="1600" b="1">
                <a:solidFill>
                  <a:srgbClr val="0070C0"/>
                </a:solidFill>
                <a:effectLst/>
                <a:latin typeface="Segoe WPC"/>
              </a:rPr>
              <a:t> identities — same schema as existing CAMARA APIs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1600" b="1" i="0">
                <a:effectLst/>
                <a:latin typeface="Segoe WPC"/>
              </a:rPr>
              <a:t>Key Points:</a:t>
            </a:r>
            <a:endParaRPr lang="en-US" sz="1600" b="0" i="0">
              <a:effectLst/>
              <a:latin typeface="Segoe WPC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600" b="0" i="0">
                <a:effectLst/>
                <a:latin typeface="Segoe WPC"/>
              </a:rPr>
              <a:t>Tags, beacons, gateways, and carts are </a:t>
            </a:r>
            <a:r>
              <a:rPr lang="en-US" sz="1600" b="1" i="0">
                <a:effectLst/>
                <a:latin typeface="Segoe WPC"/>
              </a:rPr>
              <a:t>removed from the proposal</a:t>
            </a:r>
            <a:endParaRPr lang="en-US" sz="1600">
              <a:latin typeface="Segoe WPC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600" b="0" i="0">
                <a:effectLst/>
                <a:latin typeface="Segoe WPC"/>
              </a:rPr>
              <a:t>All cluster members must use CAMARA-standard device identifiers: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err="1">
                <a:effectLst/>
                <a:latin typeface="Consolas" panose="020B0609020204030204" pitchFamily="49" charset="0"/>
              </a:rPr>
              <a:t>phoneNumber</a:t>
            </a:r>
            <a:r>
              <a:rPr lang="en-US" sz="1600" b="0" i="0">
                <a:effectLst/>
                <a:latin typeface="Segoe WPC"/>
              </a:rPr>
              <a:t> (E.164)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err="1">
                <a:effectLst/>
                <a:latin typeface="Consolas" panose="020B0609020204030204" pitchFamily="49" charset="0"/>
              </a:rPr>
              <a:t>networkAccessIdentifier</a:t>
            </a:r>
            <a:endParaRPr lang="en-US" sz="1600" b="0" i="0">
              <a:effectLst/>
              <a:latin typeface="Segoe WPC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>
                <a:effectLst/>
                <a:latin typeface="Consolas" panose="020B0609020204030204" pitchFamily="49" charset="0"/>
              </a:rPr>
              <a:t>ipv4Address</a:t>
            </a:r>
            <a:r>
              <a:rPr lang="en-US" sz="1600" b="0" i="0">
                <a:effectLst/>
                <a:latin typeface="Segoe WPC"/>
              </a:rPr>
              <a:t> / </a:t>
            </a:r>
            <a:r>
              <a:rPr lang="en-US" sz="1600" b="0" i="0">
                <a:effectLst/>
                <a:latin typeface="Consolas" panose="020B0609020204030204" pitchFamily="49" charset="0"/>
              </a:rPr>
              <a:t>ipv6Address</a:t>
            </a:r>
            <a:endParaRPr lang="en-US" sz="1600">
              <a:latin typeface="Segoe WPC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0" i="0">
                <a:effectLst/>
                <a:latin typeface="Segoe WPC"/>
              </a:rPr>
              <a:t>IoT trackers </a:t>
            </a:r>
            <a:r>
              <a:rPr lang="en-US" sz="1600" b="1" i="0">
                <a:effectLst/>
                <a:latin typeface="Segoe WPC"/>
              </a:rPr>
              <a:t>in scope only</a:t>
            </a:r>
            <a:r>
              <a:rPr lang="en-US" sz="1600" b="0" i="0">
                <a:effectLst/>
                <a:latin typeface="Segoe WPC"/>
              </a:rPr>
              <a:t> when SIM/</a:t>
            </a:r>
            <a:r>
              <a:rPr lang="en-US" sz="1600" b="0" i="0" err="1">
                <a:effectLst/>
                <a:latin typeface="Segoe WPC"/>
              </a:rPr>
              <a:t>eSIM</a:t>
            </a:r>
            <a:r>
              <a:rPr lang="en-US" sz="1600" b="0" i="0">
                <a:effectLst/>
                <a:latin typeface="Segoe WPC"/>
              </a:rPr>
              <a:t>-based (e.g. the armored vehicle tracker = cellular module with a phone number)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0" i="0">
                <a:effectLst/>
                <a:latin typeface="Segoe WPC"/>
              </a:rPr>
              <a:t>Non-operator-visible trackers (Bluetooth, Zigbee, LoRa) → </a:t>
            </a:r>
            <a:r>
              <a:rPr lang="en-US" sz="1600" b="1" i="0">
                <a:effectLst/>
                <a:latin typeface="Segoe WPC"/>
              </a:rPr>
              <a:t>explicitly out of scope, documented in spec</a:t>
            </a:r>
            <a:endParaRPr lang="en-US" sz="1600">
              <a:latin typeface="Segoe WPC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0" i="0">
                <a:effectLst/>
                <a:latin typeface="Segoe WPC"/>
              </a:rPr>
              <a:t>Every cluster member is independently verifiable by the operator using </a:t>
            </a:r>
            <a:r>
              <a:rPr lang="en-US" sz="1600" b="1" i="0">
                <a:effectLst/>
                <a:latin typeface="Segoe WPC"/>
              </a:rPr>
              <a:t>existing network-layer</a:t>
            </a:r>
          </a:p>
          <a:p>
            <a:endParaRPr lang="en-US" sz="1600" b="1">
              <a:latin typeface="Segoe WPC"/>
            </a:endParaRPr>
          </a:p>
          <a:p>
            <a:r>
              <a:rPr lang="en-US" sz="1600" b="1">
                <a:solidFill>
                  <a:srgbClr val="0070C0"/>
                </a:solidFill>
              </a:rPr>
              <a:t>No</a:t>
            </a:r>
            <a:r>
              <a:rPr lang="en-US" sz="1600">
                <a:solidFill>
                  <a:srgbClr val="00B0F0"/>
                </a:solidFill>
                <a:effectLst/>
                <a:latin typeface="Segoe WPC"/>
              </a:rPr>
              <a:t> </a:t>
            </a:r>
            <a:r>
              <a:rPr lang="en-US" sz="1600" b="1">
                <a:solidFill>
                  <a:srgbClr val="0070C0"/>
                </a:solidFill>
              </a:rPr>
              <a:t>new operator capability required. This change directly resolves the interoperability concern. </a:t>
            </a:r>
          </a:p>
        </p:txBody>
      </p:sp>
    </p:spTree>
    <p:extLst>
      <p:ext uri="{BB962C8B-B14F-4D97-AF65-F5344CB8AC3E}">
        <p14:creationId xmlns:p14="http://schemas.microsoft.com/office/powerpoint/2010/main" val="3443783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944AD-2E60-98C0-1F85-35C5D9F8D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008FA-B176-1857-C13A-BC4933342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211" y="436920"/>
            <a:ext cx="8057101" cy="82964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110">
                <a:latin typeface="Aptos" panose="020B0004020202020204" pitchFamily="34" charset="0"/>
                <a:ea typeface="微软雅黑" panose="020B0503020204020204" pitchFamily="34" charset="-122"/>
              </a:rPr>
              <a:t>Continuous Checks: Full CAMARA Subscription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67DE74-4F03-B466-26BE-875917E20987}"/>
              </a:ext>
            </a:extLst>
          </p:cNvPr>
          <p:cNvSpPr txBox="1"/>
          <p:nvPr/>
        </p:nvSpPr>
        <p:spPr>
          <a:xfrm>
            <a:off x="135564" y="2046453"/>
            <a:ext cx="11751635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070C0"/>
                </a:solidFill>
                <a:effectLst/>
                <a:latin typeface="Aptos" panose="020B0004020202020204" pitchFamily="34" charset="0"/>
              </a:rPr>
              <a:t>"Continuous at scale" scoped as a proper subscription resource — aligned with Geofencing Subscriptions pattern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1400" b="0" dirty="0">
                <a:effectLst/>
                <a:latin typeface="Aptos" panose="020B0004020202020204" pitchFamily="34" charset="0"/>
              </a:rPr>
              <a:t>The subscription model is structurally identical to Geofencing Subscriptions — reviewers familiar with that API will find the pattern immediately recognizable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AA3E71-B1F0-AE03-49EB-0AF4F744FEBA}"/>
              </a:ext>
            </a:extLst>
          </p:cNvPr>
          <p:cNvSpPr txBox="1"/>
          <p:nvPr/>
        </p:nvSpPr>
        <p:spPr>
          <a:xfrm>
            <a:off x="279400" y="3718891"/>
            <a:ext cx="6096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1400" dirty="0">
                <a:latin typeface="Aptos" panose="020B0004020202020204" pitchFamily="34" charset="0"/>
              </a:rPr>
              <a:t>Subscriptions follow the CAMARA Event Subscription Template:</a:t>
            </a:r>
          </a:p>
          <a:p>
            <a:r>
              <a:rPr lang="en-US" sz="1400" dirty="0">
                <a:latin typeface="Aptos" panose="020B0004020202020204" pitchFamily="34" charset="0"/>
              </a:rPr>
              <a:t>- Standard CRUD lifecycle</a:t>
            </a:r>
          </a:p>
          <a:p>
            <a:r>
              <a:rPr lang="en-US" sz="1400" dirty="0">
                <a:latin typeface="Aptos" panose="020B0004020202020204" pitchFamily="34" charset="0"/>
              </a:rPr>
              <a:t>- </a:t>
            </a:r>
            <a:r>
              <a:rPr lang="en-US" sz="1400" dirty="0" err="1">
                <a:latin typeface="Aptos" panose="020B0004020202020204" pitchFamily="34" charset="0"/>
              </a:rPr>
              <a:t>CloudEvents</a:t>
            </a:r>
            <a:r>
              <a:rPr lang="en-US" sz="1400" dirty="0">
                <a:latin typeface="Aptos" panose="020B0004020202020204" pitchFamily="34" charset="0"/>
              </a:rPr>
              <a:t> payload</a:t>
            </a:r>
          </a:p>
          <a:p>
            <a:r>
              <a:rPr lang="en-US" sz="1400" dirty="0">
                <a:latin typeface="Aptos" panose="020B0004020202020204" pitchFamily="34" charset="0"/>
              </a:rPr>
              <a:t>- Webhook delivery and retry rules</a:t>
            </a:r>
          </a:p>
          <a:p>
            <a:r>
              <a:rPr lang="en-US" sz="1400" dirty="0">
                <a:latin typeface="Aptos" panose="020B0004020202020204" pitchFamily="34" charset="0"/>
              </a:rPr>
              <a:t>- Identical semantics to Geofencing Subscription</a:t>
            </a:r>
          </a:p>
        </p:txBody>
      </p:sp>
    </p:spTree>
    <p:extLst>
      <p:ext uri="{BB962C8B-B14F-4D97-AF65-F5344CB8AC3E}">
        <p14:creationId xmlns:p14="http://schemas.microsoft.com/office/powerpoint/2010/main" val="4062132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5D135-F406-F81A-8BAD-89E7EAE8C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12C2E-A7BC-5531-E15A-222B6D8B7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211" y="436920"/>
            <a:ext cx="8057101" cy="8296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10">
                <a:latin typeface="Aptos" panose="020B0004020202020204" pitchFamily="34" charset="0"/>
                <a:ea typeface="微软雅黑" panose="020B0503020204020204" pitchFamily="34" charset="-122"/>
              </a:rPr>
              <a:t>Questions posted on PR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C899F9-526C-C8BB-BFA6-E3B0A03C6184}"/>
              </a:ext>
            </a:extLst>
          </p:cNvPr>
          <p:cNvSpPr txBox="1"/>
          <p:nvPr/>
        </p:nvSpPr>
        <p:spPr>
          <a:xfrm>
            <a:off x="74428" y="1940128"/>
            <a:ext cx="11751635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/>
              <a:t>Q1: Overlap — why not just enhance </a:t>
            </a:r>
            <a:r>
              <a:rPr lang="en-US" sz="1050" b="1" err="1"/>
              <a:t>DeviceLocation</a:t>
            </a:r>
            <a:r>
              <a:rPr lang="en-US" sz="1050" b="1"/>
              <a:t>?</a:t>
            </a:r>
            <a:br>
              <a:rPr lang="en-US" sz="1050" b="1"/>
            </a:br>
            <a:r>
              <a:rPr lang="en-US" sz="1050" err="1"/>
              <a:t>DeviceLocation</a:t>
            </a:r>
            <a:r>
              <a:rPr lang="en-US" sz="1050"/>
              <a:t> evaluates one device at a time. NAA's atomic server-side group verdict (k-of-n across N devices) cannot be reproduced by calling </a:t>
            </a:r>
            <a:r>
              <a:rPr lang="en-US" sz="1050" err="1"/>
              <a:t>DeviceLocation</a:t>
            </a:r>
            <a:r>
              <a:rPr lang="en-US" sz="1050"/>
              <a:t> N times client-side — </a:t>
            </a:r>
            <a:r>
              <a:rPr lang="en-US" sz="1050">
                <a:highlight>
                  <a:srgbClr val="FFFF00"/>
                </a:highlight>
              </a:rPr>
              <a:t>because the group verdict must be atomic, consistent across all devices at the same moment</a:t>
            </a:r>
            <a:r>
              <a:rPr lang="en-US" sz="1050"/>
              <a:t>. Client-side aggregation breaks atomicity (race conditions, partial failures) and cannot produce a single signed attestation token. The </a:t>
            </a:r>
            <a:r>
              <a:rPr lang="en-US" sz="1050">
                <a:highlight>
                  <a:srgbClr val="FFFF00"/>
                </a:highlight>
              </a:rPr>
              <a:t>delta is architectural, not just a feature flag.</a:t>
            </a:r>
          </a:p>
          <a:p>
            <a:br>
              <a:rPr lang="en-US" sz="1050"/>
            </a:br>
            <a:endParaRPr lang="en-US" sz="1050"/>
          </a:p>
          <a:p>
            <a:r>
              <a:rPr lang="en-US" sz="1050" b="1"/>
              <a:t>Q2: Weak differentiation vs Location Verification?</a:t>
            </a:r>
            <a:br>
              <a:rPr lang="en-US" sz="1050"/>
            </a:br>
            <a:r>
              <a:rPr lang="en-US" sz="1050"/>
              <a:t>The normative gap: Location Verification returns a per-device </a:t>
            </a:r>
            <a:r>
              <a:rPr lang="en-US" sz="1050" err="1"/>
              <a:t>boolean</a:t>
            </a:r>
            <a:r>
              <a:rPr lang="en-US" sz="1050"/>
              <a:t>. NAA returns a </a:t>
            </a:r>
            <a:r>
              <a:rPr lang="en-US" sz="1050" b="1"/>
              <a:t>relational group verdict</a:t>
            </a:r>
            <a:r>
              <a:rPr lang="en-US" sz="1050"/>
              <a:t> with a k-of-n threshold enforced server-side. Standardizing this server-side is required for interoperability because: </a:t>
            </a:r>
          </a:p>
          <a:p>
            <a:pPr marL="228600" indent="-228600">
              <a:buAutoNum type="alphaLcParenBoth"/>
            </a:pPr>
            <a:r>
              <a:rPr lang="en-US" sz="1050"/>
              <a:t>the aggregation logic must be identical across operators</a:t>
            </a:r>
          </a:p>
          <a:p>
            <a:pPr marL="228600" indent="-228600">
              <a:buAutoNum type="alphaLcParenBoth"/>
            </a:pPr>
            <a:r>
              <a:rPr lang="en-US" sz="1050"/>
              <a:t>the attestation token must be verifiable by a relying party without re-querying individual devices, and </a:t>
            </a:r>
          </a:p>
          <a:p>
            <a:pPr marL="228600" indent="-228600">
              <a:buAutoNum type="alphaLcParenBoth"/>
            </a:pPr>
            <a:r>
              <a:rPr lang="en-US" sz="1050"/>
              <a:t>partial-presence states (partial) have no equivalent in Location Verification semantics.</a:t>
            </a:r>
          </a:p>
          <a:p>
            <a:br>
              <a:rPr lang="en-US" sz="1050"/>
            </a:br>
            <a:endParaRPr lang="en-US" sz="1050"/>
          </a:p>
          <a:p>
            <a:r>
              <a:rPr lang="en-US" sz="1050" b="1"/>
              <a:t>Q3: Consent / privacy model underspecified?</a:t>
            </a:r>
            <a:br>
              <a:rPr lang="en-US" sz="1050"/>
            </a:br>
            <a:r>
              <a:rPr lang="en-US" sz="1050"/>
              <a:t>Two explicit modes:</a:t>
            </a:r>
          </a:p>
          <a:p>
            <a:r>
              <a:rPr lang="en-US" sz="1050" b="1">
                <a:highlight>
                  <a:srgbClr val="FFFF00"/>
                </a:highlight>
              </a:rPr>
              <a:t>Enterprise</a:t>
            </a:r>
            <a:r>
              <a:rPr lang="en-US" sz="1050" b="1"/>
              <a:t> fleet :</a:t>
            </a:r>
            <a:r>
              <a:rPr lang="en-US" sz="1050"/>
              <a:t> All devices are operator-registered assets under a single enterprise tenant. No end-user consent needed beyond enterprise subscription agreement.</a:t>
            </a:r>
          </a:p>
          <a:p>
            <a:r>
              <a:rPr lang="en-US" sz="1050" b="1">
                <a:highlight>
                  <a:srgbClr val="FFFF00"/>
                </a:highlight>
              </a:rPr>
              <a:t>Multi-user </a:t>
            </a:r>
            <a:r>
              <a:rPr lang="en-US" sz="1050" b="1"/>
              <a:t>cluster:</a:t>
            </a:r>
            <a:r>
              <a:rPr lang="en-US" sz="1050"/>
              <a:t> Each device owner must grant explicit OAuth scope consent. NAA returns only the group verdict — no individual coordinates, no identity linkage exposed via API. Data minimization: raw locations never leave the operator; only the </a:t>
            </a:r>
            <a:r>
              <a:rPr lang="en-US" sz="1050" err="1"/>
              <a:t>boolean</a:t>
            </a:r>
            <a:r>
              <a:rPr lang="en-US" sz="1050"/>
              <a:t> verdict + attestation token are surfaced.</a:t>
            </a:r>
          </a:p>
          <a:p>
            <a:br>
              <a:rPr lang="en-US" sz="1050"/>
            </a:br>
            <a:endParaRPr lang="en-US" sz="1050"/>
          </a:p>
          <a:p>
            <a:r>
              <a:rPr lang="en-US" sz="1050" b="1"/>
              <a:t>Q4: Subscription model too vague?</a:t>
            </a:r>
            <a:r>
              <a:rPr lang="en-US" sz="1050" b="1">
                <a:highlight>
                  <a:srgbClr val="FFFF00"/>
                </a:highlight>
              </a:rPr>
              <a:t> [To be discussed during Spec development]</a:t>
            </a:r>
            <a:br>
              <a:rPr lang="en-US" sz="1050"/>
            </a:br>
            <a:r>
              <a:rPr lang="en-US" sz="1050"/>
              <a:t>Subscription resource model (aligned with Geofencing Subscriptions pattern):</a:t>
            </a:r>
          </a:p>
          <a:p>
            <a:r>
              <a:rPr lang="en-US" sz="1050"/>
              <a:t>POST /assembly-subscriptions → creates subscription, returns </a:t>
            </a:r>
            <a:r>
              <a:rPr lang="en-US" sz="1050" err="1"/>
              <a:t>subscriptionId</a:t>
            </a:r>
            <a:endParaRPr lang="en-US" sz="1050"/>
          </a:p>
          <a:p>
            <a:r>
              <a:rPr lang="en-US" sz="1050"/>
              <a:t>Event types: </a:t>
            </a:r>
            <a:r>
              <a:rPr lang="en-US" sz="1050" err="1"/>
              <a:t>assembly.co_present</a:t>
            </a:r>
            <a:r>
              <a:rPr lang="en-US" sz="1050"/>
              <a:t>, </a:t>
            </a:r>
            <a:r>
              <a:rPr lang="en-US" sz="1050" err="1"/>
              <a:t>assembly.partial</a:t>
            </a:r>
            <a:r>
              <a:rPr lang="en-US" sz="1050"/>
              <a:t>, </a:t>
            </a:r>
            <a:r>
              <a:rPr lang="en-US" sz="1050" err="1"/>
              <a:t>assembly.not_co_present</a:t>
            </a:r>
            <a:endParaRPr lang="en-US" sz="1050"/>
          </a:p>
          <a:p>
            <a:r>
              <a:rPr lang="en-US" sz="1050"/>
              <a:t>Payload: </a:t>
            </a:r>
            <a:r>
              <a:rPr lang="en-US" sz="1050" err="1"/>
              <a:t>CloudEvent</a:t>
            </a:r>
            <a:r>
              <a:rPr lang="en-US" sz="1050"/>
              <a:t> envelope with </a:t>
            </a:r>
            <a:r>
              <a:rPr lang="en-US" sz="1050" err="1"/>
              <a:t>subscriptionId</a:t>
            </a:r>
            <a:r>
              <a:rPr lang="en-US" sz="1050"/>
              <a:t>, verdict, timestamp, </a:t>
            </a:r>
            <a:r>
              <a:rPr lang="en-US" sz="1050" err="1"/>
              <a:t>attestationToken</a:t>
            </a:r>
            <a:endParaRPr lang="en-US" sz="1050"/>
          </a:p>
          <a:p>
            <a:r>
              <a:rPr lang="en-US" sz="1050"/>
              <a:t>Callback: HTTPS webhook; retries per CAMARA notification guidelines</a:t>
            </a:r>
          </a:p>
          <a:p>
            <a:r>
              <a:rPr lang="en-US" sz="1050"/>
              <a:t>Expiry/cancellation: </a:t>
            </a:r>
            <a:r>
              <a:rPr lang="en-US" sz="1050" err="1"/>
              <a:t>maxDuration</a:t>
            </a:r>
            <a:r>
              <a:rPr lang="en-US" sz="1050"/>
              <a:t> field + DELETE /assembly-subscriptions/{id}</a:t>
            </a:r>
          </a:p>
          <a:p>
            <a:r>
              <a:rPr lang="en-US" sz="1050"/>
              <a:t>Lifecycle states: ACTIVE → EXPIRED / DELETED</a:t>
            </a:r>
          </a:p>
        </p:txBody>
      </p:sp>
    </p:spTree>
    <p:extLst>
      <p:ext uri="{BB962C8B-B14F-4D97-AF65-F5344CB8AC3E}">
        <p14:creationId xmlns:p14="http://schemas.microsoft.com/office/powerpoint/2010/main" val="2034518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26F00-41E3-72EC-9869-7A56628A2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11BC-E442-3E46-86DC-1D3D25E7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211" y="436920"/>
            <a:ext cx="8057101" cy="8296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10">
                <a:latin typeface="Aptos" panose="020B0004020202020204" pitchFamily="34" charset="0"/>
                <a:ea typeface="微软雅黑" panose="020B0503020204020204" pitchFamily="34" charset="-122"/>
              </a:rPr>
              <a:t>Additional Response to Questions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8FBA851-D73C-10EE-E3D7-0183B8789E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245111"/>
              </p:ext>
            </p:extLst>
          </p:nvPr>
        </p:nvGraphicFramePr>
        <p:xfrm>
          <a:off x="470211" y="1353345"/>
          <a:ext cx="11382699" cy="3291840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581350">
                  <a:extLst>
                    <a:ext uri="{9D8B030D-6E8A-4147-A177-3AD203B41FA5}">
                      <a16:colId xmlns:a16="http://schemas.microsoft.com/office/drawing/2014/main" val="427578021"/>
                    </a:ext>
                  </a:extLst>
                </a:gridCol>
                <a:gridCol w="2446019">
                  <a:extLst>
                    <a:ext uri="{9D8B030D-6E8A-4147-A177-3AD203B41FA5}">
                      <a16:colId xmlns:a16="http://schemas.microsoft.com/office/drawing/2014/main" val="589381244"/>
                    </a:ext>
                  </a:extLst>
                </a:gridCol>
                <a:gridCol w="8355330">
                  <a:extLst>
                    <a:ext uri="{9D8B030D-6E8A-4147-A177-3AD203B41FA5}">
                      <a16:colId xmlns:a16="http://schemas.microsoft.com/office/drawing/2014/main" val="3236450117"/>
                    </a:ext>
                  </a:extLst>
                </a:gridCol>
              </a:tblGrid>
              <a:tr h="139294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#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2383" marR="423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Point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2383" marR="423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Response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2383" marR="423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7650994"/>
                  </a:ext>
                </a:extLst>
              </a:tr>
              <a:tr h="69647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2383" marR="423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Why a new API family, not just an enhancement to </a:t>
                      </a:r>
                      <a:r>
                        <a:rPr lang="en-US" sz="1200" err="1">
                          <a:effectLst/>
                        </a:rPr>
                        <a:t>DeviceLocation</a:t>
                      </a:r>
                      <a:r>
                        <a:rPr lang="en-US" sz="1200">
                          <a:effectLst/>
                        </a:rPr>
                        <a:t>?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2383" marR="423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DeviceLocation checks one device at a time. NAA answers a different question entirely: "Are these devices together?" — not "Where is this device?". The group verdict is produced atomically across all N devices at once. Calling DeviceLocation N times breaks that atomicity(indivisible/ granular most monolithic operation) and cannot produce a single signed attestation token. The distinction is architectural, not a feature flag. Promoting it as a DeviceLocation enhancement would also force callers to aggregate individual locations — increasing privacy exposure and destroying the attestation model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2383" marR="423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0380167"/>
                  </a:ext>
                </a:extLst>
              </a:tr>
              <a:tr h="60379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2383" marR="423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What exactly can't be done with Location Verification?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2383" marR="423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Location Verification returns a per-device boolean. NAA returns a relational group verdict with a k-of-n threshold enforced server-side. Three things cannot be replicated client-side: (a) the aggregation logic must be identical across operators — standardization is required; (b) the attestation token must be verifiable by a downstream system without re-querying individual devices; (c) the partial state (some but not enough devices present) has no equivalent in Location Verification semantics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2383" marR="423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4365731"/>
                  </a:ext>
                </a:extLst>
              </a:tr>
              <a:tr h="60379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2383" marR="423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How does consent and privacy work?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2383" marR="423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Two modes: (a) Enterprise fleet — all devices are operator-registered assets under a single enterprise tenant; no per-user consent needed beyond the enterprise subscription agreement. (b) Multi-user cluster — each device owner must grant explicit OAuth scope consent; NAA rejects the request if any consent is missing. In both cases, raw device locations never leave the operator — only the group verdict and attestation token are returned. No individual coordinates or identity linkage is ever exposed via the API.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2383" marR="423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0103132"/>
                  </a:ext>
                </a:extLst>
              </a:tr>
              <a:tr h="60379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2383" marR="423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What does the subscription model look like?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2383" marR="423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The model is structurally identical to the Geofencing Subscriptions pattern. POST /assembly-subscriptions creates a subscription; events: </a:t>
                      </a:r>
                      <a:r>
                        <a:rPr lang="en-US" sz="1200" err="1">
                          <a:effectLst/>
                        </a:rPr>
                        <a:t>assembly.co_present</a:t>
                      </a:r>
                      <a:r>
                        <a:rPr lang="en-US" sz="1200">
                          <a:effectLst/>
                        </a:rPr>
                        <a:t>, </a:t>
                      </a:r>
                      <a:r>
                        <a:rPr lang="en-US" sz="1200" err="1">
                          <a:effectLst/>
                        </a:rPr>
                        <a:t>assembly.partial</a:t>
                      </a:r>
                      <a:r>
                        <a:rPr lang="en-US" sz="1200">
                          <a:effectLst/>
                        </a:rPr>
                        <a:t>, </a:t>
                      </a:r>
                      <a:r>
                        <a:rPr lang="en-US" sz="1200" err="1">
                          <a:effectLst/>
                        </a:rPr>
                        <a:t>assembly.not_co_present</a:t>
                      </a:r>
                      <a:r>
                        <a:rPr lang="en-US" sz="1200">
                          <a:effectLst/>
                        </a:rPr>
                        <a:t>; payload is a </a:t>
                      </a:r>
                      <a:r>
                        <a:rPr lang="en-US" sz="1200" err="1">
                          <a:effectLst/>
                        </a:rPr>
                        <a:t>CloudEvent</a:t>
                      </a:r>
                      <a:r>
                        <a:rPr lang="en-US" sz="1200">
                          <a:effectLst/>
                        </a:rPr>
                        <a:t> envelope with verdict, timestamp, and attestation token; delivery via HTTPS webhook with retries per CAMARA notification guidelines; expiry via </a:t>
                      </a:r>
                      <a:r>
                        <a:rPr lang="en-US" sz="1200" err="1">
                          <a:effectLst/>
                        </a:rPr>
                        <a:t>maxDuration</a:t>
                      </a:r>
                      <a:r>
                        <a:rPr lang="en-US" sz="1200">
                          <a:effectLst/>
                        </a:rPr>
                        <a:t> field; cancellation via DELETE /assembly-subscriptions/{id}. Detailed spec to be finalized during spec development.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2383" marR="423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567137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71B9F9-729C-170D-C443-6901B71F8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744830"/>
              </p:ext>
            </p:extLst>
          </p:nvPr>
        </p:nvGraphicFramePr>
        <p:xfrm>
          <a:off x="470210" y="4823460"/>
          <a:ext cx="11382699" cy="1796694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1644340">
                  <a:extLst>
                    <a:ext uri="{9D8B030D-6E8A-4147-A177-3AD203B41FA5}">
                      <a16:colId xmlns:a16="http://schemas.microsoft.com/office/drawing/2014/main" val="515745931"/>
                    </a:ext>
                  </a:extLst>
                </a:gridCol>
                <a:gridCol w="9738359">
                  <a:extLst>
                    <a:ext uri="{9D8B030D-6E8A-4147-A177-3AD203B41FA5}">
                      <a16:colId xmlns:a16="http://schemas.microsoft.com/office/drawing/2014/main" val="1564958151"/>
                    </a:ext>
                  </a:extLst>
                </a:gridCol>
              </a:tblGrid>
              <a:tr h="26785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Topic</a:t>
                      </a:r>
                      <a:endParaRPr lang="en-US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Response </a:t>
                      </a:r>
                      <a:endParaRPr lang="en-US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8940278"/>
                  </a:ext>
                </a:extLst>
              </a:tr>
              <a:tr h="45200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Zone input</a:t>
                      </a:r>
                      <a:endParaRPr lang="en-US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Callers specify the zone as part of the POST /verify request. Cluster members are identified by standard CAMARA device identifiers (phoneNumber, networkAccessIdentifier, ipv4Address/ipv6Address) — no operator-specific zone ID required</a:t>
                      </a:r>
                      <a:endParaRPr lang="en-US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8657453"/>
                  </a:ext>
                </a:extLst>
              </a:tr>
              <a:tr h="45200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Group verdict semantics</a:t>
                      </a:r>
                      <a:endParaRPr lang="en-US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co_present — k-of-n minimum devices confirmed in zone within time window. partial — at least one but fewer than k confirmed. not_co_present — minimum not met. Unreachable or non-consenting devices count as absent; their errors are reported alongside the verdict. partial is a first-class outcome, not an error state.</a:t>
                      </a:r>
                      <a:endParaRPr lang="en-US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895869"/>
                  </a:ext>
                </a:extLst>
              </a:tr>
              <a:tr h="45200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Attestation token</a:t>
                      </a:r>
                      <a:endParaRPr lang="en-US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A signed token returned with every verdict — acts as a tamper-proof receipt. Downstream workflows can act on trusted presence without re-querying the API or seeing any device location. No individual device positions or identities are included in the token.</a:t>
                      </a:r>
                      <a:endParaRPr lang="en-US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7975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0483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0541A-0678-E6F8-39DF-99DC496FF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  <a:ea typeface="微软雅黑" panose="020B0503020204020204" pitchFamily="34" charset="-122"/>
              </a:rPr>
              <a:t>Additional Response to Questions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651C51-A1DF-09A0-3CE2-99BF619C03D7}"/>
              </a:ext>
            </a:extLst>
          </p:cNvPr>
          <p:cNvSpPr txBox="1"/>
          <p:nvPr/>
        </p:nvSpPr>
        <p:spPr>
          <a:xfrm>
            <a:off x="0" y="1449130"/>
            <a:ext cx="121920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05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Q1. LV comparison: </a:t>
            </a:r>
            <a:r>
              <a:rPr lang="en-US" sz="1050" b="1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DeviceLocation</a:t>
            </a:r>
            <a:r>
              <a:rPr lang="en-US" sz="105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LV also has PARTIAL/UNKNOWN (and match rate). When you say NAA adds "partial" with no LV equivalent, what exactly is the normative gap: k-of-n at group level, "atomic" timing, the attestation token, or something else?</a:t>
            </a:r>
            <a:endParaRPr lang="en-US" sz="105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05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You're right that LV already returns PARTIAL and UNKNOWN for a single device. NAA's partial verdict means something fundamentally different — it is not about confidence in one device's position, it is about </a:t>
            </a:r>
            <a:r>
              <a:rPr lang="en-US" sz="105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how many devices out of a group met the zone condition</a:t>
            </a:r>
            <a:r>
              <a:rPr lang="en-US" sz="105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. So the core </a:t>
            </a:r>
            <a:r>
              <a:rPr lang="en-US" sz="105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costruct</a:t>
            </a:r>
            <a:r>
              <a:rPr lang="en-US" sz="105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is always different.</a:t>
            </a:r>
            <a:endParaRPr lang="en-US" sz="105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05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Example: a cluster has 4 phones, threshold is 3. If 3 are in the zone and 1 is not, NAA returns partial (3-of-4 present, threshold met) or </a:t>
            </a:r>
            <a:r>
              <a:rPr lang="en-US" sz="105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not_co_present</a:t>
            </a:r>
            <a:r>
              <a:rPr lang="en-US" sz="105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(if threshold required all 4). LV has no concept of "3 out of 4 devices" — it only </a:t>
            </a:r>
            <a:r>
              <a:rPr lang="en-US" sz="105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scpopes</a:t>
            </a:r>
            <a:r>
              <a:rPr lang="en-US" sz="105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about one device.</a:t>
            </a:r>
            <a:endParaRPr lang="en-US" sz="105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05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The normative gap is primarily </a:t>
            </a:r>
            <a:r>
              <a:rPr lang="en-US" sz="105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k-of-n group evaluation</a:t>
            </a:r>
            <a:r>
              <a:rPr lang="en-US" sz="105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: the operator evaluates the entire cluster server-side in one call and returns a single group-level verdict with a count. Secondary gaps are </a:t>
            </a:r>
            <a:r>
              <a:rPr lang="en-US" sz="105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atomic timing</a:t>
            </a:r>
            <a:r>
              <a:rPr lang="en-US" sz="105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(all devices evaluated within one bounded window, not N separate calls at different moments) and </a:t>
            </a:r>
            <a:r>
              <a:rPr lang="en-US" sz="105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attestation token</a:t>
            </a:r>
            <a:r>
              <a:rPr lang="en-US" sz="105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(a signed proof of the group result that downstream systems can trust without re-checking). None of these exist in LV — they are new semantics that cannot be replicated by calling LV per-device and aggregating client-side in a </a:t>
            </a:r>
            <a:r>
              <a:rPr lang="en-US" sz="105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standardised</a:t>
            </a:r>
            <a:r>
              <a:rPr lang="en-US" sz="105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, interoperable way.</a:t>
            </a:r>
            <a:endParaRPr lang="en-US" sz="105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 algn="ctr">
              <a:buNone/>
            </a:pPr>
            <a:br>
              <a:rPr lang="en-US" sz="105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</a:br>
            <a:endParaRPr lang="en-US" sz="105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05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Q2. Zone input: the deck says "no coordinates / no zone exposed", but you also say callers specify the zone in POST /verify (no operator </a:t>
            </a:r>
            <a:r>
              <a:rPr lang="en-US" sz="1050" b="1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zoneId</a:t>
            </a:r>
            <a:r>
              <a:rPr lang="en-US" sz="105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). Should we assume the caller provides a Commonalities Area object (which implies area coordinates), or some other zone reference? If it's Area, are you ok to reword the deck to avoid confusion?</a:t>
            </a:r>
            <a:endParaRPr lang="en-US" sz="105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05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Yes, the caller provides a standard </a:t>
            </a:r>
            <a:r>
              <a:rPr lang="en-US" sz="105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Commonalities Area object</a:t>
            </a:r>
            <a:r>
              <a:rPr lang="en-US" sz="105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(circle or polygon with coordinates) in the request body. The deck phrase "no coordinates exposed" was meant to describe the response side — NAA never reveals any device's resolved location back to the caller. We acknowledge this wording caused confusion and will reword the deck to: </a:t>
            </a:r>
            <a:r>
              <a:rPr lang="en-US" sz="1050" i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"Zone is supplied by the caller as a standard Area object; no device coordinates are exposed in the response."</a:t>
            </a:r>
            <a:endParaRPr lang="en-US" sz="105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 algn="ctr">
              <a:buNone/>
            </a:pPr>
            <a:br>
              <a:rPr lang="en-US" sz="105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</a:br>
            <a:endParaRPr lang="en-US" sz="105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05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Q3. "Atomic" verdict: what is the intended normative definition (single evaluation timestamp vs time window with </a:t>
            </a:r>
            <a:r>
              <a:rPr lang="en-US" sz="1050" b="1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maxAge</a:t>
            </a:r>
            <a:r>
              <a:rPr lang="en-US" sz="105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/</a:t>
            </a:r>
            <a:r>
              <a:rPr lang="en-US" sz="1050" b="1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timeTolerance</a:t>
            </a:r>
            <a:r>
              <a:rPr lang="en-US" sz="105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per device)? How should unreachable/transient failures be treated (absent vs unknown) and reported?</a:t>
            </a:r>
            <a:endParaRPr lang="en-US" sz="105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05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"Atomic" means: </a:t>
            </a:r>
            <a:r>
              <a:rPr lang="en-US" sz="105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all devices in the cluster are evaluated within a single bounded time window</a:t>
            </a:r>
            <a:r>
              <a:rPr lang="en-US" sz="105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, defined by the caller's </a:t>
            </a:r>
            <a:r>
              <a:rPr lang="en-US" sz="105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maxAge</a:t>
            </a:r>
            <a:r>
              <a:rPr lang="en-US" sz="105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parameter. It is a time window, not a single-instant timestamp. Each device's last-known position must fall within </a:t>
            </a:r>
            <a:r>
              <a:rPr lang="en-US" sz="105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maxAge</a:t>
            </a:r>
            <a:r>
              <a:rPr lang="en-US" sz="105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of the evaluation moment.</a:t>
            </a:r>
            <a:endParaRPr lang="en-US" sz="105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05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Failure handling:</a:t>
            </a:r>
            <a:endParaRPr lang="en-US" sz="105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05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Unreachable</a:t>
            </a:r>
            <a:r>
              <a:rPr lang="en-US" sz="105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(device off, no coverage): reported per-device as UNREACHABLE, counts as </a:t>
            </a:r>
            <a:r>
              <a:rPr lang="en-US" sz="105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not present</a:t>
            </a:r>
            <a:r>
              <a:rPr lang="en-US" sz="105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toward k-of-n.</a:t>
            </a:r>
            <a:endParaRPr lang="en-US" sz="1050" dirty="0">
              <a:solidFill>
                <a:srgbClr val="00206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05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Transient error</a:t>
            </a:r>
            <a:r>
              <a:rPr lang="en-US" sz="105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(temporary network issue): reported per-device as UNKNOWN, also counts as </a:t>
            </a:r>
            <a:r>
              <a:rPr lang="en-US" sz="105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not present</a:t>
            </a:r>
            <a:r>
              <a:rPr lang="en-US" sz="105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.</a:t>
            </a:r>
            <a:endParaRPr lang="en-US" sz="1050" dirty="0">
              <a:solidFill>
                <a:srgbClr val="00206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05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If unreachable + unknown devices push the present count below k, verdict becomes partial or </a:t>
            </a:r>
            <a:r>
              <a:rPr lang="en-US" sz="105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not_co_present</a:t>
            </a:r>
            <a:r>
              <a:rPr lang="en-US" sz="105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.</a:t>
            </a:r>
            <a:endParaRPr lang="en-US" sz="1050" dirty="0">
              <a:solidFill>
                <a:srgbClr val="00206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 algn="ctr">
              <a:buNone/>
            </a:pPr>
            <a:br>
              <a:rPr lang="en-US" sz="105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</a:br>
            <a:endParaRPr lang="en-US" sz="105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921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9F69A-CBFA-C41E-9C19-F99C69BBB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95133-97F4-868D-1E15-68EDDD1FD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  <a:ea typeface="微软雅黑" panose="020B0503020204020204" pitchFamily="34" charset="-122"/>
              </a:rPr>
              <a:t>Additional Response to Questions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34D2CA-96D8-FA1E-88D3-144CC5B72E93}"/>
              </a:ext>
            </a:extLst>
          </p:cNvPr>
          <p:cNvSpPr txBox="1"/>
          <p:nvPr/>
        </p:nvSpPr>
        <p:spPr>
          <a:xfrm>
            <a:off x="0" y="1449130"/>
            <a:ext cx="12192000" cy="380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buNone/>
            </a:pPr>
            <a:br>
              <a:rPr lang="en-US" sz="105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</a:br>
            <a:endParaRPr lang="en-US" sz="105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05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Q4. Multi-user consent: how do you plan to collect/verify consent for multiple device owners in an interoperable way (given typical OAuth tokens are single-subject)? Would you consider scoping v0.x to enterprise fleet first and add multi-user later?</a:t>
            </a:r>
            <a:endParaRPr lang="en-US" sz="1050" b="1" dirty="0"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endParaRPr lang="en-US" sz="1050" b="1" dirty="0">
              <a:solidFill>
                <a:srgbClr val="002060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050" dirty="0">
                <a:solidFill>
                  <a:srgbClr val="002060"/>
                </a:solidFill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Consent model (aligned with CAMARA guidance):</a:t>
            </a:r>
          </a:p>
          <a:p>
            <a:pPr marL="0" marR="0">
              <a:buNone/>
            </a:pPr>
            <a:r>
              <a:rPr lang="en-US" sz="1050" dirty="0">
                <a:solidFill>
                  <a:srgbClr val="002060"/>
                </a:solidFill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Enterprise / Fleet mode (v0.x):</a:t>
            </a:r>
          </a:p>
          <a:p>
            <a:pPr marL="0" marR="0">
              <a:buNone/>
            </a:pPr>
            <a:r>
              <a:rPr lang="en-US" sz="1050" dirty="0">
                <a:solidFill>
                  <a:srgbClr val="002060"/>
                </a:solidFill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- All devices belong to a single enterprise tenant</a:t>
            </a:r>
          </a:p>
          <a:p>
            <a:pPr marL="0" marR="0">
              <a:buNone/>
            </a:pPr>
            <a:r>
              <a:rPr lang="en-US" sz="1050" dirty="0">
                <a:solidFill>
                  <a:srgbClr val="002060"/>
                </a:solidFill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- No end-user personal data is exposed via the API</a:t>
            </a:r>
          </a:p>
          <a:p>
            <a:pPr marL="0" marR="0">
              <a:buNone/>
            </a:pPr>
            <a:r>
              <a:rPr lang="en-US" sz="1050" dirty="0">
                <a:solidFill>
                  <a:srgbClr val="002060"/>
                </a:solidFill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- Client Credentials (2-legged OAuth) permitted</a:t>
            </a:r>
          </a:p>
          <a:p>
            <a:pPr marL="0" marR="0">
              <a:buNone/>
            </a:pPr>
            <a:endParaRPr lang="en-US" sz="1050" dirty="0">
              <a:solidFill>
                <a:srgbClr val="002060"/>
              </a:solidFill>
              <a:latin typeface="Aptos" panose="020B0004020202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050" dirty="0">
                <a:solidFill>
                  <a:srgbClr val="002060"/>
                </a:solidFill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Multi-user mode (future):</a:t>
            </a:r>
          </a:p>
          <a:p>
            <a:pPr marL="0" marR="0">
              <a:buNone/>
            </a:pPr>
            <a:r>
              <a:rPr lang="en-US" sz="1050" dirty="0">
                <a:solidFill>
                  <a:srgbClr val="002060"/>
                </a:solidFill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- Devices belong to different end users</a:t>
            </a:r>
          </a:p>
          <a:p>
            <a:pPr marL="0" marR="0">
              <a:buNone/>
            </a:pPr>
            <a:r>
              <a:rPr lang="en-US" sz="1050" dirty="0">
                <a:solidFill>
                  <a:srgbClr val="002060"/>
                </a:solidFill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- Explicit user consent required per device</a:t>
            </a:r>
          </a:p>
          <a:p>
            <a:pPr marL="0" marR="0">
              <a:buNone/>
            </a:pPr>
            <a:r>
              <a:rPr lang="en-US" sz="1050" dirty="0">
                <a:solidFill>
                  <a:srgbClr val="002060"/>
                </a:solidFill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- Authorization Code (3-legged OAuth) required</a:t>
            </a:r>
          </a:p>
          <a:p>
            <a:pPr marL="0" marR="0">
              <a:buNone/>
            </a:pPr>
            <a:r>
              <a:rPr lang="en-US" sz="1050" dirty="0">
                <a:solidFill>
                  <a:srgbClr val="002060"/>
                </a:solidFill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- Out of scope for v0.x</a:t>
            </a:r>
          </a:p>
          <a:p>
            <a:pPr marL="0" marR="0">
              <a:buNone/>
            </a:pPr>
            <a:endParaRPr lang="en-US" sz="1050" dirty="0">
              <a:solidFill>
                <a:srgbClr val="00206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050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The approach is 2‑legged tokens must only be used when no personal data is processed. However, the whole approach we will review in WG calls</a:t>
            </a:r>
            <a:br>
              <a:rPr lang="en-US" sz="105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</a:br>
            <a:endParaRPr lang="en-US" sz="105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05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Q5. Subscriptions: do you expect the subscription resource (endpoints, lifecycle, payload, retries, expiry/cancel, errors) to follow the CAMARA event subscription template one-to-one, or any deviations?</a:t>
            </a:r>
            <a:endParaRPr lang="en-US" sz="105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r>
              <a:rPr lang="en-US" sz="105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One-to-one alignment with the CAMARA event subscription template.</a:t>
            </a:r>
          </a:p>
          <a:p>
            <a:r>
              <a:rPr lang="en-US" sz="105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No custom lifecycle, payload, or retry semantics.</a:t>
            </a:r>
          </a:p>
          <a:p>
            <a:r>
              <a:rPr lang="en-US" sz="105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Deviations (e.g., PATCH) are optional and may be dropped per WG guidance.</a:t>
            </a:r>
            <a:endParaRPr lang="en-US" sz="105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011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488F6-64C1-3564-0AD5-08E9007C2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latin typeface="Aptos" panose="020B0004020202020204" pitchFamily="34" charset="0"/>
                <a:ea typeface="微软雅黑" panose="020B0503020204020204" pitchFamily="34" charset="-122"/>
              </a:rPr>
              <a:t>Truth Table &amp; Additional inputs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201EC5-0DDF-B00A-A1D8-4E2FF065A8D7}"/>
              </a:ext>
            </a:extLst>
          </p:cNvPr>
          <p:cNvSpPr txBox="1"/>
          <p:nvPr/>
        </p:nvSpPr>
        <p:spPr>
          <a:xfrm>
            <a:off x="682942" y="1911132"/>
            <a:ext cx="11124247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`</a:t>
            </a:r>
            <a:r>
              <a:rPr lang="en-US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co_present</a:t>
            </a:r>
            <a:r>
              <a:rPr lang="en-US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` = All present (m = N)</a:t>
            </a:r>
            <a:endParaRPr lang="en-US" sz="16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`partial` = Threshold met, not all (k ≤ m &lt; N) </a:t>
            </a:r>
            <a:endParaRPr lang="en-US" sz="16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`</a:t>
            </a:r>
            <a:r>
              <a:rPr lang="en-US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not_co_present</a:t>
            </a:r>
            <a:r>
              <a:rPr lang="en-US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` = Below threshold (m &lt; k)</a:t>
            </a:r>
            <a:endParaRPr lang="en-US" sz="16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 in the example (N=4, k=3, m=3): verdict is `partial`. However, this is the concept. We can review this and update as necessary while developing the Swagger spec.</a:t>
            </a:r>
            <a:endParaRPr lang="en-US" sz="16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Response fields: Yes, the response will include </a:t>
            </a:r>
          </a:p>
          <a:p>
            <a:pPr marL="0" marR="0">
              <a:buNone/>
            </a:pPr>
            <a:endParaRPr lang="en-US" sz="16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Response fields:</a:t>
            </a:r>
          </a:p>
          <a:p>
            <a:pPr marL="0" marR="0">
              <a:buNone/>
            </a:pP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totalCount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(N)</a:t>
            </a:r>
          </a:p>
          <a:p>
            <a:pPr marL="0" marR="0">
              <a:buNone/>
            </a:pP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requiredCount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(k)</a:t>
            </a:r>
          </a:p>
          <a:p>
            <a:pPr marL="0" marR="0">
              <a:buNone/>
            </a:pP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presentCount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(m)</a:t>
            </a:r>
          </a:p>
          <a:p>
            <a:pPr marL="0" marR="0">
              <a:buNone/>
            </a:pP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thresholdMet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boolean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0" marR="0">
              <a:buNone/>
            </a:pPr>
            <a:endParaRPr lang="en-US" sz="1400" dirty="0">
              <a:solidFill>
                <a:srgbClr val="00206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thresholdMet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= true if m ≥ k</a:t>
            </a:r>
          </a:p>
          <a:p>
            <a:pPr marL="0" marR="0">
              <a:buNone/>
            </a:pP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thresholdMet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= false if m &lt; k</a:t>
            </a:r>
          </a:p>
          <a:p>
            <a:pPr marL="0" marR="0">
              <a:buNone/>
            </a:pPr>
            <a:endParaRPr lang="en-US" sz="1400" dirty="0">
              <a:solidFill>
                <a:srgbClr val="00206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The `partial` verdict MUST NOT be interpreted as uncertainty.</a:t>
            </a:r>
          </a:p>
          <a:p>
            <a:pPr marL="0" marR="0">
              <a:buNone/>
            </a:pP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It explicitly means the required threshold was met (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thresholdMet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= true),</a:t>
            </a:r>
          </a:p>
          <a:p>
            <a:pPr marL="0" marR="0">
              <a:buNone/>
            </a:pP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but not all devices were present.</a:t>
            </a:r>
          </a:p>
          <a:p>
            <a:pPr marL="0" marR="0">
              <a:buNone/>
            </a:pPr>
            <a:endParaRPr lang="en-US" sz="1400" dirty="0">
              <a:solidFill>
                <a:srgbClr val="00206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buNone/>
            </a:pPr>
            <a:endParaRPr lang="en-US" sz="16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12705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Q4ODQwNThiYTg4YTBlNDhkZDRmNGNiNWM5NWE1YzAifQ=="/>
  <p:tag name="KSO_WPP_MARK_KEY" val="57c7f136-5fe9-46ac-88f0-c360e5a3905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429a95c-b9eb-4227-abd9-56169d3e95df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c23e35-feae-41a6-9660-303b6c1ddfab" xsi:nil="true"/>
    <lcf76f155ced4ddcb4097134ff3c332f xmlns="43278b8a-3ce2-4c22-927e-d744b249313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CCCB101D1EC2439BD1F30E1646277F" ma:contentTypeVersion="12" ma:contentTypeDescription="Create a new document." ma:contentTypeScope="" ma:versionID="5464bb158b6625c1c22789ae9835c753">
  <xsd:schema xmlns:xsd="http://www.w3.org/2001/XMLSchema" xmlns:xs="http://www.w3.org/2001/XMLSchema" xmlns:p="http://schemas.microsoft.com/office/2006/metadata/properties" xmlns:ns2="43278b8a-3ce2-4c22-927e-d744b2493138" xmlns:ns3="81c23e35-feae-41a6-9660-303b6c1ddfab" targetNamespace="http://schemas.microsoft.com/office/2006/metadata/properties" ma:root="true" ma:fieldsID="be7f2cea10a1ecaebc42b3a306c3a710" ns2:_="" ns3:_="">
    <xsd:import namespace="43278b8a-3ce2-4c22-927e-d744b2493138"/>
    <xsd:import namespace="81c23e35-feae-41a6-9660-303b6c1ddf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278b8a-3ce2-4c22-927e-d744b24931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bd3049a-d92e-47f6-938a-5800ed4570a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c23e35-feae-41a6-9660-303b6c1ddfa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d858e15-233b-4e39-8e83-950feb039e72}" ma:internalName="TaxCatchAll" ma:showField="CatchAllData" ma:web="81c23e35-feae-41a6-9660-303b6c1ddf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E903CFA-AA15-4431-9054-79A4A24BF93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93E37D5-A273-44DE-91F9-C57145F405BD}">
  <ds:schemaRefs>
    <ds:schemaRef ds:uri="43278b8a-3ce2-4c22-927e-d744b2493138"/>
    <ds:schemaRef ds:uri="81c23e35-feae-41a6-9660-303b6c1ddfa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379F930-EBCE-4CE9-A525-40199E457887}">
  <ds:schemaRefs>
    <ds:schemaRef ds:uri="43278b8a-3ce2-4c22-927e-d744b2493138"/>
    <ds:schemaRef ds:uri="81c23e35-feae-41a6-9660-303b6c1ddfa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a0819fa7-4367-4500-ba88-dd630d977609}" enabled="1" method="Standard" siteId="{63ce7d59-2f3e-42cd-a8cc-be764cff5eb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3278</Words>
  <Application>Microsoft Office PowerPoint</Application>
  <PresentationFormat>Widescreen</PresentationFormat>
  <Paragraphs>275</Paragraphs>
  <Slides>18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1" baseType="lpstr">
      <vt:lpstr>Microsoft YaHei</vt:lpstr>
      <vt:lpstr>-apple-system</vt:lpstr>
      <vt:lpstr>Aptos</vt:lpstr>
      <vt:lpstr>Arial</vt:lpstr>
      <vt:lpstr>Calibri</vt:lpstr>
      <vt:lpstr>Calibri Light</vt:lpstr>
      <vt:lpstr>Consolas</vt:lpstr>
      <vt:lpstr>Courier New</vt:lpstr>
      <vt:lpstr>Montserrat Light</vt:lpstr>
      <vt:lpstr>Segoe WPC</vt:lpstr>
      <vt:lpstr>Symbol</vt:lpstr>
      <vt:lpstr>Office 主题</vt:lpstr>
      <vt:lpstr>think-cell Folie</vt:lpstr>
      <vt:lpstr>PowerPoint Presentation</vt:lpstr>
      <vt:lpstr>PowerPoint Presentation</vt:lpstr>
      <vt:lpstr>Background- Network‑Authenticated Assembly </vt:lpstr>
      <vt:lpstr>Sample implementation: Network Authenticated Assembly</vt:lpstr>
      <vt:lpstr>NAA API: High level description</vt:lpstr>
      <vt:lpstr>NAA API family</vt:lpstr>
      <vt:lpstr>Sequence Diagram </vt:lpstr>
      <vt:lpstr>User story</vt:lpstr>
      <vt:lpstr>API  Deliverables status </vt:lpstr>
      <vt:lpstr>PowerPoint Presentation</vt:lpstr>
      <vt:lpstr>NAA Vs Device Locations</vt:lpstr>
      <vt:lpstr>Device Eligibility: Operator-Addressable Only</vt:lpstr>
      <vt:lpstr>Continuous Checks: Full CAMARA Subscription Model</vt:lpstr>
      <vt:lpstr>Questions posted on PR</vt:lpstr>
      <vt:lpstr>Additional Response to Questions</vt:lpstr>
      <vt:lpstr>Additional Response to Questions</vt:lpstr>
      <vt:lpstr>Additional Response to Questions</vt:lpstr>
      <vt:lpstr>Truth Table &amp; Additional inputs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Provisioning API</dc:title>
  <dc:creator>Chenchuanyu</dc:creator>
  <cp:lastModifiedBy>Abhisek Das</cp:lastModifiedBy>
  <cp:revision>13</cp:revision>
  <dcterms:created xsi:type="dcterms:W3CDTF">2023-05-18T03:52:00Z</dcterms:created>
  <dcterms:modified xsi:type="dcterms:W3CDTF">2026-04-22T18:06:48Z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(2)fAhiAU9J4LnzkpIrkXM09AQboDunmcluQ0NQeuqRTdTkYC0Gz1vcnh5qhsHYzRt4kxQYGHuu
iQ1aYax8SC8CgqW69rGFvgu3MUPFa+t2HVCLf/x65vuHZ9xtWwUrM1fhOjP4cjeFy4he8OKO
589XpT5lYzmhKISJ1I55vobvoylpWWhwEK+VxNmhFkC3/sh9j+U81sGOXbJXNNSFBl8qo8FE
CVcPnVVLyzHn7B95UY</vt:lpwstr>
  </property>
  <property fmtid="{D5CDD505-2E9C-101B-9397-08002B2CF9AE}" pid="3" name="_2015_ms_pID_7253431">
    <vt:lpwstr>MP82+Ox3BuCZRFUEWL2q3Id9rLAut0RyRWCHdpYbEONDXc933l2g5i
XRlkFhg0MKd7bw8YC5JSKYj4wyCFTdOPH2/xPFM9eolilcU+zgN0j1CITbz8fp1u2E+1+m/i
Gu+U4KSZCRtgotsK+0RpVoAj7NVb/lKdg3qFM9jTW1EV78tafiHmHhKw8tTchvWNrrDgUNqq
uQ83fq7JeXkMhrjj</vt:lpwstr>
  </property>
  <property fmtid="{D5CDD505-2E9C-101B-9397-08002B2CF9AE}" pid="4" name="_readonly">
    <vt:lpwstr/>
  </property>
  <property fmtid="{D5CDD505-2E9C-101B-9397-08002B2CF9AE}" pid="5" name="_change">
    <vt:lpwstr/>
  </property>
  <property fmtid="{D5CDD505-2E9C-101B-9397-08002B2CF9AE}" pid="6" name="_full-control">
    <vt:lpwstr/>
  </property>
  <property fmtid="{D5CDD505-2E9C-101B-9397-08002B2CF9AE}" pid="7" name="sflag">
    <vt:lpwstr>1683169333</vt:lpwstr>
  </property>
  <property fmtid="{D5CDD505-2E9C-101B-9397-08002B2CF9AE}" pid="8" name="ICV">
    <vt:lpwstr>DA6429A0156D4F719CD30201ED15326B_13</vt:lpwstr>
  </property>
  <property fmtid="{D5CDD505-2E9C-101B-9397-08002B2CF9AE}" pid="9" name="KSOProductBuildVer">
    <vt:lpwstr>2052-11.1.0.14309</vt:lpwstr>
  </property>
  <property fmtid="{D5CDD505-2E9C-101B-9397-08002B2CF9AE}" pid="10" name="ContentTypeId">
    <vt:lpwstr>0x01010091CCCB101D1EC2439BD1F30E1646277F</vt:lpwstr>
  </property>
  <property fmtid="{D5CDD505-2E9C-101B-9397-08002B2CF9AE}" pid="11" name="MSIP_Label_a0819fa7-4367-4500-ba88-dd630d977609_Enabled">
    <vt:lpwstr>true</vt:lpwstr>
  </property>
  <property fmtid="{D5CDD505-2E9C-101B-9397-08002B2CF9AE}" pid="12" name="MSIP_Label_a0819fa7-4367-4500-ba88-dd630d977609_SetDate">
    <vt:lpwstr>2025-04-03T11:05:00Z</vt:lpwstr>
  </property>
  <property fmtid="{D5CDD505-2E9C-101B-9397-08002B2CF9AE}" pid="13" name="MSIP_Label_a0819fa7-4367-4500-ba88-dd630d977609_Method">
    <vt:lpwstr>Standard</vt:lpwstr>
  </property>
  <property fmtid="{D5CDD505-2E9C-101B-9397-08002B2CF9AE}" pid="14" name="MSIP_Label_a0819fa7-4367-4500-ba88-dd630d977609_Name">
    <vt:lpwstr>a0819fa7-4367-4500-ba88-dd630d977609</vt:lpwstr>
  </property>
  <property fmtid="{D5CDD505-2E9C-101B-9397-08002B2CF9AE}" pid="15" name="MSIP_Label_a0819fa7-4367-4500-ba88-dd630d977609_SiteId">
    <vt:lpwstr>63ce7d59-2f3e-42cd-a8cc-be764cff5eb6</vt:lpwstr>
  </property>
  <property fmtid="{D5CDD505-2E9C-101B-9397-08002B2CF9AE}" pid="16" name="MSIP_Label_a0819fa7-4367-4500-ba88-dd630d977609_ActionId">
    <vt:lpwstr>b79cf1c5-ea9a-4bd9-8a1c-1357813e3dd5</vt:lpwstr>
  </property>
  <property fmtid="{D5CDD505-2E9C-101B-9397-08002B2CF9AE}" pid="17" name="MSIP_Label_a0819fa7-4367-4500-ba88-dd630d977609_ContentBits">
    <vt:lpwstr>0</vt:lpwstr>
  </property>
  <property fmtid="{D5CDD505-2E9C-101B-9397-08002B2CF9AE}" pid="18" name="MSIP_Label_a0819fa7-4367-4500-ba88-dd630d977609_Tag">
    <vt:lpwstr>10, 3, 0, 1</vt:lpwstr>
  </property>
  <property fmtid="{D5CDD505-2E9C-101B-9397-08002B2CF9AE}" pid="19" name="MediaServiceImageTags">
    <vt:lpwstr/>
  </property>
</Properties>
</file>